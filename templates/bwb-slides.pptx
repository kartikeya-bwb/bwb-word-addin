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svg" ContentType="image/svg+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2192000" cy="6858000"/>
  <p:notesSz cx="6858000" cy="9144000"/>
  <p:defaultTextStyle>
    <a:defPPr>
      <a:defRPr lang="en-GB"/>
    </a:defPPr>
    <a:lvl1pPr marL="0" indent="0" algn="l" defTabSz="914400" rtl="0" eaLnBrk="1" latinLnBrk="0" hangingPunct="1">
      <a:spcBef>
        <a:spcPts val="0"/>
      </a:spcBef>
      <a:spcAft>
        <a:spcPts val="0"/>
      </a:spcAft>
      <a:buNone/>
      <a:defRPr lang="en-GB" sz="1400" b="0" kern="1200">
        <a:solidFill>
          <a:srgbClr val="000000"/>
        </a:solidFill>
        <a:latin typeface="+mn-lt"/>
        <a:ea typeface="+mn-ea"/>
        <a:cs typeface="+mn-cs"/>
      </a:defRPr>
    </a:lvl1pPr>
    <a:lvl2pPr marL="0" indent="0" algn="l" defTabSz="914400" rtl="0" eaLnBrk="1" latinLnBrk="0" hangingPunct="1">
      <a:spcBef>
        <a:spcPts val="0"/>
      </a:spcBef>
      <a:spcAft>
        <a:spcPts val="0"/>
      </a:spcAft>
      <a:buNone/>
      <a:defRPr lang="en-GB" sz="1400" b="0" kern="1200">
        <a:solidFill>
          <a:srgbClr val="000000"/>
        </a:solidFill>
        <a:latin typeface="+mn-lt"/>
        <a:ea typeface="+mn-ea"/>
        <a:cs typeface="+mn-cs"/>
      </a:defRPr>
    </a:lvl2pPr>
    <a:lvl3pPr marL="0" indent="0" algn="l" defTabSz="914400" rtl="0" eaLnBrk="1" latinLnBrk="0" hangingPunct="1">
      <a:spcBef>
        <a:spcPts val="0"/>
      </a:spcBef>
      <a:spcAft>
        <a:spcPts val="0"/>
      </a:spcAft>
      <a:buNone/>
      <a:defRPr lang="en-GB" sz="1400" b="0" kern="1200">
        <a:solidFill>
          <a:srgbClr val="000000"/>
        </a:solidFill>
        <a:latin typeface="+mn-lt"/>
        <a:ea typeface="+mn-ea"/>
        <a:cs typeface="+mn-cs"/>
      </a:defRPr>
    </a:lvl3pPr>
    <a:lvl4pPr marL="0" indent="0" algn="l" defTabSz="914400" rtl="0" eaLnBrk="1" latinLnBrk="0" hangingPunct="1">
      <a:spcBef>
        <a:spcPts val="0"/>
      </a:spcBef>
      <a:spcAft>
        <a:spcPts val="0"/>
      </a:spcAft>
      <a:buNone/>
      <a:defRPr lang="en-GB" sz="1400" b="0" kern="1200">
        <a:solidFill>
          <a:srgbClr val="000000"/>
        </a:solidFill>
        <a:latin typeface="+mn-lt"/>
        <a:ea typeface="+mn-ea"/>
        <a:cs typeface="+mn-cs"/>
      </a:defRPr>
    </a:lvl4pPr>
    <a:lvl5pPr marL="0" indent="0" algn="l" defTabSz="914400" rtl="0" eaLnBrk="1" latinLnBrk="0" hangingPunct="1">
      <a:spcBef>
        <a:spcPts val="0"/>
      </a:spcBef>
      <a:spcAft>
        <a:spcPts val="0"/>
      </a:spcAft>
      <a:buNone/>
      <a:defRPr lang="en-GB" sz="1400" b="0" kern="1200">
        <a:solidFill>
          <a:srgbClr val="000000"/>
        </a:solidFill>
        <a:latin typeface="+mn-lt"/>
        <a:ea typeface="+mn-ea"/>
        <a:cs typeface="+mn-cs"/>
      </a:defRPr>
    </a:lvl5pPr>
    <a:lvl6pPr marL="0" indent="0" algn="l" defTabSz="914400" rtl="0" eaLnBrk="1" latinLnBrk="0" hangingPunct="1">
      <a:spcBef>
        <a:spcPts val="0"/>
      </a:spcBef>
      <a:spcAft>
        <a:spcPts val="0"/>
      </a:spcAft>
      <a:buNone/>
      <a:defRPr lang="en-GB" sz="1400" b="0" kern="1200">
        <a:solidFill>
          <a:srgbClr val="000000"/>
        </a:solidFill>
        <a:latin typeface="+mn-lt"/>
        <a:ea typeface="+mn-ea"/>
        <a:cs typeface="+mn-cs"/>
      </a:defRPr>
    </a:lvl6pPr>
    <a:lvl7pPr marL="0" indent="0" algn="l" defTabSz="914400" rtl="0" eaLnBrk="1" latinLnBrk="0" hangingPunct="1">
      <a:spcBef>
        <a:spcPts val="0"/>
      </a:spcBef>
      <a:spcAft>
        <a:spcPts val="0"/>
      </a:spcAft>
      <a:buNone/>
      <a:defRPr lang="en-GB" sz="1400" b="0" kern="1200">
        <a:solidFill>
          <a:srgbClr val="000000"/>
        </a:solidFill>
        <a:latin typeface="+mn-lt"/>
        <a:ea typeface="+mn-ea"/>
        <a:cs typeface="+mn-cs"/>
      </a:defRPr>
    </a:lvl7pPr>
    <a:lvl8pPr marL="0" indent="0" algn="l" defTabSz="914400" rtl="0" eaLnBrk="1" latinLnBrk="0" hangingPunct="1">
      <a:spcBef>
        <a:spcPts val="0"/>
      </a:spcBef>
      <a:spcAft>
        <a:spcPts val="0"/>
      </a:spcAft>
      <a:buNone/>
      <a:defRPr lang="en-GB" sz="1400" b="0" kern="1200">
        <a:solidFill>
          <a:srgbClr val="000000"/>
        </a:solidFill>
        <a:latin typeface="+mn-lt"/>
        <a:ea typeface="+mn-ea"/>
        <a:cs typeface="+mn-cs"/>
      </a:defRPr>
    </a:lvl8pPr>
    <a:lvl9pPr marL="0" indent="0" algn="l" defTabSz="914400" rtl="0" eaLnBrk="1" latinLnBrk="0" hangingPunct="1">
      <a:spcBef>
        <a:spcPts val="0"/>
      </a:spcBef>
      <a:spcAft>
        <a:spcPts val="0"/>
      </a:spcAft>
      <a:buNone/>
      <a:defRPr lang="en-GB" sz="1400" b="0" kern="1200">
        <a:solidFill>
          <a:srgbClr val="000000"/>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6A0B2E4D-5C3F-4E8B-9C1A-2B7D4F6E8A10}">
  <a:tblStyle styleId="{6A0B2E4D-5C3F-4E8B-9C1A-2B7D4F6E8A10}" styleName="BwB table">
    <a:wholeTbl>
      <a:tcTxStyle>
        <a:fontRef idx="minor">
          <a:prstClr val="black"/>
        </a:fontRef>
        <a:srgbClr val="000000"/>
      </a:tcTxStyle>
      <a:tcStyle>
        <a:tcBdr>
          <a:left>
            <a:ln>
              <a:noFill/>
            </a:ln>
          </a:left>
          <a:right>
            <a:ln>
              <a:noFill/>
            </a:ln>
          </a:right>
          <a:top>
            <a:ln w="9525" cmpd="sng">
              <a:solidFill>
                <a:srgbClr val="E8E9E6"/>
              </a:solidFill>
            </a:ln>
          </a:top>
          <a:bottom>
            <a:ln w="9525" cmpd="sng">
              <a:solidFill>
                <a:srgbClr val="E8E9E6"/>
              </a:solidFill>
            </a:ln>
          </a:bottom>
          <a:insideH>
            <a:ln w="9525" cmpd="sng">
              <a:solidFill>
                <a:srgbClr val="E8E9E6"/>
              </a:solidFill>
            </a:ln>
          </a:insideH>
          <a:insideV>
            <a:ln>
              <a:noFill/>
            </a:ln>
          </a:insideV>
        </a:tcBdr>
        <a:fill>
          <a:noFill/>
        </a:fill>
      </a:tcStyle>
    </a:wholeTbl>
    <a:lastRow>
      <a:tcTxStyle b="on">
        <a:fontRef idx="minor">
          <a:prstClr val="black"/>
        </a:fontRef>
        <a:srgbClr val="000000"/>
      </a:tcTxStyle>
      <a:tcStyle>
        <a:tcBdr>
          <a:top>
            <a:ln w="12700" cmpd="sng">
              <a:solidFill>
                <a:srgbClr val="022338"/>
              </a:solidFill>
            </a:ln>
          </a:top>
        </a:tcBdr>
        <a:fill>
          <a:solidFill>
            <a:srgbClr val="F7F8F5"/>
          </a:solidFill>
        </a:fill>
      </a:tcStyle>
    </a:lastRow>
    <a:firstRow>
      <a:tcTxStyle b="on">
        <a:fontRef idx="minor">
          <a:prstClr val="black"/>
        </a:fontRef>
        <a:srgbClr val="FFFFFF"/>
      </a:tcTxStyle>
      <a:tcStyle>
        <a:tcBdr/>
        <a:fill>
          <a:solidFill>
            <a:srgbClr val="022338"/>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0" d="100"/>
          <a:sy n="100" d="100"/>
        </p:scale>
        <p:origin x="0" y="0"/>
      </p:cViewPr>
      <p:guideLst/>
    </p:cSldViewPr>
  </p:slideViewPr>
  <p:gridSpacing cx="50800" cy="50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barChart>
        <c:barDir val="col"/>
        <c:grouping val="clustered"/>
        <c:ser>
          <c:idx val="0"/>
          <c:order val="0"/>
          <c:tx>
            <c:strRef>
              <c:f>Sheet1!$B$1</c:f>
              <c:strCache>
                <c:ptCount val="1"/>
                <c:pt idx="0">
                  <c:v>Committed</c:v>
                </c:pt>
              </c:strCache>
            </c:strRef>
          </c:tx>
          <c:spPr>
            <a:solidFill>
              <a:srgbClr val="328840"/>
            </a:solidFill>
            <a:ln>
              <a:noFill/>
            </a:ln>
          </c:spPr>
          <c:cat>
            <c:strRef>
              <c:f>Sheet1!$A$2:$A$6</c:f>
              <c:strCache>
                <c:ptCount val="5"/>
                <c:pt idx="0">
                  <c:v>2021</c:v>
                </c:pt>
                <c:pt idx="1">
                  <c:v>2022</c:v>
                </c:pt>
                <c:pt idx="2">
                  <c:v>2023</c:v>
                </c:pt>
                <c:pt idx="3">
                  <c:v>2024</c:v>
                </c:pt>
                <c:pt idx="4">
                  <c:v>2025</c:v>
                </c:pt>
              </c:strCache>
            </c:strRef>
          </c:cat>
          <c:val>
            <c:numRef>
              <c:f>Sheet1!$B$2:$B$6</c:f>
              <c:numCache>
                <c:formatCode>#,##0</c:formatCode>
                <c:ptCount val="5"/>
                <c:pt idx="0">
                  <c:v>120</c:v>
                </c:pt>
                <c:pt idx="1">
                  <c:v>150</c:v>
                </c:pt>
                <c:pt idx="2">
                  <c:v>185</c:v>
                </c:pt>
                <c:pt idx="3">
                  <c:v>210</c:v>
                </c:pt>
                <c:pt idx="4">
                  <c:v>260</c:v>
                </c:pt>
              </c:numCache>
            </c:numRef>
          </c:val>
        </c:ser>
        <c:ser>
          <c:idx val="1"/>
          <c:order val="1"/>
          <c:tx>
            <c:strRef>
              <c:f>Sheet1!$C$1</c:f>
              <c:strCache>
                <c:ptCount val="1"/>
                <c:pt idx="0">
                  <c:v>Disbursed</c:v>
                </c:pt>
              </c:strCache>
            </c:strRef>
          </c:tx>
          <c:spPr>
            <a:solidFill>
              <a:srgbClr val="7CC287"/>
            </a:solidFill>
            <a:ln>
              <a:noFill/>
            </a:ln>
          </c:spPr>
          <c:cat>
            <c:strRef>
              <c:f>Sheet1!$A$2:$A$6</c:f>
              <c:strCache>
                <c:ptCount val="5"/>
                <c:pt idx="0">
                  <c:v>2021</c:v>
                </c:pt>
                <c:pt idx="1">
                  <c:v>2022</c:v>
                </c:pt>
                <c:pt idx="2">
                  <c:v>2023</c:v>
                </c:pt>
                <c:pt idx="3">
                  <c:v>2024</c:v>
                </c:pt>
                <c:pt idx="4">
                  <c:v>2025</c:v>
                </c:pt>
              </c:strCache>
            </c:strRef>
          </c:cat>
          <c:val>
            <c:numRef>
              <c:f>Sheet1!$C$2:$C$6</c:f>
              <c:numCache>
                <c:formatCode>#,##0</c:formatCode>
                <c:ptCount val="5"/>
                <c:pt idx="0">
                  <c:v>80</c:v>
                </c:pt>
                <c:pt idx="1">
                  <c:v>105</c:v>
                </c:pt>
                <c:pt idx="2">
                  <c:v>140</c:v>
                </c:pt>
                <c:pt idx="3">
                  <c:v>170</c:v>
                </c:pt>
                <c:pt idx="4">
                  <c:v>205</c:v>
                </c:pt>
              </c:numCache>
            </c:numRef>
          </c:val>
        </c:ser>
        <c:dLbls>
          <c:numFmt formatCode="#,##0" sourceLinked="0"/>
          <c:txPr>
            <a:bodyPr/>
            <a:lstStyle/>
            <a:p>
              <a:pPr>
                <a:defRPr sz="1000">
                  <a:solidFill>
                    <a:srgbClr val="4A4A4C"/>
                  </a:solidFill>
                </a:defRPr>
              </a:pPr>
            </a:p>
          </c:txPr>
          <c:dLblPos val="outEnd"/>
          <c:showLegendKey val="0"/>
          <c:showVal val="1"/>
          <c:showCatName val="0"/>
          <c:showSerName val="0"/>
          <c:showPercent val="0"/>
          <c:showBubbleSize val="0"/>
          <c:showLeaderLines val="1"/>
        </c:dLbls>
        <c:gapWidth val="60"/>
        <c:overlap val="-8"/>
        <c:axId val="2068027336"/>
        <c:axId val="2113994440"/>
      </c:barChart>
      <c:catAx>
        <c:axId val="2068027336"/>
        <c:scaling>
          <c:orientation val="minMax"/>
        </c:scaling>
        <c:delete val="0"/>
        <c:axPos val="b"/>
        <c:majorTickMark val="none"/>
        <c:minorTickMark val="none"/>
        <c:tickLblPos val="nextTo"/>
        <c:spPr>
          <a:ln>
            <a:solidFill>
              <a:srgbClr val="D5D5D6"/>
            </a:solidFill>
          </a:ln>
        </c:spPr>
        <c:txPr>
          <a:bodyPr/>
          <a:lstStyle/>
          <a:p>
            <a:pPr>
              <a:defRPr sz="1000">
                <a:solidFill>
                  <a:srgbClr val="4A4A4C"/>
                </a:solidFill>
              </a:defRPr>
            </a:pPr>
          </a:p>
        </c:txPr>
        <c:crossAx val="2113994440"/>
        <c:crosses val="autoZero"/>
        <c:auto val="1"/>
        <c:lblAlgn val="ctr"/>
        <c:lblOffset val="100"/>
        <c:noMultiLvlLbl val="0"/>
      </c:catAx>
      <c:valAx>
        <c:axId val="2113994440"/>
        <c:scaling/>
        <c:delete val="1"/>
        <c:axPos val="l"/>
        <c:majorTickMark val="none"/>
        <c:minorTickMark val="none"/>
        <c:tickLblPos val="nextTo"/>
        <c:crossAx val="2068027336"/>
        <c:crosses val="autoZero"/>
      </c:valAx>
    </c:plotArea>
    <c:legend>
      <c:legendPos val="t"/>
      <c:overlay val="0"/>
    </c:legend>
    <c:dispBlanksAs val="gap"/>
  </c:chart>
  <c:spPr>
    <a:noFill/>
    <a:ln>
      <a:noFill/>
    </a:ln>
  </c:spPr>
  <c:txPr>
    <a:bodyPr/>
    <a:lstStyle/>
    <a:p>
      <a:pPr>
        <a:defRPr sz="1000">
          <a:solidFill>
            <a:srgbClr val="4A4A4C"/>
          </a:solidFill>
          <a:latin typeface="Aptos"/>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0" preserve="1" userDrawn="1">
  <p:cSld name="BwB Title">
    <p:bg>
      <p:bgPr>
        <a:solidFill>
          <a:srgbClr val="022338"/>
        </a:solidFill>
        <a:effectLst/>
      </p:bgPr>
    </p:bg>
    <p:spTree>
      <p:nvGrpSpPr>
        <p:cNvPr id="1" name=""/>
        <p:cNvGrpSpPr/>
        <p:nvPr/>
      </p:nvGrpSpPr>
      <p:grpSpPr>
        <a:xfrm>
          <a:off x="0" y="0"/>
          <a:ext cx="0" cy="0"/>
          <a:chOff x="0" y="0"/>
          <a:chExt cx="0" cy="0"/>
        </a:xfrm>
      </p:grpSpPr>
      <p:pic>
        <p:nvPicPr>
          <p:cNvPr id="2" name="BwB logo" descr="Bankers without Boundaries logo"/>
          <p:cNvPicPr>
            <a:picLocks noChangeAspect="1"/>
          </p:cNvPicPr>
          <p:nvPr/>
        </p:nvPicPr>
        <p:blipFill>
          <a:blip r:embed="rId2"/>
          <a:stretch>
            <a:fillRect/>
          </a:stretch>
        </p:blipFill>
        <p:spPr>
          <a:xfrm>
            <a:off x="508000" y="355600"/>
            <a:ext cx="1422400" cy="609600"/>
          </a:xfrm>
          <a:prstGeom prst="rect">
            <a:avLst/>
          </a:prstGeom>
        </p:spPr>
      </p:pic>
      <p:sp>
        <p:nvSpPr>
          <p:cNvPr id="3" name="Title"/>
          <p:cNvSpPr>
            <a:spLocks noGrp="1"/>
          </p:cNvSpPr>
          <p:nvPr>
            <p:ph type="ctrTitle" hasCustomPrompt="1"/>
          </p:nvPr>
        </p:nvSpPr>
        <p:spPr>
          <a:xfrm>
            <a:off x="508000" y="2133600"/>
            <a:ext cx="9279467" cy="2133600"/>
          </a:xfrm>
        </p:spPr>
        <p:txBody>
          <a:bodyPr wrap="square" lIns="0" tIns="0" rIns="0" bIns="0" rtlCol="0" anchor="b" anchorCtr="0">
            <a:noAutofit/>
          </a:bodyPr>
          <a:lstStyle>
            <a:lvl1pPr marL="0" indent="0" algn="l" defTabSz="914400" rtl="0" eaLnBrk="1" latinLnBrk="0" hangingPunct="1">
              <a:lnSpc>
                <a:spcPct val="90000"/>
              </a:lnSpc>
              <a:spcBef>
                <a:spcPts val="0"/>
              </a:spcBef>
              <a:spcAft>
                <a:spcPts val="0"/>
              </a:spcAft>
              <a:buNone/>
              <a:defRPr lang="en-GB" sz="4000" b="1" kern="1200">
                <a:solidFill>
                  <a:srgbClr val="FFFFFF"/>
                </a:solidFill>
                <a:latin typeface="+mj-lt"/>
                <a:ea typeface="+mj-ea"/>
                <a:cs typeface="+mj-cs"/>
              </a:defRPr>
            </a:lvl1pPr>
          </a:lstStyle>
          <a:p>
            <a:r>
              <a:rPr lang="en-GB"/>
              <a:t>Presentation Title in Title Case</a:t>
            </a:r>
            <a:endParaRPr lang="en-GB"/>
          </a:p>
        </p:txBody>
      </p:sp>
      <p:sp>
        <p:nvSpPr>
          <p:cNvPr id="4" name="Lime rule"/>
          <p:cNvSpPr/>
          <p:nvPr/>
        </p:nvSpPr>
        <p:spPr>
          <a:xfrm>
            <a:off x="508000" y="4470400"/>
            <a:ext cx="1693333" cy="50800"/>
          </a:xfrm>
          <a:prstGeom prst="rect">
            <a:avLst/>
          </a:prstGeom>
          <a:solidFill>
            <a:srgbClr val="BED62F"/>
          </a:solidFill>
          <a:ln>
            <a:noFill/>
          </a:ln>
        </p:spPr>
      </p:sp>
      <p:sp>
        <p:nvSpPr>
          <p:cNvPr id="5" name="Subtitle"/>
          <p:cNvSpPr>
            <a:spLocks noGrp="1"/>
          </p:cNvSpPr>
          <p:nvPr>
            <p:ph type="subTitle" idx="1" hasCustomPrompt="1"/>
          </p:nvPr>
        </p:nvSpPr>
        <p:spPr>
          <a:xfrm>
            <a:off x="508000" y="4724400"/>
            <a:ext cx="9279467" cy="711200"/>
          </a:xfrm>
        </p:spPr>
        <p:txBody>
          <a:bodyPr wrap="square" lIns="0" tIns="0" rIns="0" bIns="0" rtlCol="0" anchor="t" anchorCtr="0">
            <a:noAutofit/>
          </a:bodyPr>
          <a:lstStyle>
            <a:lvl1pPr marL="0" indent="0" algn="l" defTabSz="914400" rtl="0" eaLnBrk="1" latinLnBrk="0" hangingPunct="1">
              <a:spcBef>
                <a:spcPts val="0"/>
              </a:spcBef>
              <a:spcAft>
                <a:spcPts val="0"/>
              </a:spcAft>
              <a:buNone/>
              <a:defRPr lang="en-GB" sz="1800" b="0" kern="1200">
                <a:solidFill>
                  <a:srgbClr val="FFFFFF"/>
                </a:solidFill>
                <a:latin typeface="+mn-lt"/>
                <a:ea typeface="+mn-ea"/>
                <a:cs typeface="+mn-cs"/>
              </a:defRPr>
            </a:lvl1pPr>
          </a:lstStyle>
          <a:p>
            <a:r>
              <a:rPr lang="en-GB"/>
              <a:t>Subtitle: the client, the project and the purpose of the meeting</a:t>
            </a:r>
            <a:endParaRPr lang="en-GB"/>
          </a:p>
        </p:txBody>
      </p:sp>
      <p:sp>
        <p:nvSpPr>
          <p:cNvPr id="6" name="Date"/>
          <p:cNvSpPr>
            <a:spLocks noGrp="1"/>
          </p:cNvSpPr>
          <p:nvPr>
            <p:ph type="body" sz="quarter" idx="13" hasCustomPrompt="1"/>
          </p:nvPr>
        </p:nvSpPr>
        <p:spPr>
          <a:xfrm>
            <a:off x="508000" y="5588000"/>
            <a:ext cx="5486400" cy="304800"/>
          </a:xfrm>
        </p:spPr>
        <p:txBody>
          <a:bodyPr wrap="square" lIns="0" tIns="0" rIns="0" bIns="0" rtlCol="0" anchor="t" anchorCtr="0">
            <a:noAutofit/>
          </a:bodyPr>
          <a:lstStyle>
            <a:lvl1pPr marL="0" indent="0" algn="l" defTabSz="914400" rtl="0" eaLnBrk="1" latinLnBrk="0" hangingPunct="1">
              <a:spcBef>
                <a:spcPts val="0"/>
              </a:spcBef>
              <a:spcAft>
                <a:spcPts val="0"/>
              </a:spcAft>
              <a:buNone/>
              <a:defRPr lang="en-GB" sz="1400" b="0" kern="1200">
                <a:solidFill>
                  <a:srgbClr val="FFFFFF"/>
                </a:solidFill>
                <a:latin typeface="+mn-lt"/>
                <a:ea typeface="+mn-ea"/>
                <a:cs typeface="+mn-cs"/>
              </a:defRPr>
            </a:lvl1pPr>
          </a:lstStyle>
          <a:p>
            <a:r>
              <a:rPr lang="en-GB"/>
              <a:t>Date: 5 October 2026</a:t>
            </a:r>
            <a:endParaRPr lang="en-GB"/>
          </a:p>
        </p:txBody>
      </p:sp>
      <p:sp>
        <p:nvSpPr>
          <p:cNvPr id="7" name="Colour strip green"/>
          <p:cNvSpPr/>
          <p:nvPr/>
        </p:nvSpPr>
        <p:spPr>
          <a:xfrm>
            <a:off x="0" y="6807200"/>
            <a:ext cx="4064000" cy="50800"/>
          </a:xfrm>
          <a:prstGeom prst="rect">
            <a:avLst/>
          </a:prstGeom>
          <a:solidFill>
            <a:srgbClr val="328840"/>
          </a:solidFill>
          <a:ln>
            <a:noFill/>
          </a:ln>
        </p:spPr>
      </p:sp>
      <p:sp>
        <p:nvSpPr>
          <p:cNvPr id="8" name="Colour strip charcoal"/>
          <p:cNvSpPr/>
          <p:nvPr/>
        </p:nvSpPr>
        <p:spPr>
          <a:xfrm>
            <a:off x="4064000" y="6807200"/>
            <a:ext cx="4064000" cy="50800"/>
          </a:xfrm>
          <a:prstGeom prst="rect">
            <a:avLst/>
          </a:prstGeom>
          <a:solidFill>
            <a:srgbClr val="4A4A4C"/>
          </a:solidFill>
          <a:ln>
            <a:noFill/>
          </a:ln>
        </p:spPr>
      </p:sp>
      <p:sp>
        <p:nvSpPr>
          <p:cNvPr id="9" name="Colour strip lime"/>
          <p:cNvSpPr/>
          <p:nvPr/>
        </p:nvSpPr>
        <p:spPr>
          <a:xfrm>
            <a:off x="8128000" y="6807200"/>
            <a:ext cx="4064000" cy="50800"/>
          </a:xfrm>
          <a:prstGeom prst="rect">
            <a:avLst/>
          </a:prstGeom>
          <a:solidFill>
            <a:srgbClr val="BED62F"/>
          </a:solidFill>
          <a:ln>
            <a:noFill/>
          </a:ln>
        </p:spPr>
      </p:sp>
    </p:spTree>
    <p:extLst>
      <p:ext uri="{BB962C8B-B14F-4D97-AF65-F5344CB8AC3E}">
        <p14:creationId xmlns:p14="http://schemas.microsoft.com/office/powerpoint/2010/main" val="616944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showMasterSp="0" preserve="1" userDrawn="1">
  <p:cSld name="BwB Section divider">
    <p:bg>
      <p:bgPr>
        <a:solidFill>
          <a:srgbClr val="022338"/>
        </a:solidFill>
        <a:effectLst/>
      </p:bgPr>
    </p:bg>
    <p:spTree>
      <p:nvGrpSpPr>
        <p:cNvPr id="1" name=""/>
        <p:cNvGrpSpPr/>
        <p:nvPr/>
      </p:nvGrpSpPr>
      <p:grpSpPr>
        <a:xfrm>
          <a:off x="0" y="0"/>
          <a:ext cx="0" cy="0"/>
          <a:chOff x="0" y="0"/>
          <a:chExt cx="0" cy="0"/>
        </a:xfrm>
      </p:grpSpPr>
      <p:sp>
        <p:nvSpPr>
          <p:cNvPr id="2" name="Section number"/>
          <p:cNvSpPr>
            <a:spLocks noGrp="1"/>
          </p:cNvSpPr>
          <p:nvPr>
            <p:ph type="body" sz="quarter" idx="13" hasCustomPrompt="1"/>
          </p:nvPr>
        </p:nvSpPr>
        <p:spPr>
          <a:xfrm>
            <a:off x="508000" y="1219200"/>
            <a:ext cx="5486400" cy="2032000"/>
          </a:xfrm>
        </p:spPr>
        <p:txBody>
          <a:bodyPr wrap="square" lIns="0" tIns="0" rIns="0" bIns="0" rtlCol="0" anchor="b" anchorCtr="0">
            <a:noAutofit/>
          </a:bodyPr>
          <a:lstStyle>
            <a:lvl1pPr marL="0" indent="0" algn="l" defTabSz="914400" rtl="0" eaLnBrk="1" latinLnBrk="0" hangingPunct="1">
              <a:lnSpc>
                <a:spcPct val="80000"/>
              </a:lnSpc>
              <a:spcBef>
                <a:spcPts val="0"/>
              </a:spcBef>
              <a:spcAft>
                <a:spcPts val="0"/>
              </a:spcAft>
              <a:buNone/>
              <a:defRPr lang="en-GB" sz="12000" b="1" kern="1200">
                <a:solidFill>
                  <a:srgbClr val="BED62F"/>
                </a:solidFill>
                <a:latin typeface="+mj-lt"/>
                <a:ea typeface="+mj-ea"/>
                <a:cs typeface="+mj-cs"/>
              </a:defRPr>
            </a:lvl1pPr>
          </a:lstStyle>
          <a:p>
            <a:r>
              <a:rPr lang="en-GB"/>
              <a:t>01</a:t>
            </a:r>
            <a:endParaRPr lang="en-GB"/>
          </a:p>
        </p:txBody>
      </p:sp>
      <p:sp>
        <p:nvSpPr>
          <p:cNvPr id="3" name="Title"/>
          <p:cNvSpPr>
            <a:spLocks noGrp="1"/>
          </p:cNvSpPr>
          <p:nvPr>
            <p:ph type="title" hasCustomPrompt="1"/>
          </p:nvPr>
        </p:nvSpPr>
        <p:spPr>
          <a:xfrm>
            <a:off x="508000" y="3556000"/>
            <a:ext cx="9279467" cy="1219200"/>
          </a:xfrm>
        </p:spPr>
        <p:txBody>
          <a:bodyPr wrap="square" lIns="0" tIns="0" rIns="0" bIns="0" rtlCol="0" anchor="t" anchorCtr="0">
            <a:noAutofit/>
          </a:bodyPr>
          <a:lstStyle>
            <a:lvl1pPr marL="0" indent="0" algn="l" defTabSz="914400" rtl="0" eaLnBrk="1" latinLnBrk="0" hangingPunct="1">
              <a:lnSpc>
                <a:spcPct val="90000"/>
              </a:lnSpc>
              <a:spcBef>
                <a:spcPts val="0"/>
              </a:spcBef>
              <a:spcAft>
                <a:spcPts val="0"/>
              </a:spcAft>
              <a:buNone/>
              <a:defRPr lang="en-GB" sz="3600" b="1" kern="1200">
                <a:solidFill>
                  <a:srgbClr val="FFFFFF"/>
                </a:solidFill>
                <a:latin typeface="+mj-lt"/>
                <a:ea typeface="+mj-ea"/>
                <a:cs typeface="+mj-cs"/>
              </a:defRPr>
            </a:lvl1pPr>
          </a:lstStyle>
          <a:p>
            <a:r>
              <a:rPr lang="en-GB"/>
              <a:t>Section title in sentence case</a:t>
            </a:r>
            <a:endParaRPr lang="en-GB"/>
          </a:p>
        </p:txBody>
      </p:sp>
      <p:sp>
        <p:nvSpPr>
          <p:cNvPr id="4" name="Description"/>
          <p:cNvSpPr>
            <a:spLocks noGrp="1"/>
          </p:cNvSpPr>
          <p:nvPr>
            <p:ph type="body" sz="quarter" idx="14" hasCustomPrompt="1"/>
          </p:nvPr>
        </p:nvSpPr>
        <p:spPr>
          <a:xfrm>
            <a:off x="508000" y="4978400"/>
            <a:ext cx="7382933" cy="609600"/>
          </a:xfrm>
        </p:spPr>
        <p:txBody>
          <a:bodyPr wrap="square" lIns="0" tIns="0" rIns="0" bIns="0" rtlCol="0" anchor="t" anchorCtr="0">
            <a:noAutofit/>
          </a:bodyPr>
          <a:lstStyle>
            <a:lvl1pPr marL="0" indent="0" algn="l" defTabSz="914400" rtl="0" eaLnBrk="1" latinLnBrk="0" hangingPunct="1">
              <a:spcBef>
                <a:spcPts val="0"/>
              </a:spcBef>
              <a:spcAft>
                <a:spcPts val="0"/>
              </a:spcAft>
              <a:buNone/>
              <a:defRPr lang="en-GB" sz="1600" b="0" kern="1200">
                <a:solidFill>
                  <a:srgbClr val="FFFFFF"/>
                </a:solidFill>
                <a:latin typeface="+mn-lt"/>
                <a:ea typeface="+mn-ea"/>
                <a:cs typeface="+mn-cs"/>
              </a:defRPr>
            </a:lvl1pPr>
          </a:lstStyle>
          <a:p>
            <a:r>
              <a:rPr lang="en-GB"/>
              <a:t>One sentence on what this section shows</a:t>
            </a:r>
            <a:endParaRPr lang="en-GB"/>
          </a:p>
        </p:txBody>
      </p:sp>
      <p:sp>
        <p:nvSpPr>
          <p:cNvPr id="5" name="Colour strip green"/>
          <p:cNvSpPr/>
          <p:nvPr/>
        </p:nvSpPr>
        <p:spPr>
          <a:xfrm>
            <a:off x="0" y="6807200"/>
            <a:ext cx="4064000" cy="50800"/>
          </a:xfrm>
          <a:prstGeom prst="rect">
            <a:avLst/>
          </a:prstGeom>
          <a:solidFill>
            <a:srgbClr val="328840"/>
          </a:solidFill>
          <a:ln>
            <a:noFill/>
          </a:ln>
        </p:spPr>
      </p:sp>
      <p:sp>
        <p:nvSpPr>
          <p:cNvPr id="6" name="Colour strip charcoal"/>
          <p:cNvSpPr/>
          <p:nvPr/>
        </p:nvSpPr>
        <p:spPr>
          <a:xfrm>
            <a:off x="4064000" y="6807200"/>
            <a:ext cx="4064000" cy="50800"/>
          </a:xfrm>
          <a:prstGeom prst="rect">
            <a:avLst/>
          </a:prstGeom>
          <a:solidFill>
            <a:srgbClr val="4A4A4C"/>
          </a:solidFill>
          <a:ln>
            <a:noFill/>
          </a:ln>
        </p:spPr>
      </p:sp>
      <p:sp>
        <p:nvSpPr>
          <p:cNvPr id="7" name="Colour strip lime"/>
          <p:cNvSpPr/>
          <p:nvPr/>
        </p:nvSpPr>
        <p:spPr>
          <a:xfrm>
            <a:off x="8128000" y="6807200"/>
            <a:ext cx="4064000" cy="50800"/>
          </a:xfrm>
          <a:prstGeom prst="rect">
            <a:avLst/>
          </a:prstGeom>
          <a:solidFill>
            <a:srgbClr val="BED62F"/>
          </a:solidFill>
          <a:ln>
            <a:noFill/>
          </a:ln>
        </p:spPr>
      </p:sp>
    </p:spTree>
    <p:extLst>
      <p:ext uri="{BB962C8B-B14F-4D97-AF65-F5344CB8AC3E}">
        <p14:creationId xmlns:p14="http://schemas.microsoft.com/office/powerpoint/2010/main" val="652355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userDrawn="1">
  <p:cSld name="BwB Title and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p>
            <a:r>
              <a:rPr lang="en-GB"/>
              <a:t>Action title: say the so-what in one sentence, on no more than two lines</a:t>
            </a:r>
            <a:endParaRPr lang="en-GB"/>
          </a:p>
        </p:txBody>
      </p:sp>
      <p:sp>
        <p:nvSpPr>
          <p:cNvPr id="3" name="Content"/>
          <p:cNvSpPr>
            <a:spLocks noGrp="1"/>
          </p:cNvSpPr>
          <p:nvPr>
            <p:ph idx="1" hasCustomPrompt="1"/>
          </p:nvPr>
        </p:nvSpPr>
        <p:spPr/>
        <p:txBody>
          <a:bodyPr/>
          <a:lstStyle/>
          <a:p>
            <a:r>
              <a:rPr lang="en-GB"/>
              <a:t>Text in Aptos 14 pt: lead with the point, then the evidence</a:t>
            </a:r>
            <a:endParaRPr lang="en-GB"/>
          </a:p>
          <a:p>
            <a:pPr lvl="1"/>
            <a:r>
              <a:rPr lang="en-GB"/>
              <a:t>Second level</a:t>
            </a:r>
            <a:endParaRPr lang="en-GB"/>
          </a:p>
        </p:txBody>
      </p:sp>
      <p:sp>
        <p:nvSpPr>
          <p:cNvPr id="4" name="Slide number"/>
          <p:cNvSpPr>
            <a:spLocks noGrp="1"/>
          </p:cNvSpPr>
          <p:nvPr>
            <p:ph type="sldNum" sz="quarter" idx="12"/>
          </p:nvPr>
        </p:nvSpPr>
        <p:spPr/>
        <p:txBody>
          <a:bodyPr/>
          <a:lstStyle/>
          <a:p>
            <a:fld id="{B6F15528-21DE-4FAA-801E-634DDDAF4B2B}" type="slidenum">
              <a:rPr lang="en-GB"/>
              <a:t>‹#›</a:t>
            </a:fld>
            <a:endParaRPr lang="en-GB"/>
          </a:p>
        </p:txBody>
      </p:sp>
    </p:spTree>
    <p:extLst>
      <p:ext uri="{BB962C8B-B14F-4D97-AF65-F5344CB8AC3E}">
        <p14:creationId xmlns:p14="http://schemas.microsoft.com/office/powerpoint/2010/main" val="1497701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userDrawn="1">
  <p:cSld name="BwB 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p>
            <a:r>
              <a:rPr lang="en-GB"/>
              <a:t>Action title: say the so-what in one sentence, on no more than two lines</a:t>
            </a:r>
            <a:endParaRPr lang="en-GB"/>
          </a:p>
        </p:txBody>
      </p:sp>
      <p:sp>
        <p:nvSpPr>
          <p:cNvPr id="3" name="Left content"/>
          <p:cNvSpPr>
            <a:spLocks noGrp="1"/>
          </p:cNvSpPr>
          <p:nvPr>
            <p:ph sz="half" idx="1" hasCustomPrompt="1"/>
          </p:nvPr>
        </p:nvSpPr>
        <p:spPr>
          <a:xfrm>
            <a:off x="508000" y="1371600"/>
            <a:ext cx="5486400" cy="4572000"/>
          </a:xfrm>
        </p:spPr>
        <p:txBody>
          <a:bodyPr/>
          <a:lstStyle/>
          <a:p>
            <a:r>
              <a:rPr lang="en-GB"/>
              <a:t>Text in Aptos 14 pt: lead with the point, then the evidence</a:t>
            </a:r>
            <a:endParaRPr lang="en-GB"/>
          </a:p>
          <a:p>
            <a:pPr lvl="1"/>
            <a:r>
              <a:rPr lang="en-GB"/>
              <a:t>Second level</a:t>
            </a:r>
            <a:endParaRPr lang="en-GB"/>
          </a:p>
        </p:txBody>
      </p:sp>
      <p:sp>
        <p:nvSpPr>
          <p:cNvPr id="4" name="Right content"/>
          <p:cNvSpPr>
            <a:spLocks noGrp="1"/>
          </p:cNvSpPr>
          <p:nvPr>
            <p:ph sz="half" idx="2" hasCustomPrompt="1"/>
          </p:nvPr>
        </p:nvSpPr>
        <p:spPr>
          <a:xfrm>
            <a:off x="6197600" y="1371600"/>
            <a:ext cx="5486400" cy="4572000"/>
          </a:xfrm>
        </p:spPr>
        <p:txBody>
          <a:bodyPr/>
          <a:lstStyle/>
          <a:p>
            <a:r>
              <a:rPr lang="en-GB"/>
              <a:t>Text in Aptos 14 pt: lead with the point, then the evidence</a:t>
            </a:r>
            <a:endParaRPr lang="en-GB"/>
          </a:p>
          <a:p>
            <a:pPr lvl="1"/>
            <a:r>
              <a:rPr lang="en-GB"/>
              <a:t>Second level</a:t>
            </a:r>
            <a:endParaRPr lang="en-GB"/>
          </a:p>
        </p:txBody>
      </p:sp>
      <p:sp>
        <p:nvSpPr>
          <p:cNvPr id="5" name="Slide number"/>
          <p:cNvSpPr>
            <a:spLocks noGrp="1"/>
          </p:cNvSpPr>
          <p:nvPr>
            <p:ph type="sldNum" sz="quarter" idx="12"/>
          </p:nvPr>
        </p:nvSpPr>
        <p:spPr/>
        <p:txBody>
          <a:bodyPr/>
          <a:lstStyle/>
          <a:p>
            <a:fld id="{B6F15528-21DE-4FAA-801E-634DDDAF4B2B}" type="slidenum">
              <a:rPr lang="en-GB"/>
              <a:t>‹#›</a:t>
            </a:fld>
            <a:endParaRPr lang="en-GB"/>
          </a:p>
        </p:txBody>
      </p:sp>
    </p:spTree>
    <p:extLst>
      <p:ext uri="{BB962C8B-B14F-4D97-AF65-F5344CB8AC3E}">
        <p14:creationId xmlns:p14="http://schemas.microsoft.com/office/powerpoint/2010/main" val="293221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userDrawn="1">
  <p:cSld name="BwB Title only">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p>
            <a:r>
              <a:rPr lang="en-GB"/>
              <a:t>Action title: say the so-what in one sentence, on no more than two lines</a:t>
            </a:r>
            <a:endParaRPr lang="en-GB"/>
          </a:p>
        </p:txBody>
      </p:sp>
      <p:sp>
        <p:nvSpPr>
          <p:cNvPr id="3" name="Slide number"/>
          <p:cNvSpPr>
            <a:spLocks noGrp="1"/>
          </p:cNvSpPr>
          <p:nvPr>
            <p:ph type="sldNum" sz="quarter" idx="12"/>
          </p:nvPr>
        </p:nvSpPr>
        <p:spPr/>
        <p:txBody>
          <a:bodyPr/>
          <a:lstStyle/>
          <a:p>
            <a:fld id="{B6F15528-21DE-4FAA-801E-634DDDAF4B2B}" type="slidenum">
              <a:rPr lang="en-GB"/>
              <a:t>‹#›</a:t>
            </a:fld>
            <a:endParaRPr lang="en-GB"/>
          </a:p>
        </p:txBody>
      </p:sp>
    </p:spTree>
    <p:extLst>
      <p:ext uri="{BB962C8B-B14F-4D97-AF65-F5344CB8AC3E}">
        <p14:creationId xmlns:p14="http://schemas.microsoft.com/office/powerpoint/2010/main" val="5481137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userDrawn="1">
  <p:cSld name="BwB Blank">
    <p:spTree>
      <p:nvGrpSpPr>
        <p:cNvPr id="1" name=""/>
        <p:cNvGrpSpPr/>
        <p:nvPr/>
      </p:nvGrpSpPr>
      <p:grpSpPr>
        <a:xfrm>
          <a:off x="0" y="0"/>
          <a:ext cx="0" cy="0"/>
          <a:chOff x="0" y="0"/>
          <a:chExt cx="0" cy="0"/>
        </a:xfrm>
      </p:grpSpPr>
      <p:sp>
        <p:nvSpPr>
          <p:cNvPr id="2" name="Slide number"/>
          <p:cNvSpPr>
            <a:spLocks noGrp="1"/>
          </p:cNvSpPr>
          <p:nvPr>
            <p:ph type="sldNum" sz="quarter" idx="12"/>
          </p:nvPr>
        </p:nvSpPr>
        <p:spPr/>
        <p:txBody>
          <a:bodyPr/>
          <a:lstStyle/>
          <a:p>
            <a:fld id="{B6F15528-21DE-4FAA-801E-634DDDAF4B2B}" type="slidenum">
              <a:rPr lang="en-GB"/>
              <a:t>‹#›</a:t>
            </a:fld>
            <a:endParaRPr lang="en-GB"/>
          </a:p>
        </p:txBody>
      </p:sp>
    </p:spTree>
    <p:extLst>
      <p:ext uri="{BB962C8B-B14F-4D97-AF65-F5344CB8AC3E}">
        <p14:creationId xmlns:p14="http://schemas.microsoft.com/office/powerpoint/2010/main" val="869822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wB Closing">
    <p:bg>
      <p:bgPr>
        <a:solidFill>
          <a:srgbClr val="022338"/>
        </a:solidFill>
        <a:effectLst/>
      </p:bgPr>
    </p:bg>
    <p:spTree>
      <p:nvGrpSpPr>
        <p:cNvPr id="1" name=""/>
        <p:cNvGrpSpPr/>
        <p:nvPr/>
      </p:nvGrpSpPr>
      <p:grpSpPr>
        <a:xfrm>
          <a:off x="0" y="0"/>
          <a:ext cx="0" cy="0"/>
          <a:chOff x="0" y="0"/>
          <a:chExt cx="0" cy="0"/>
        </a:xfrm>
      </p:grpSpPr>
      <p:pic>
        <p:nvPicPr>
          <p:cNvPr id="2" name="BwB logo" descr="Bankers without Boundaries logo"/>
          <p:cNvPicPr>
            <a:picLocks noChangeAspect="1"/>
          </p:cNvPicPr>
          <p:nvPr/>
        </p:nvPicPr>
        <p:blipFill>
          <a:blip r:embed="rId2"/>
          <a:stretch>
            <a:fillRect/>
          </a:stretch>
        </p:blipFill>
        <p:spPr>
          <a:xfrm>
            <a:off x="508000" y="355600"/>
            <a:ext cx="1422400" cy="609600"/>
          </a:xfrm>
          <a:prstGeom prst="rect">
            <a:avLst/>
          </a:prstGeom>
        </p:spPr>
      </p:pic>
      <p:sp>
        <p:nvSpPr>
          <p:cNvPr id="3" name="Title"/>
          <p:cNvSpPr>
            <a:spLocks noGrp="1"/>
          </p:cNvSpPr>
          <p:nvPr>
            <p:ph type="title" hasCustomPrompt="1"/>
          </p:nvPr>
        </p:nvSpPr>
        <p:spPr>
          <a:xfrm>
            <a:off x="508000" y="2133600"/>
            <a:ext cx="9279467" cy="1219200"/>
          </a:xfrm>
        </p:spPr>
        <p:txBody>
          <a:bodyPr wrap="square" lIns="0" tIns="0" rIns="0" bIns="0" rtlCol="0" anchor="b" anchorCtr="0">
            <a:noAutofit/>
          </a:bodyPr>
          <a:lstStyle>
            <a:lvl1pPr marL="0" indent="0" algn="l" defTabSz="914400" rtl="0" eaLnBrk="1" latinLnBrk="0" hangingPunct="1">
              <a:lnSpc>
                <a:spcPct val="90000"/>
              </a:lnSpc>
              <a:spcBef>
                <a:spcPts val="0"/>
              </a:spcBef>
              <a:spcAft>
                <a:spcPts val="0"/>
              </a:spcAft>
              <a:buNone/>
              <a:defRPr lang="en-GB" sz="4000" b="1" kern="1200">
                <a:solidFill>
                  <a:srgbClr val="FFFFFF"/>
                </a:solidFill>
                <a:latin typeface="+mj-lt"/>
                <a:ea typeface="+mj-ea"/>
                <a:cs typeface="+mj-cs"/>
              </a:defRPr>
            </a:lvl1pPr>
          </a:lstStyle>
          <a:p>
            <a:r>
              <a:rPr lang="en-GB"/>
              <a:t>Thank you</a:t>
            </a:r>
            <a:endParaRPr lang="en-GB"/>
          </a:p>
        </p:txBody>
      </p:sp>
      <p:sp>
        <p:nvSpPr>
          <p:cNvPr id="4" name="Lime rule"/>
          <p:cNvSpPr/>
          <p:nvPr/>
        </p:nvSpPr>
        <p:spPr>
          <a:xfrm>
            <a:off x="508000" y="3556000"/>
            <a:ext cx="1693333" cy="50800"/>
          </a:xfrm>
          <a:prstGeom prst="rect">
            <a:avLst/>
          </a:prstGeom>
          <a:solidFill>
            <a:srgbClr val="BED62F"/>
          </a:solidFill>
          <a:ln>
            <a:noFill/>
          </a:ln>
        </p:spPr>
      </p:sp>
      <p:sp>
        <p:nvSpPr>
          <p:cNvPr id="5" name="Contact 1"/>
          <p:cNvSpPr>
            <a:spLocks noGrp="1"/>
          </p:cNvSpPr>
          <p:nvPr>
            <p:ph type="body" idx="1" hasCustomPrompt="1"/>
          </p:nvPr>
        </p:nvSpPr>
        <p:spPr>
          <a:xfrm>
            <a:off x="508000" y="3860800"/>
            <a:ext cx="3589867" cy="1524000"/>
          </a:xfrm>
        </p:spPr>
        <p:txBody>
          <a:bodyPr wrap="square" lIns="0" tIns="0" rIns="0" bIns="0" rtlCol="0" anchor="t" anchorCtr="0">
            <a:noAutofit/>
          </a:bodyPr>
          <a:lstStyle>
            <a:lvl1pPr marL="0" indent="0" algn="l" defTabSz="914400" rtl="0" eaLnBrk="1" latinLnBrk="0" hangingPunct="1">
              <a:spcBef>
                <a:spcPts val="0"/>
              </a:spcBef>
              <a:spcAft>
                <a:spcPts val="200"/>
              </a:spcAft>
              <a:buNone/>
              <a:defRPr lang="en-GB" sz="1400" b="0" kern="1200">
                <a:solidFill>
                  <a:srgbClr val="FFFFFF"/>
                </a:solidFill>
                <a:latin typeface="+mn-lt"/>
                <a:ea typeface="+mn-ea"/>
                <a:cs typeface="+mn-cs"/>
              </a:defRPr>
            </a:lvl1pPr>
          </a:lstStyle>
          <a:p>
            <a:r>
              <a:rPr lang="en-GB" b="1"/>
              <a:t>Name Surname</a:t>
            </a:r>
            <a:endParaRPr lang="en-GB"/>
          </a:p>
          <a:p>
            <a:r>
              <a:rPr lang="en-GB"/>
              <a:t>Role</a:t>
            </a:r>
            <a:endParaRPr lang="en-GB"/>
          </a:p>
          <a:p>
            <a:r>
              <a:rPr lang="en-GB"/>
              <a:t>name.surname@bwb.earth</a:t>
            </a:r>
            <a:endParaRPr lang="en-GB"/>
          </a:p>
        </p:txBody>
      </p:sp>
      <p:sp>
        <p:nvSpPr>
          <p:cNvPr id="6" name="Contact 2"/>
          <p:cNvSpPr>
            <a:spLocks noGrp="1"/>
          </p:cNvSpPr>
          <p:nvPr>
            <p:ph type="body" idx="2" hasCustomPrompt="1"/>
          </p:nvPr>
        </p:nvSpPr>
        <p:spPr>
          <a:xfrm>
            <a:off x="4301067" y="3860800"/>
            <a:ext cx="3589867" cy="1524000"/>
          </a:xfrm>
        </p:spPr>
        <p:txBody>
          <a:bodyPr wrap="square" lIns="0" tIns="0" rIns="0" bIns="0" rtlCol="0" anchor="t" anchorCtr="0">
            <a:noAutofit/>
          </a:bodyPr>
          <a:lstStyle>
            <a:lvl1pPr marL="0" indent="0" algn="l" defTabSz="914400" rtl="0" eaLnBrk="1" latinLnBrk="0" hangingPunct="1">
              <a:spcBef>
                <a:spcPts val="0"/>
              </a:spcBef>
              <a:spcAft>
                <a:spcPts val="200"/>
              </a:spcAft>
              <a:buNone/>
              <a:defRPr lang="en-GB" sz="1400" b="0" kern="1200">
                <a:solidFill>
                  <a:srgbClr val="FFFFFF"/>
                </a:solidFill>
                <a:latin typeface="+mn-lt"/>
                <a:ea typeface="+mn-ea"/>
                <a:cs typeface="+mn-cs"/>
              </a:defRPr>
            </a:lvl1pPr>
          </a:lstStyle>
          <a:p>
            <a:r>
              <a:rPr lang="en-GB" b="1"/>
              <a:t>Name Surname</a:t>
            </a:r>
            <a:endParaRPr lang="en-GB"/>
          </a:p>
          <a:p>
            <a:r>
              <a:rPr lang="en-GB"/>
              <a:t>Role</a:t>
            </a:r>
            <a:endParaRPr lang="en-GB"/>
          </a:p>
          <a:p>
            <a:r>
              <a:rPr lang="en-GB"/>
              <a:t>name.surname@bwb.earth</a:t>
            </a:r>
            <a:endParaRPr lang="en-GB"/>
          </a:p>
        </p:txBody>
      </p:sp>
      <p:sp>
        <p:nvSpPr>
          <p:cNvPr id="7" name="Website"/>
          <p:cNvSpPr txBox="1"/>
          <p:nvPr/>
        </p:nvSpPr>
        <p:spPr>
          <a:xfrm>
            <a:off x="508000" y="6045200"/>
            <a:ext cx="3589867" cy="254000"/>
          </a:xfrm>
          <a:prstGeom prst="rect">
            <a:avLst/>
          </a:prstGeom>
          <a:noFill/>
          <a:ln>
            <a:noFill/>
          </a:ln>
        </p:spPr>
        <p:txBody>
          <a:bodyPr wrap="square" lIns="0" tIns="0" rIns="0" bIns="0" rtlCol="0" anchor="b" anchorCtr="0">
            <a:noAutofit/>
          </a:bodyPr>
          <a:lstStyle/>
          <a:p>
            <a:pPr marL="0" indent="0" algn="l">
              <a:spcBef>
                <a:spcPts val="0"/>
              </a:spcBef>
              <a:spcAft>
                <a:spcPts val="0"/>
              </a:spcAft>
              <a:buNone/>
            </a:pPr>
            <a:r>
              <a:rPr lang="en-GB" sz="1400" b="1">
                <a:solidFill>
                  <a:srgbClr val="FFFFFF"/>
                </a:solidFill>
                <a:latin typeface="Aptos"/>
                <a:cs typeface="Aptos"/>
              </a:rPr>
              <a:t>bwb.earth</a:t>
            </a:r>
            <a:endParaRPr lang="en-GB" sz="1400">
              <a:solidFill>
                <a:srgbClr val="FFFFFF"/>
              </a:solidFill>
              <a:latin typeface="Aptos"/>
              <a:cs typeface="Aptos"/>
            </a:endParaRPr>
          </a:p>
        </p:txBody>
      </p:sp>
      <p:sp>
        <p:nvSpPr>
          <p:cNvPr id="8" name="Colour strip green"/>
          <p:cNvSpPr/>
          <p:nvPr/>
        </p:nvSpPr>
        <p:spPr>
          <a:xfrm>
            <a:off x="0" y="6807200"/>
            <a:ext cx="4064000" cy="50800"/>
          </a:xfrm>
          <a:prstGeom prst="rect">
            <a:avLst/>
          </a:prstGeom>
          <a:solidFill>
            <a:srgbClr val="328840"/>
          </a:solidFill>
          <a:ln>
            <a:noFill/>
          </a:ln>
        </p:spPr>
      </p:sp>
      <p:sp>
        <p:nvSpPr>
          <p:cNvPr id="9" name="Colour strip charcoal"/>
          <p:cNvSpPr/>
          <p:nvPr/>
        </p:nvSpPr>
        <p:spPr>
          <a:xfrm>
            <a:off x="4064000" y="6807200"/>
            <a:ext cx="4064000" cy="50800"/>
          </a:xfrm>
          <a:prstGeom prst="rect">
            <a:avLst/>
          </a:prstGeom>
          <a:solidFill>
            <a:srgbClr val="4A4A4C"/>
          </a:solidFill>
          <a:ln>
            <a:noFill/>
          </a:ln>
        </p:spPr>
      </p:sp>
      <p:sp>
        <p:nvSpPr>
          <p:cNvPr id="10" name="Colour strip lime"/>
          <p:cNvSpPr/>
          <p:nvPr/>
        </p:nvSpPr>
        <p:spPr>
          <a:xfrm>
            <a:off x="8128000" y="6807200"/>
            <a:ext cx="4064000" cy="50800"/>
          </a:xfrm>
          <a:prstGeom prst="rect">
            <a:avLst/>
          </a:prstGeom>
          <a:solidFill>
            <a:srgbClr val="BED62F"/>
          </a:solidFill>
          <a:ln>
            <a:noFill/>
          </a:ln>
        </p:spPr>
      </p:sp>
    </p:spTree>
    <p:extLst>
      <p:ext uri="{BB962C8B-B14F-4D97-AF65-F5344CB8AC3E}">
        <p14:creationId xmlns:p14="http://schemas.microsoft.com/office/powerpoint/2010/main" val="16170649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508000" y="355600"/>
            <a:ext cx="11176000" cy="812800"/>
          </a:xfrm>
        </p:spPr>
        <p:txBody>
          <a:bodyPr wrap="square" lIns="0" tIns="0" rIns="0" bIns="0" rtlCol="0" anchor="b" anchorCtr="0">
            <a:noAutofit/>
          </a:bodyPr>
          <a:lstStyle/>
          <a:p>
            <a:r>
              <a:rPr lang="en-GB"/>
              <a:t>Action title: say the so-what in one sentence</a:t>
            </a:r>
            <a:endParaRPr lang="en-GB"/>
          </a:p>
        </p:txBody>
      </p:sp>
      <p:sp>
        <p:nvSpPr>
          <p:cNvPr id="3" name="Text"/>
          <p:cNvSpPr>
            <a:spLocks noGrp="1"/>
          </p:cNvSpPr>
          <p:nvPr>
            <p:ph type="body" idx="1"/>
          </p:nvPr>
        </p:nvSpPr>
        <p:spPr>
          <a:xfrm>
            <a:off x="508000" y="1371600"/>
            <a:ext cx="11176000" cy="4572000"/>
          </a:xfrm>
        </p:spPr>
        <p:txBody>
          <a:bodyPr wrap="square" lIns="0" tIns="0" rIns="0" bIns="0" rtlCol="0" anchor="t" anchorCtr="0">
            <a:noAutofit/>
          </a:bodyPr>
          <a:lstStyle/>
          <a:p>
            <a:r>
              <a:rPr lang="en-GB"/>
              <a:t>Text in Aptos 14 pt: lead with the point</a:t>
            </a:r>
            <a:endParaRPr lang="en-GB"/>
          </a:p>
          <a:p>
            <a:pPr lvl="1"/>
            <a:r>
              <a:rPr lang="en-GB"/>
              <a:t>Second level: the supporting detail</a:t>
            </a:r>
            <a:endParaRPr lang="en-GB"/>
          </a:p>
          <a:p>
            <a:pPr lvl="2"/>
            <a:r>
              <a:rPr lang="en-GB"/>
              <a:t>Third level</a:t>
            </a:r>
            <a:endParaRPr lang="en-GB"/>
          </a:p>
        </p:txBody>
      </p:sp>
      <p:sp>
        <p:nvSpPr>
          <p:cNvPr id="4" name="Slide number"/>
          <p:cNvSpPr>
            <a:spLocks noGrp="1"/>
          </p:cNvSpPr>
          <p:nvPr>
            <p:ph type="sldNum" sz="quarter" idx="4"/>
          </p:nvPr>
        </p:nvSpPr>
        <p:spPr>
          <a:xfrm>
            <a:off x="10668000" y="6451600"/>
            <a:ext cx="1016000" cy="279400"/>
          </a:xfrm>
        </p:spPr>
        <p:txBody>
          <a:bodyPr wrap="square" lIns="0" tIns="0" rIns="0" bIns="0" rtlCol="0" anchor="ctr" anchorCtr="0">
            <a:noAutofit/>
          </a:bodyPr>
          <a:lstStyle>
            <a:lvl1pPr marL="0" indent="0" algn="r" defTabSz="914400" rtl="0" eaLnBrk="1" latinLnBrk="0" hangingPunct="1">
              <a:spcBef>
                <a:spcPts val="0"/>
              </a:spcBef>
              <a:spcAft>
                <a:spcPts val="0"/>
              </a:spcAft>
              <a:buNone/>
              <a:defRPr lang="en-GB" sz="900" b="0" kern="1200">
                <a:solidFill>
                  <a:srgbClr val="4A4A4C"/>
                </a:solidFill>
                <a:latin typeface="+mn-lt"/>
                <a:ea typeface="+mn-ea"/>
                <a:cs typeface="+mn-cs"/>
              </a:defRPr>
            </a:lvl1pPr>
          </a:lstStyle>
          <a:p>
            <a:fld id="{B6F15528-21DE-4FAA-801E-634DDDAF4B2B}" type="slidenum">
              <a:rPr lang="en-GB"/>
              <a:t>‹#›</a:t>
            </a:fld>
            <a:endParaRPr lang="en-GB"/>
          </a:p>
        </p:txBody>
      </p:sp>
      <p:pic>
        <p:nvPicPr>
          <p:cNvPr id="5" name="BwB logo" descr="Bankers without Boundaries logo"/>
          <p:cNvPicPr>
            <a:picLocks noChangeAspect="1"/>
          </p:cNvPicPr>
          <p:nvPr/>
        </p:nvPicPr>
        <p:blipFill>
          <a:blip r:embed="rId9"/>
          <a:stretch>
            <a:fillRect/>
          </a:stretch>
        </p:blipFill>
        <p:spPr>
          <a:xfrm>
            <a:off x="508000" y="6489700"/>
            <a:ext cx="1350796" cy="203200"/>
          </a:xfrm>
          <a:prstGeom prst="rect">
            <a:avLst/>
          </a:prstGeom>
        </p:spPr>
      </p:pic>
      <p:sp>
        <p:nvSpPr>
          <p:cNvPr id="6" name="Colour strip green"/>
          <p:cNvSpPr/>
          <p:nvPr/>
        </p:nvSpPr>
        <p:spPr>
          <a:xfrm>
            <a:off x="0" y="6807200"/>
            <a:ext cx="4064000" cy="50800"/>
          </a:xfrm>
          <a:prstGeom prst="rect">
            <a:avLst/>
          </a:prstGeom>
          <a:solidFill>
            <a:srgbClr val="328840"/>
          </a:solidFill>
          <a:ln>
            <a:noFill/>
          </a:ln>
        </p:spPr>
      </p:sp>
      <p:sp>
        <p:nvSpPr>
          <p:cNvPr id="7" name="Colour strip charcoal"/>
          <p:cNvSpPr/>
          <p:nvPr/>
        </p:nvSpPr>
        <p:spPr>
          <a:xfrm>
            <a:off x="4064000" y="6807200"/>
            <a:ext cx="4064000" cy="50800"/>
          </a:xfrm>
          <a:prstGeom prst="rect">
            <a:avLst/>
          </a:prstGeom>
          <a:solidFill>
            <a:srgbClr val="4A4A4C"/>
          </a:solidFill>
          <a:ln>
            <a:noFill/>
          </a:ln>
        </p:spPr>
      </p:sp>
      <p:sp>
        <p:nvSpPr>
          <p:cNvPr id="8" name="Colour strip lime"/>
          <p:cNvSpPr/>
          <p:nvPr/>
        </p:nvSpPr>
        <p:spPr>
          <a:xfrm>
            <a:off x="8128000" y="6807200"/>
            <a:ext cx="4064000" cy="50800"/>
          </a:xfrm>
          <a:prstGeom prst="rect">
            <a:avLst/>
          </a:prstGeom>
          <a:solidFill>
            <a:srgbClr val="BED62F"/>
          </a:solidFill>
          <a:ln>
            <a:noFill/>
          </a:ln>
        </p:spPr>
      </p:sp>
    </p:spTree>
    <p:extLst>
      <p:ext uri="{BB962C8B-B14F-4D97-AF65-F5344CB8AC3E}">
        <p14:creationId xmlns:p14="http://schemas.microsoft.com/office/powerpoint/2010/main" val="3424678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lvl1pPr marL="0" indent="0" algn="l" defTabSz="914400" rtl="0" eaLnBrk="1" latinLnBrk="0" hangingPunct="1">
        <a:lnSpc>
          <a:spcPct val="90000"/>
        </a:lnSpc>
        <a:spcBef>
          <a:spcPts val="0"/>
        </a:spcBef>
        <a:spcAft>
          <a:spcPts val="0"/>
        </a:spcAft>
        <a:buNone/>
        <a:defRPr lang="en-GB" sz="2400" b="1" kern="1200">
          <a:solidFill>
            <a:srgbClr val="022338"/>
          </a:solidFill>
          <a:latin typeface="+mj-lt"/>
          <a:ea typeface="+mj-ea"/>
          <a:cs typeface="+mj-cs"/>
        </a:defRPr>
      </a:lvl1pPr>
    </p:titleStyle>
    <p:bodyStyle>
      <a:lvl1pPr marL="203200" indent="-203200" algn="l" defTabSz="914400" rtl="0" eaLnBrk="1" latinLnBrk="0" hangingPunct="1">
        <a:spcBef>
          <a:spcPts val="0"/>
        </a:spcBef>
        <a:spcAft>
          <a:spcPts val="800"/>
        </a:spcAft>
        <a:buClr>
          <a:srgbClr val="328840"/>
        </a:buClr>
        <a:buSzPct val="80000"/>
        <a:buFont typeface="Arial" panose="020B0604020202020204" pitchFamily="34" charset="0"/>
        <a:buChar char="■"/>
        <a:defRPr lang="en-GB" sz="1400" b="0" kern="1200">
          <a:solidFill>
            <a:srgbClr val="000000"/>
          </a:solidFill>
          <a:latin typeface="+mn-lt"/>
          <a:ea typeface="+mn-ea"/>
          <a:cs typeface="+mn-cs"/>
        </a:defRPr>
      </a:lvl1pPr>
      <a:lvl2pPr marL="406400" indent="-177800" algn="l" defTabSz="914400" rtl="0" eaLnBrk="1" latinLnBrk="0" hangingPunct="1">
        <a:spcBef>
          <a:spcPts val="0"/>
        </a:spcBef>
        <a:spcAft>
          <a:spcPts val="600"/>
        </a:spcAft>
        <a:buClr>
          <a:srgbClr val="022338"/>
        </a:buClr>
        <a:buSzPct val="70000"/>
        <a:buFont typeface="Arial" panose="020B0604020202020204" pitchFamily="34" charset="0"/>
        <a:buChar char="●"/>
        <a:defRPr lang="en-GB" sz="1200" b="0" kern="1200">
          <a:solidFill>
            <a:srgbClr val="000000"/>
          </a:solidFill>
          <a:latin typeface="+mn-lt"/>
          <a:ea typeface="+mn-ea"/>
          <a:cs typeface="+mn-cs"/>
        </a:defRPr>
      </a:lvl2pPr>
      <a:lvl3pPr marL="584200" indent="-177800" algn="l" defTabSz="914400" rtl="0" eaLnBrk="1" latinLnBrk="0" hangingPunct="1">
        <a:spcBef>
          <a:spcPts val="0"/>
        </a:spcBef>
        <a:spcAft>
          <a:spcPts val="400"/>
        </a:spcAft>
        <a:buClr>
          <a:srgbClr val="4A4A4C"/>
        </a:buClr>
        <a:buSzPct val="100000"/>
        <a:buFont typeface="Arial" panose="020B0604020202020204" pitchFamily="34" charset="0"/>
        <a:buChar char="–"/>
        <a:defRPr lang="en-GB" sz="1200" b="0" kern="1200">
          <a:solidFill>
            <a:srgbClr val="000000"/>
          </a:solidFill>
          <a:latin typeface="+mn-lt"/>
          <a:ea typeface="+mn-ea"/>
          <a:cs typeface="+mn-cs"/>
        </a:defRPr>
      </a:lvl3pPr>
      <a:lvl4pPr marL="584200" indent="-177800" algn="l" defTabSz="914400" rtl="0" eaLnBrk="1" latinLnBrk="0" hangingPunct="1">
        <a:spcBef>
          <a:spcPts val="0"/>
        </a:spcBef>
        <a:spcAft>
          <a:spcPts val="400"/>
        </a:spcAft>
        <a:buClr>
          <a:srgbClr val="4A4A4C"/>
        </a:buClr>
        <a:buSzPct val="100000"/>
        <a:buFont typeface="Arial" panose="020B0604020202020204" pitchFamily="34" charset="0"/>
        <a:buChar char="–"/>
        <a:defRPr lang="en-GB" sz="1200" b="0" kern="1200">
          <a:solidFill>
            <a:srgbClr val="000000"/>
          </a:solidFill>
          <a:latin typeface="+mn-lt"/>
          <a:ea typeface="+mn-ea"/>
          <a:cs typeface="+mn-cs"/>
        </a:defRPr>
      </a:lvl4pPr>
      <a:lvl5pPr marL="584200" indent="-177800" algn="l" defTabSz="914400" rtl="0" eaLnBrk="1" latinLnBrk="0" hangingPunct="1">
        <a:spcBef>
          <a:spcPts val="0"/>
        </a:spcBef>
        <a:spcAft>
          <a:spcPts val="400"/>
        </a:spcAft>
        <a:buClr>
          <a:srgbClr val="4A4A4C"/>
        </a:buClr>
        <a:buSzPct val="100000"/>
        <a:buFont typeface="Arial" panose="020B0604020202020204" pitchFamily="34" charset="0"/>
        <a:buChar char="–"/>
        <a:defRPr lang="en-GB" sz="1200" b="0" kern="1200">
          <a:solidFill>
            <a:srgbClr val="000000"/>
          </a:solidFill>
          <a:latin typeface="+mn-lt"/>
          <a:ea typeface="+mn-ea"/>
          <a:cs typeface="+mn-cs"/>
        </a:defRPr>
      </a:lvl5pPr>
      <a:lvl6pPr marL="584200" indent="-177800" algn="l" defTabSz="914400" rtl="0" eaLnBrk="1" latinLnBrk="0" hangingPunct="1">
        <a:spcBef>
          <a:spcPts val="0"/>
        </a:spcBef>
        <a:spcAft>
          <a:spcPts val="400"/>
        </a:spcAft>
        <a:buClr>
          <a:srgbClr val="4A4A4C"/>
        </a:buClr>
        <a:buSzPct val="100000"/>
        <a:buFont typeface="Arial" panose="020B0604020202020204" pitchFamily="34" charset="0"/>
        <a:buChar char="–"/>
        <a:defRPr lang="en-GB" sz="1200" b="0" kern="1200">
          <a:solidFill>
            <a:srgbClr val="000000"/>
          </a:solidFill>
          <a:latin typeface="+mn-lt"/>
          <a:ea typeface="+mn-ea"/>
          <a:cs typeface="+mn-cs"/>
        </a:defRPr>
      </a:lvl6pPr>
      <a:lvl7pPr marL="584200" indent="-177800" algn="l" defTabSz="914400" rtl="0" eaLnBrk="1" latinLnBrk="0" hangingPunct="1">
        <a:spcBef>
          <a:spcPts val="0"/>
        </a:spcBef>
        <a:spcAft>
          <a:spcPts val="400"/>
        </a:spcAft>
        <a:buClr>
          <a:srgbClr val="4A4A4C"/>
        </a:buClr>
        <a:buSzPct val="100000"/>
        <a:buFont typeface="Arial" panose="020B0604020202020204" pitchFamily="34" charset="0"/>
        <a:buChar char="–"/>
        <a:defRPr lang="en-GB" sz="1200" b="0" kern="1200">
          <a:solidFill>
            <a:srgbClr val="000000"/>
          </a:solidFill>
          <a:latin typeface="+mn-lt"/>
          <a:ea typeface="+mn-ea"/>
          <a:cs typeface="+mn-cs"/>
        </a:defRPr>
      </a:lvl7pPr>
      <a:lvl8pPr marL="584200" indent="-177800" algn="l" defTabSz="914400" rtl="0" eaLnBrk="1" latinLnBrk="0" hangingPunct="1">
        <a:spcBef>
          <a:spcPts val="0"/>
        </a:spcBef>
        <a:spcAft>
          <a:spcPts val="400"/>
        </a:spcAft>
        <a:buClr>
          <a:srgbClr val="4A4A4C"/>
        </a:buClr>
        <a:buSzPct val="100000"/>
        <a:buFont typeface="Arial" panose="020B0604020202020204" pitchFamily="34" charset="0"/>
        <a:buChar char="–"/>
        <a:defRPr lang="en-GB" sz="1200" b="0" kern="1200">
          <a:solidFill>
            <a:srgbClr val="000000"/>
          </a:solidFill>
          <a:latin typeface="+mn-lt"/>
          <a:ea typeface="+mn-ea"/>
          <a:cs typeface="+mn-cs"/>
        </a:defRPr>
      </a:lvl8pPr>
      <a:lvl9pPr marL="584200" indent="-177800" algn="l" defTabSz="914400" rtl="0" eaLnBrk="1" latinLnBrk="0" hangingPunct="1">
        <a:spcBef>
          <a:spcPts val="0"/>
        </a:spcBef>
        <a:spcAft>
          <a:spcPts val="400"/>
        </a:spcAft>
        <a:buClr>
          <a:srgbClr val="4A4A4C"/>
        </a:buClr>
        <a:buSzPct val="100000"/>
        <a:buFont typeface="Arial" panose="020B0604020202020204" pitchFamily="34" charset="0"/>
        <a:buChar char="–"/>
        <a:defRPr lang="en-GB" sz="1200" b="0" kern="1200">
          <a:solidFill>
            <a:srgbClr val="000000"/>
          </a:solidFill>
          <a:latin typeface="+mn-lt"/>
          <a:ea typeface="+mn-ea"/>
          <a:cs typeface="+mn-cs"/>
        </a:defRPr>
      </a:lvl9pPr>
    </p:bodyStyle>
    <p:otherStyle>
      <a:defPPr>
        <a:defRPr lang="en-GB"/>
      </a:defPPr>
      <a:lvl1pPr marL="0" indent="0" algn="l" defTabSz="914400" rtl="0" eaLnBrk="1" latinLnBrk="0" hangingPunct="1">
        <a:spcBef>
          <a:spcPts val="0"/>
        </a:spcBef>
        <a:spcAft>
          <a:spcPts val="0"/>
        </a:spcAft>
        <a:buNone/>
        <a:defRPr lang="en-GB" sz="1400" b="0" kern="1200">
          <a:solidFill>
            <a:srgbClr val="000000"/>
          </a:solidFill>
          <a:latin typeface="+mn-lt"/>
          <a:ea typeface="+mn-ea"/>
          <a:cs typeface="+mn-cs"/>
        </a:defRPr>
      </a:lvl1pPr>
      <a:lvl2pPr marL="0" indent="0" algn="l" defTabSz="914400" rtl="0" eaLnBrk="1" latinLnBrk="0" hangingPunct="1">
        <a:spcBef>
          <a:spcPts val="0"/>
        </a:spcBef>
        <a:spcAft>
          <a:spcPts val="0"/>
        </a:spcAft>
        <a:buNone/>
        <a:defRPr lang="en-GB" sz="1400" b="0" kern="1200">
          <a:solidFill>
            <a:srgbClr val="000000"/>
          </a:solidFill>
          <a:latin typeface="+mn-lt"/>
          <a:ea typeface="+mn-ea"/>
          <a:cs typeface="+mn-cs"/>
        </a:defRPr>
      </a:lvl2pPr>
      <a:lvl3pPr marL="0" indent="0" algn="l" defTabSz="914400" rtl="0" eaLnBrk="1" latinLnBrk="0" hangingPunct="1">
        <a:spcBef>
          <a:spcPts val="0"/>
        </a:spcBef>
        <a:spcAft>
          <a:spcPts val="0"/>
        </a:spcAft>
        <a:buNone/>
        <a:defRPr lang="en-GB" sz="1400" b="0" kern="1200">
          <a:solidFill>
            <a:srgbClr val="000000"/>
          </a:solidFill>
          <a:latin typeface="+mn-lt"/>
          <a:ea typeface="+mn-ea"/>
          <a:cs typeface="+mn-cs"/>
        </a:defRPr>
      </a:lvl3pPr>
      <a:lvl4pPr marL="0" indent="0" algn="l" defTabSz="914400" rtl="0" eaLnBrk="1" latinLnBrk="0" hangingPunct="1">
        <a:spcBef>
          <a:spcPts val="0"/>
        </a:spcBef>
        <a:spcAft>
          <a:spcPts val="0"/>
        </a:spcAft>
        <a:buNone/>
        <a:defRPr lang="en-GB" sz="1400" b="0" kern="1200">
          <a:solidFill>
            <a:srgbClr val="000000"/>
          </a:solidFill>
          <a:latin typeface="+mn-lt"/>
          <a:ea typeface="+mn-ea"/>
          <a:cs typeface="+mn-cs"/>
        </a:defRPr>
      </a:lvl4pPr>
      <a:lvl5pPr marL="0" indent="0" algn="l" defTabSz="914400" rtl="0" eaLnBrk="1" latinLnBrk="0" hangingPunct="1">
        <a:spcBef>
          <a:spcPts val="0"/>
        </a:spcBef>
        <a:spcAft>
          <a:spcPts val="0"/>
        </a:spcAft>
        <a:buNone/>
        <a:defRPr lang="en-GB" sz="1400" b="0" kern="1200">
          <a:solidFill>
            <a:srgbClr val="000000"/>
          </a:solidFill>
          <a:latin typeface="+mn-lt"/>
          <a:ea typeface="+mn-ea"/>
          <a:cs typeface="+mn-cs"/>
        </a:defRPr>
      </a:lvl5pPr>
      <a:lvl6pPr marL="0" indent="0" algn="l" defTabSz="914400" rtl="0" eaLnBrk="1" latinLnBrk="0" hangingPunct="1">
        <a:spcBef>
          <a:spcPts val="0"/>
        </a:spcBef>
        <a:spcAft>
          <a:spcPts val="0"/>
        </a:spcAft>
        <a:buNone/>
        <a:defRPr lang="en-GB" sz="1400" b="0" kern="1200">
          <a:solidFill>
            <a:srgbClr val="000000"/>
          </a:solidFill>
          <a:latin typeface="+mn-lt"/>
          <a:ea typeface="+mn-ea"/>
          <a:cs typeface="+mn-cs"/>
        </a:defRPr>
      </a:lvl6pPr>
      <a:lvl7pPr marL="0" indent="0" algn="l" defTabSz="914400" rtl="0" eaLnBrk="1" latinLnBrk="0" hangingPunct="1">
        <a:spcBef>
          <a:spcPts val="0"/>
        </a:spcBef>
        <a:spcAft>
          <a:spcPts val="0"/>
        </a:spcAft>
        <a:buNone/>
        <a:defRPr lang="en-GB" sz="1400" b="0" kern="1200">
          <a:solidFill>
            <a:srgbClr val="000000"/>
          </a:solidFill>
          <a:latin typeface="+mn-lt"/>
          <a:ea typeface="+mn-ea"/>
          <a:cs typeface="+mn-cs"/>
        </a:defRPr>
      </a:lvl7pPr>
      <a:lvl8pPr marL="0" indent="0" algn="l" defTabSz="914400" rtl="0" eaLnBrk="1" latinLnBrk="0" hangingPunct="1">
        <a:spcBef>
          <a:spcPts val="0"/>
        </a:spcBef>
        <a:spcAft>
          <a:spcPts val="0"/>
        </a:spcAft>
        <a:buNone/>
        <a:defRPr lang="en-GB" sz="1400" b="0" kern="1200">
          <a:solidFill>
            <a:srgbClr val="000000"/>
          </a:solidFill>
          <a:latin typeface="+mn-lt"/>
          <a:ea typeface="+mn-ea"/>
          <a:cs typeface="+mn-cs"/>
        </a:defRPr>
      </a:lvl8pPr>
      <a:lvl9pPr marL="0" indent="0" algn="l" defTabSz="914400" rtl="0" eaLnBrk="1" latinLnBrk="0" hangingPunct="1">
        <a:spcBef>
          <a:spcPts val="0"/>
        </a:spcBef>
        <a:spcAft>
          <a:spcPts val="0"/>
        </a:spcAft>
        <a:buNone/>
        <a:defRPr lang="en-GB" sz="1400" b="0" kern="1200">
          <a:solidFill>
            <a:srgbClr val="000000"/>
          </a:solidFill>
          <a:latin typeface="+mn-lt"/>
          <a:ea typeface="+mn-ea"/>
          <a:cs typeface="+mn-cs"/>
        </a:defRPr>
      </a:lvl9pPr>
    </p:otherStyle>
  </p:txStyles>
  <p:extLst>
    <p:ext uri="{27BBF7A9-308A-43DC-89C8-2F10F3537804}">
      <p15:sldGuideLst xmlns:p15="http://schemas.microsoft.com/office/powerpoint/2012/main">
        <p15:guide id="1" orient="vert" pos="320" userDrawn="1">
          <p15:clr>
            <a:srgbClr val="F26B43"/>
          </p15:clr>
        </p15:guide>
        <p15:guide id="2" orient="vert" pos="3776" userDrawn="1">
          <p15:clr>
            <a:srgbClr val="F26B43"/>
          </p15:clr>
        </p15:guide>
        <p15:guide id="3" orient="vert" pos="3904" userDrawn="1">
          <p15:clr>
            <a:srgbClr val="F26B43"/>
          </p15:clr>
        </p15:guide>
        <p15:guide id="4" orient="vert" pos="7360" userDrawn="1">
          <p15:clr>
            <a:srgbClr val="F26B43"/>
          </p15:clr>
        </p15:guide>
        <p15:guide id="5" orient="horz" pos="224" userDrawn="1">
          <p15:clr>
            <a:srgbClr val="F26B43"/>
          </p15:clr>
        </p15:guide>
        <p15:guide id="6" orient="horz" pos="736" userDrawn="1">
          <p15:clr>
            <a:srgbClr val="F26B43"/>
          </p15:clr>
        </p15:guide>
        <p15:guide id="7" orient="horz" pos="864" userDrawn="1">
          <p15:clr>
            <a:srgbClr val="F26B43"/>
          </p15:clr>
        </p15:guide>
        <p15:guide id="8" orient="horz" pos="3744" userDrawn="1">
          <p15:clr>
            <a:srgbClr val="F26B43"/>
          </p15:clr>
        </p15:guide>
        <p15:guide id="9" orient="horz" pos="3808" userDrawn="1">
          <p15:clr>
            <a:srgbClr val="F26B43"/>
          </p15:clr>
        </p15:guide>
        <p15:guide id="10" orient="horz" pos="40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7.png"/><Relationship Id="rId7" Type="http://schemas.openxmlformats.org/officeDocument/2006/relationships/image" Target="../media/image8.svg"/><Relationship Id="rId8" Type="http://schemas.openxmlformats.org/officeDocument/2006/relationships/image" Target="../media/image9.png"/><Relationship Id="rId9" Type="http://schemas.openxmlformats.org/officeDocument/2006/relationships/image" Target="../media/image10.svg"/><Relationship Id="rId10" Type="http://schemas.openxmlformats.org/officeDocument/2006/relationships/image" Target="../media/image11.png"/><Relationship Id="rId11" Type="http://schemas.openxmlformats.org/officeDocument/2006/relationships/image" Target="../media/image12.svg"/><Relationship Id="rId12" Type="http://schemas.openxmlformats.org/officeDocument/2006/relationships/image" Target="../media/image13.png"/><Relationship Id="rId13" Type="http://schemas.openxmlformats.org/officeDocument/2006/relationships/image" Target="../media/image14.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 Id="rId3" Type="http://schemas.openxmlformats.org/officeDocument/2006/relationships/image" Target="../media/image17.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jpg"/><Relationship Id="rId3" Type="http://schemas.openxmlformats.org/officeDocument/2006/relationships/image" Target="../media/image19.jpg"/><Relationship Id="rId4" Type="http://schemas.openxmlformats.org/officeDocument/2006/relationships/image" Target="../media/image20.jpg"/><Relationship Id="rId5" Type="http://schemas.openxmlformats.org/officeDocument/2006/relationships/image" Target="../media/image2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ctrTitle"/>
          </p:nvPr>
        </p:nvSpPr>
        <p:spPr/>
        <p:txBody>
          <a:bodyPr/>
          <a:lstStyle/>
          <a:p>
            <a:r>
              <a:rPr lang="en-GB"/>
              <a:t>Presentation Title in Title Case, on One or Two Lines</a:t>
            </a:r>
            <a:endParaRPr lang="en-GB"/>
          </a:p>
        </p:txBody>
      </p:sp>
      <p:sp>
        <p:nvSpPr>
          <p:cNvPr id="3" name="Subtitle"/>
          <p:cNvSpPr>
            <a:spLocks noGrp="1"/>
          </p:cNvSpPr>
          <p:nvPr>
            <p:ph type="subTitle" idx="1"/>
          </p:nvPr>
        </p:nvSpPr>
        <p:spPr/>
        <p:txBody>
          <a:bodyPr/>
          <a:lstStyle/>
          <a:p>
            <a:r>
              <a:rPr lang="en-GB"/>
              <a:t>Subtitle: the client, the project and the purpose of the meeting</a:t>
            </a:r>
            <a:endParaRPr lang="en-GB"/>
          </a:p>
        </p:txBody>
      </p:sp>
      <p:sp>
        <p:nvSpPr>
          <p:cNvPr id="4" name="Date"/>
          <p:cNvSpPr>
            <a:spLocks noGrp="1"/>
          </p:cNvSpPr>
          <p:nvPr>
            <p:ph type="body" sz="quarter" idx="13"/>
          </p:nvPr>
        </p:nvSpPr>
        <p:spPr/>
        <p:txBody>
          <a:bodyPr/>
          <a:lstStyle/>
          <a:p>
            <a:r>
              <a:rPr lang="en-GB"/>
              <a:t>Date in the form 5 October 2026</a:t>
            </a:r>
            <a:endParaRPr lang="en-GB"/>
          </a:p>
        </p:txBody>
      </p:sp>
    </p:spTree>
    <p:extLst>
      <p:ext uri="{BB962C8B-B14F-4D97-AF65-F5344CB8AC3E}">
        <p14:creationId xmlns:p14="http://schemas.microsoft.com/office/powerpoint/2010/main" val="930293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Agenda</a:t>
            </a:r>
            <a:endParaRPr lang="en-GB"/>
          </a:p>
        </p:txBody>
      </p:sp>
      <p:cxnSp>
        <p:nvCxnSpPr>
          <p:cNvPr id="3" name="Agenda rule top"/>
          <p:cNvCxnSpPr/>
          <p:nvPr/>
        </p:nvCxnSpPr>
        <p:spPr>
          <a:xfrm>
            <a:off x="508000" y="1371600"/>
            <a:ext cx="11176000" cy="0"/>
          </a:xfrm>
          <a:prstGeom prst="line">
            <a:avLst/>
          </a:prstGeom>
          <a:ln w="12700">
            <a:solidFill>
              <a:srgbClr val="022338"/>
            </a:solidFill>
          </a:ln>
        </p:spPr>
      </p:cxnSp>
      <p:sp>
        <p:nvSpPr>
          <p:cNvPr id="4" name="Agenda number 1"/>
          <p:cNvSpPr txBox="1"/>
          <p:nvPr/>
        </p:nvSpPr>
        <p:spPr>
          <a:xfrm>
            <a:off x="508000" y="1371600"/>
            <a:ext cx="745067" cy="914400"/>
          </a:xfrm>
          <a:prstGeom prst="rect">
            <a:avLst/>
          </a:prstGeom>
          <a:noFill/>
          <a:ln>
            <a:noFill/>
          </a:ln>
        </p:spPr>
        <p:txBody>
          <a:bodyPr wrap="square" lIns="0" tIns="0" rIns="0" bIns="0" rtlCol="0" anchor="ctr" anchorCtr="0">
            <a:noAutofit/>
          </a:bodyPr>
          <a:lstStyle/>
          <a:p>
            <a:pPr marL="0" indent="0" algn="l">
              <a:spcBef>
                <a:spcPts val="0"/>
              </a:spcBef>
              <a:spcAft>
                <a:spcPts val="0"/>
              </a:spcAft>
              <a:buNone/>
            </a:pPr>
            <a:r>
              <a:rPr lang="en-GB" sz="2400" b="1">
                <a:solidFill>
                  <a:srgbClr val="328840"/>
                </a:solidFill>
                <a:latin typeface="Aptos"/>
                <a:cs typeface="Aptos"/>
              </a:rPr>
              <a:t>01</a:t>
            </a:r>
            <a:endParaRPr lang="en-GB" sz="2400">
              <a:solidFill>
                <a:srgbClr val="328840"/>
              </a:solidFill>
              <a:latin typeface="Aptos"/>
              <a:cs typeface="Aptos"/>
            </a:endParaRPr>
          </a:p>
        </p:txBody>
      </p:sp>
      <p:sp>
        <p:nvSpPr>
          <p:cNvPr id="5" name="Agenda item 1"/>
          <p:cNvSpPr txBox="1"/>
          <p:nvPr/>
        </p:nvSpPr>
        <p:spPr>
          <a:xfrm>
            <a:off x="1456267" y="1371600"/>
            <a:ext cx="4538133" cy="914400"/>
          </a:xfrm>
          <a:prstGeom prst="rect">
            <a:avLst/>
          </a:prstGeom>
          <a:noFill/>
          <a:ln>
            <a:noFill/>
          </a:ln>
        </p:spPr>
        <p:txBody>
          <a:bodyPr wrap="square" lIns="0" tIns="0" rIns="0" bIns="0" rtlCol="0" anchor="ctr" anchorCtr="0">
            <a:noAutofit/>
          </a:bodyPr>
          <a:lstStyle/>
          <a:p>
            <a:pPr marL="0" indent="0" algn="l">
              <a:spcBef>
                <a:spcPts val="0"/>
              </a:spcBef>
              <a:spcAft>
                <a:spcPts val="0"/>
              </a:spcAft>
              <a:buNone/>
            </a:pPr>
            <a:r>
              <a:rPr lang="en-GB" sz="1800" b="1">
                <a:solidFill>
                  <a:srgbClr val="022338"/>
                </a:solidFill>
                <a:latin typeface="Candara"/>
                <a:cs typeface="Candara"/>
              </a:rPr>
              <a:t>Context and objectives</a:t>
            </a:r>
            <a:endParaRPr lang="en-GB" sz="1800">
              <a:solidFill>
                <a:srgbClr val="022338"/>
              </a:solidFill>
              <a:latin typeface="Candara"/>
              <a:cs typeface="Candara"/>
            </a:endParaRPr>
          </a:p>
        </p:txBody>
      </p:sp>
      <p:sp>
        <p:nvSpPr>
          <p:cNvPr id="6" name="Agenda description 1"/>
          <p:cNvSpPr txBox="1"/>
          <p:nvPr/>
        </p:nvSpPr>
        <p:spPr>
          <a:xfrm>
            <a:off x="6197600" y="1371600"/>
            <a:ext cx="5486400" cy="914400"/>
          </a:xfrm>
          <a:prstGeom prst="rect">
            <a:avLst/>
          </a:prstGeom>
          <a:noFill/>
          <a:ln>
            <a:noFill/>
          </a:ln>
        </p:spPr>
        <p:txBody>
          <a:bodyPr wrap="square" lIns="0" tIns="0" rIns="0" bIns="0" rtlCol="0" anchor="ctr" anchorCtr="0">
            <a:noAutofit/>
          </a:bodyPr>
          <a:lstStyle/>
          <a:p>
            <a:pPr marL="0" indent="0" algn="l">
              <a:spcBef>
                <a:spcPts val="0"/>
              </a:spcBef>
              <a:spcAft>
                <a:spcPts val="0"/>
              </a:spcAft>
              <a:buNone/>
            </a:pPr>
            <a:r>
              <a:rPr lang="en-GB" sz="1400">
                <a:solidFill>
                  <a:srgbClr val="4A4A4C"/>
                </a:solidFill>
                <a:latin typeface="Aptos"/>
                <a:cs typeface="Aptos"/>
              </a:rPr>
              <a:t>Why we are here and the decision this meeting supports</a:t>
            </a:r>
            <a:endParaRPr lang="en-GB" sz="1400">
              <a:solidFill>
                <a:srgbClr val="4A4A4C"/>
              </a:solidFill>
              <a:latin typeface="Aptos"/>
              <a:cs typeface="Aptos"/>
            </a:endParaRPr>
          </a:p>
        </p:txBody>
      </p:sp>
      <p:cxnSp>
        <p:nvCxnSpPr>
          <p:cNvPr id="7" name="Agenda rule 1"/>
          <p:cNvCxnSpPr/>
          <p:nvPr/>
        </p:nvCxnSpPr>
        <p:spPr>
          <a:xfrm>
            <a:off x="508000" y="2286000"/>
            <a:ext cx="11176000" cy="0"/>
          </a:xfrm>
          <a:prstGeom prst="line">
            <a:avLst/>
          </a:prstGeom>
          <a:ln w="9525">
            <a:solidFill>
              <a:srgbClr val="E8E9E6"/>
            </a:solidFill>
          </a:ln>
        </p:spPr>
      </p:cxnSp>
      <p:sp>
        <p:nvSpPr>
          <p:cNvPr id="8" name="Agenda number 2"/>
          <p:cNvSpPr txBox="1"/>
          <p:nvPr/>
        </p:nvSpPr>
        <p:spPr>
          <a:xfrm>
            <a:off x="508000" y="2286000"/>
            <a:ext cx="745067" cy="914400"/>
          </a:xfrm>
          <a:prstGeom prst="rect">
            <a:avLst/>
          </a:prstGeom>
          <a:noFill/>
          <a:ln>
            <a:noFill/>
          </a:ln>
        </p:spPr>
        <p:txBody>
          <a:bodyPr wrap="square" lIns="0" tIns="0" rIns="0" bIns="0" rtlCol="0" anchor="ctr" anchorCtr="0">
            <a:noAutofit/>
          </a:bodyPr>
          <a:lstStyle/>
          <a:p>
            <a:pPr marL="0" indent="0" algn="l">
              <a:spcBef>
                <a:spcPts val="0"/>
              </a:spcBef>
              <a:spcAft>
                <a:spcPts val="0"/>
              </a:spcAft>
              <a:buNone/>
            </a:pPr>
            <a:r>
              <a:rPr lang="en-GB" sz="2400" b="1">
                <a:solidFill>
                  <a:srgbClr val="328840"/>
                </a:solidFill>
                <a:latin typeface="Aptos"/>
                <a:cs typeface="Aptos"/>
              </a:rPr>
              <a:t>02</a:t>
            </a:r>
            <a:endParaRPr lang="en-GB" sz="2400">
              <a:solidFill>
                <a:srgbClr val="328840"/>
              </a:solidFill>
              <a:latin typeface="Aptos"/>
              <a:cs typeface="Aptos"/>
            </a:endParaRPr>
          </a:p>
        </p:txBody>
      </p:sp>
      <p:sp>
        <p:nvSpPr>
          <p:cNvPr id="9" name="Agenda item 2"/>
          <p:cNvSpPr txBox="1"/>
          <p:nvPr/>
        </p:nvSpPr>
        <p:spPr>
          <a:xfrm>
            <a:off x="1456267" y="2286000"/>
            <a:ext cx="4538133" cy="914400"/>
          </a:xfrm>
          <a:prstGeom prst="rect">
            <a:avLst/>
          </a:prstGeom>
          <a:noFill/>
          <a:ln>
            <a:noFill/>
          </a:ln>
        </p:spPr>
        <p:txBody>
          <a:bodyPr wrap="square" lIns="0" tIns="0" rIns="0" bIns="0" rtlCol="0" anchor="ctr" anchorCtr="0">
            <a:noAutofit/>
          </a:bodyPr>
          <a:lstStyle/>
          <a:p>
            <a:pPr marL="0" indent="0" algn="l">
              <a:spcBef>
                <a:spcPts val="0"/>
              </a:spcBef>
              <a:spcAft>
                <a:spcPts val="0"/>
              </a:spcAft>
              <a:buNone/>
            </a:pPr>
            <a:r>
              <a:rPr lang="en-GB" sz="1800" b="1">
                <a:solidFill>
                  <a:srgbClr val="022338"/>
                </a:solidFill>
                <a:latin typeface="Candara"/>
                <a:cs typeface="Candara"/>
              </a:rPr>
              <a:t>Findings</a:t>
            </a:r>
            <a:endParaRPr lang="en-GB" sz="1800">
              <a:solidFill>
                <a:srgbClr val="022338"/>
              </a:solidFill>
              <a:latin typeface="Candara"/>
              <a:cs typeface="Candara"/>
            </a:endParaRPr>
          </a:p>
        </p:txBody>
      </p:sp>
      <p:sp>
        <p:nvSpPr>
          <p:cNvPr id="10" name="Agenda description 2"/>
          <p:cNvSpPr txBox="1"/>
          <p:nvPr/>
        </p:nvSpPr>
        <p:spPr>
          <a:xfrm>
            <a:off x="6197600" y="2286000"/>
            <a:ext cx="5486400" cy="914400"/>
          </a:xfrm>
          <a:prstGeom prst="rect">
            <a:avLst/>
          </a:prstGeom>
          <a:noFill/>
          <a:ln>
            <a:noFill/>
          </a:ln>
        </p:spPr>
        <p:txBody>
          <a:bodyPr wrap="square" lIns="0" tIns="0" rIns="0" bIns="0" rtlCol="0" anchor="ctr" anchorCtr="0">
            <a:noAutofit/>
          </a:bodyPr>
          <a:lstStyle/>
          <a:p>
            <a:pPr marL="0" indent="0" algn="l">
              <a:spcBef>
                <a:spcPts val="0"/>
              </a:spcBef>
              <a:spcAft>
                <a:spcPts val="0"/>
              </a:spcAft>
              <a:buNone/>
            </a:pPr>
            <a:r>
              <a:rPr lang="en-GB" sz="1400">
                <a:solidFill>
                  <a:srgbClr val="4A4A4C"/>
                </a:solidFill>
                <a:latin typeface="Aptos"/>
                <a:cs typeface="Aptos"/>
              </a:rPr>
              <a:t>What the diagnostic shows, with the evidence behind each point</a:t>
            </a:r>
            <a:endParaRPr lang="en-GB" sz="1400">
              <a:solidFill>
                <a:srgbClr val="4A4A4C"/>
              </a:solidFill>
              <a:latin typeface="Aptos"/>
              <a:cs typeface="Aptos"/>
            </a:endParaRPr>
          </a:p>
        </p:txBody>
      </p:sp>
      <p:cxnSp>
        <p:nvCxnSpPr>
          <p:cNvPr id="11" name="Agenda rule 2"/>
          <p:cNvCxnSpPr/>
          <p:nvPr/>
        </p:nvCxnSpPr>
        <p:spPr>
          <a:xfrm>
            <a:off x="508000" y="3200400"/>
            <a:ext cx="11176000" cy="0"/>
          </a:xfrm>
          <a:prstGeom prst="line">
            <a:avLst/>
          </a:prstGeom>
          <a:ln w="9525">
            <a:solidFill>
              <a:srgbClr val="E8E9E6"/>
            </a:solidFill>
          </a:ln>
        </p:spPr>
      </p:cxnSp>
      <p:sp>
        <p:nvSpPr>
          <p:cNvPr id="12" name="Agenda number 3"/>
          <p:cNvSpPr txBox="1"/>
          <p:nvPr/>
        </p:nvSpPr>
        <p:spPr>
          <a:xfrm>
            <a:off x="508000" y="3200400"/>
            <a:ext cx="745067" cy="914400"/>
          </a:xfrm>
          <a:prstGeom prst="rect">
            <a:avLst/>
          </a:prstGeom>
          <a:noFill/>
          <a:ln>
            <a:noFill/>
          </a:ln>
        </p:spPr>
        <p:txBody>
          <a:bodyPr wrap="square" lIns="0" tIns="0" rIns="0" bIns="0" rtlCol="0" anchor="ctr" anchorCtr="0">
            <a:noAutofit/>
          </a:bodyPr>
          <a:lstStyle/>
          <a:p>
            <a:pPr marL="0" indent="0" algn="l">
              <a:spcBef>
                <a:spcPts val="0"/>
              </a:spcBef>
              <a:spcAft>
                <a:spcPts val="0"/>
              </a:spcAft>
              <a:buNone/>
            </a:pPr>
            <a:r>
              <a:rPr lang="en-GB" sz="2400" b="1">
                <a:solidFill>
                  <a:srgbClr val="328840"/>
                </a:solidFill>
                <a:latin typeface="Aptos"/>
                <a:cs typeface="Aptos"/>
              </a:rPr>
              <a:t>03</a:t>
            </a:r>
            <a:endParaRPr lang="en-GB" sz="2400">
              <a:solidFill>
                <a:srgbClr val="328840"/>
              </a:solidFill>
              <a:latin typeface="Aptos"/>
              <a:cs typeface="Aptos"/>
            </a:endParaRPr>
          </a:p>
        </p:txBody>
      </p:sp>
      <p:sp>
        <p:nvSpPr>
          <p:cNvPr id="13" name="Agenda item 3"/>
          <p:cNvSpPr txBox="1"/>
          <p:nvPr/>
        </p:nvSpPr>
        <p:spPr>
          <a:xfrm>
            <a:off x="1456267" y="3200400"/>
            <a:ext cx="4538133" cy="914400"/>
          </a:xfrm>
          <a:prstGeom prst="rect">
            <a:avLst/>
          </a:prstGeom>
          <a:noFill/>
          <a:ln>
            <a:noFill/>
          </a:ln>
        </p:spPr>
        <p:txBody>
          <a:bodyPr wrap="square" lIns="0" tIns="0" rIns="0" bIns="0" rtlCol="0" anchor="ctr" anchorCtr="0">
            <a:noAutofit/>
          </a:bodyPr>
          <a:lstStyle/>
          <a:p>
            <a:pPr marL="0" indent="0" algn="l">
              <a:spcBef>
                <a:spcPts val="0"/>
              </a:spcBef>
              <a:spcAft>
                <a:spcPts val="0"/>
              </a:spcAft>
              <a:buNone/>
            </a:pPr>
            <a:r>
              <a:rPr lang="en-GB" sz="1800" b="1">
                <a:solidFill>
                  <a:srgbClr val="022338"/>
                </a:solidFill>
                <a:latin typeface="Candara"/>
                <a:cs typeface="Candara"/>
              </a:rPr>
              <a:t>Options</a:t>
            </a:r>
            <a:endParaRPr lang="en-GB" sz="1800">
              <a:solidFill>
                <a:srgbClr val="022338"/>
              </a:solidFill>
              <a:latin typeface="Candara"/>
              <a:cs typeface="Candara"/>
            </a:endParaRPr>
          </a:p>
        </p:txBody>
      </p:sp>
      <p:sp>
        <p:nvSpPr>
          <p:cNvPr id="14" name="Agenda description 3"/>
          <p:cNvSpPr txBox="1"/>
          <p:nvPr/>
        </p:nvSpPr>
        <p:spPr>
          <a:xfrm>
            <a:off x="6197600" y="3200400"/>
            <a:ext cx="5486400" cy="914400"/>
          </a:xfrm>
          <a:prstGeom prst="rect">
            <a:avLst/>
          </a:prstGeom>
          <a:noFill/>
          <a:ln>
            <a:noFill/>
          </a:ln>
        </p:spPr>
        <p:txBody>
          <a:bodyPr wrap="square" lIns="0" tIns="0" rIns="0" bIns="0" rtlCol="0" anchor="ctr" anchorCtr="0">
            <a:noAutofit/>
          </a:bodyPr>
          <a:lstStyle/>
          <a:p>
            <a:pPr marL="0" indent="0" algn="l">
              <a:spcBef>
                <a:spcPts val="0"/>
              </a:spcBef>
              <a:spcAft>
                <a:spcPts val="0"/>
              </a:spcAft>
              <a:buNone/>
            </a:pPr>
            <a:r>
              <a:rPr lang="en-GB" sz="1400">
                <a:solidFill>
                  <a:srgbClr val="4A4A4C"/>
                </a:solidFill>
                <a:latin typeface="Aptos"/>
                <a:cs typeface="Aptos"/>
              </a:rPr>
              <a:t>The options we assessed and how they compare</a:t>
            </a:r>
            <a:endParaRPr lang="en-GB" sz="1400">
              <a:solidFill>
                <a:srgbClr val="4A4A4C"/>
              </a:solidFill>
              <a:latin typeface="Aptos"/>
              <a:cs typeface="Aptos"/>
            </a:endParaRPr>
          </a:p>
        </p:txBody>
      </p:sp>
      <p:cxnSp>
        <p:nvCxnSpPr>
          <p:cNvPr id="15" name="Agenda rule 3"/>
          <p:cNvCxnSpPr/>
          <p:nvPr/>
        </p:nvCxnSpPr>
        <p:spPr>
          <a:xfrm>
            <a:off x="508000" y="4114800"/>
            <a:ext cx="11176000" cy="0"/>
          </a:xfrm>
          <a:prstGeom prst="line">
            <a:avLst/>
          </a:prstGeom>
          <a:ln w="9525">
            <a:solidFill>
              <a:srgbClr val="E8E9E6"/>
            </a:solidFill>
          </a:ln>
        </p:spPr>
      </p:cxnSp>
      <p:sp>
        <p:nvSpPr>
          <p:cNvPr id="16" name="Agenda number 4"/>
          <p:cNvSpPr txBox="1"/>
          <p:nvPr/>
        </p:nvSpPr>
        <p:spPr>
          <a:xfrm>
            <a:off x="508000" y="4114800"/>
            <a:ext cx="745067" cy="914400"/>
          </a:xfrm>
          <a:prstGeom prst="rect">
            <a:avLst/>
          </a:prstGeom>
          <a:noFill/>
          <a:ln>
            <a:noFill/>
          </a:ln>
        </p:spPr>
        <p:txBody>
          <a:bodyPr wrap="square" lIns="0" tIns="0" rIns="0" bIns="0" rtlCol="0" anchor="ctr" anchorCtr="0">
            <a:noAutofit/>
          </a:bodyPr>
          <a:lstStyle/>
          <a:p>
            <a:pPr marL="0" indent="0" algn="l">
              <a:spcBef>
                <a:spcPts val="0"/>
              </a:spcBef>
              <a:spcAft>
                <a:spcPts val="0"/>
              </a:spcAft>
              <a:buNone/>
            </a:pPr>
            <a:r>
              <a:rPr lang="en-GB" sz="2400" b="1">
                <a:solidFill>
                  <a:srgbClr val="328840"/>
                </a:solidFill>
                <a:latin typeface="Aptos"/>
                <a:cs typeface="Aptos"/>
              </a:rPr>
              <a:t>04</a:t>
            </a:r>
            <a:endParaRPr lang="en-GB" sz="2400">
              <a:solidFill>
                <a:srgbClr val="328840"/>
              </a:solidFill>
              <a:latin typeface="Aptos"/>
              <a:cs typeface="Aptos"/>
            </a:endParaRPr>
          </a:p>
        </p:txBody>
      </p:sp>
      <p:sp>
        <p:nvSpPr>
          <p:cNvPr id="17" name="Agenda item 4"/>
          <p:cNvSpPr txBox="1"/>
          <p:nvPr/>
        </p:nvSpPr>
        <p:spPr>
          <a:xfrm>
            <a:off x="1456267" y="4114800"/>
            <a:ext cx="4538133" cy="914400"/>
          </a:xfrm>
          <a:prstGeom prst="rect">
            <a:avLst/>
          </a:prstGeom>
          <a:noFill/>
          <a:ln>
            <a:noFill/>
          </a:ln>
        </p:spPr>
        <p:txBody>
          <a:bodyPr wrap="square" lIns="0" tIns="0" rIns="0" bIns="0" rtlCol="0" anchor="ctr" anchorCtr="0">
            <a:noAutofit/>
          </a:bodyPr>
          <a:lstStyle/>
          <a:p>
            <a:pPr marL="0" indent="0" algn="l">
              <a:spcBef>
                <a:spcPts val="0"/>
              </a:spcBef>
              <a:spcAft>
                <a:spcPts val="0"/>
              </a:spcAft>
              <a:buNone/>
            </a:pPr>
            <a:r>
              <a:rPr lang="en-GB" sz="1800" b="1">
                <a:solidFill>
                  <a:srgbClr val="022338"/>
                </a:solidFill>
                <a:latin typeface="Candara"/>
                <a:cs typeface="Candara"/>
              </a:rPr>
              <a:t>Recommendations</a:t>
            </a:r>
            <a:endParaRPr lang="en-GB" sz="1800">
              <a:solidFill>
                <a:srgbClr val="022338"/>
              </a:solidFill>
              <a:latin typeface="Candara"/>
              <a:cs typeface="Candara"/>
            </a:endParaRPr>
          </a:p>
        </p:txBody>
      </p:sp>
      <p:sp>
        <p:nvSpPr>
          <p:cNvPr id="18" name="Agenda description 4"/>
          <p:cNvSpPr txBox="1"/>
          <p:nvPr/>
        </p:nvSpPr>
        <p:spPr>
          <a:xfrm>
            <a:off x="6197600" y="4114800"/>
            <a:ext cx="5486400" cy="914400"/>
          </a:xfrm>
          <a:prstGeom prst="rect">
            <a:avLst/>
          </a:prstGeom>
          <a:noFill/>
          <a:ln>
            <a:noFill/>
          </a:ln>
        </p:spPr>
        <p:txBody>
          <a:bodyPr wrap="square" lIns="0" tIns="0" rIns="0" bIns="0" rtlCol="0" anchor="ctr" anchorCtr="0">
            <a:noAutofit/>
          </a:bodyPr>
          <a:lstStyle/>
          <a:p>
            <a:pPr marL="0" indent="0" algn="l">
              <a:spcBef>
                <a:spcPts val="0"/>
              </a:spcBef>
              <a:spcAft>
                <a:spcPts val="0"/>
              </a:spcAft>
              <a:buNone/>
            </a:pPr>
            <a:r>
              <a:rPr lang="en-GB" sz="1400">
                <a:solidFill>
                  <a:srgbClr val="4A4A4C"/>
                </a:solidFill>
                <a:latin typeface="Aptos"/>
                <a:cs typeface="Aptos"/>
              </a:rPr>
              <a:t>What we recommend, why, and what it will take</a:t>
            </a:r>
            <a:endParaRPr lang="en-GB" sz="1400">
              <a:solidFill>
                <a:srgbClr val="4A4A4C"/>
              </a:solidFill>
              <a:latin typeface="Aptos"/>
              <a:cs typeface="Aptos"/>
            </a:endParaRPr>
          </a:p>
        </p:txBody>
      </p:sp>
      <p:cxnSp>
        <p:nvCxnSpPr>
          <p:cNvPr id="19" name="Agenda rule 4"/>
          <p:cNvCxnSpPr/>
          <p:nvPr/>
        </p:nvCxnSpPr>
        <p:spPr>
          <a:xfrm>
            <a:off x="508000" y="5029200"/>
            <a:ext cx="11176000" cy="0"/>
          </a:xfrm>
          <a:prstGeom prst="line">
            <a:avLst/>
          </a:prstGeom>
          <a:ln w="9525">
            <a:solidFill>
              <a:srgbClr val="E8E9E6"/>
            </a:solidFill>
          </a:ln>
        </p:spPr>
      </p:cxnSp>
      <p:sp>
        <p:nvSpPr>
          <p:cNvPr id="20" name="Agenda number 5"/>
          <p:cNvSpPr txBox="1"/>
          <p:nvPr/>
        </p:nvSpPr>
        <p:spPr>
          <a:xfrm>
            <a:off x="508000" y="5029200"/>
            <a:ext cx="745067" cy="914400"/>
          </a:xfrm>
          <a:prstGeom prst="rect">
            <a:avLst/>
          </a:prstGeom>
          <a:noFill/>
          <a:ln>
            <a:noFill/>
          </a:ln>
        </p:spPr>
        <p:txBody>
          <a:bodyPr wrap="square" lIns="0" tIns="0" rIns="0" bIns="0" rtlCol="0" anchor="ctr" anchorCtr="0">
            <a:noAutofit/>
          </a:bodyPr>
          <a:lstStyle/>
          <a:p>
            <a:pPr marL="0" indent="0" algn="l">
              <a:spcBef>
                <a:spcPts val="0"/>
              </a:spcBef>
              <a:spcAft>
                <a:spcPts val="0"/>
              </a:spcAft>
              <a:buNone/>
            </a:pPr>
            <a:r>
              <a:rPr lang="en-GB" sz="2400" b="1">
                <a:solidFill>
                  <a:srgbClr val="328840"/>
                </a:solidFill>
                <a:latin typeface="Aptos"/>
                <a:cs typeface="Aptos"/>
              </a:rPr>
              <a:t>05</a:t>
            </a:r>
            <a:endParaRPr lang="en-GB" sz="2400">
              <a:solidFill>
                <a:srgbClr val="328840"/>
              </a:solidFill>
              <a:latin typeface="Aptos"/>
              <a:cs typeface="Aptos"/>
            </a:endParaRPr>
          </a:p>
        </p:txBody>
      </p:sp>
      <p:sp>
        <p:nvSpPr>
          <p:cNvPr id="21" name="Agenda item 5"/>
          <p:cNvSpPr txBox="1"/>
          <p:nvPr/>
        </p:nvSpPr>
        <p:spPr>
          <a:xfrm>
            <a:off x="1456267" y="5029200"/>
            <a:ext cx="4538133" cy="914400"/>
          </a:xfrm>
          <a:prstGeom prst="rect">
            <a:avLst/>
          </a:prstGeom>
          <a:noFill/>
          <a:ln>
            <a:noFill/>
          </a:ln>
        </p:spPr>
        <p:txBody>
          <a:bodyPr wrap="square" lIns="0" tIns="0" rIns="0" bIns="0" rtlCol="0" anchor="ctr" anchorCtr="0">
            <a:noAutofit/>
          </a:bodyPr>
          <a:lstStyle/>
          <a:p>
            <a:pPr marL="0" indent="0" algn="l">
              <a:spcBef>
                <a:spcPts val="0"/>
              </a:spcBef>
              <a:spcAft>
                <a:spcPts val="0"/>
              </a:spcAft>
              <a:buNone/>
            </a:pPr>
            <a:r>
              <a:rPr lang="en-GB" sz="1800" b="1">
                <a:solidFill>
                  <a:srgbClr val="022338"/>
                </a:solidFill>
                <a:latin typeface="Candara"/>
                <a:cs typeface="Candara"/>
              </a:rPr>
              <a:t>Next steps</a:t>
            </a:r>
            <a:endParaRPr lang="en-GB" sz="1800">
              <a:solidFill>
                <a:srgbClr val="022338"/>
              </a:solidFill>
              <a:latin typeface="Candara"/>
              <a:cs typeface="Candara"/>
            </a:endParaRPr>
          </a:p>
        </p:txBody>
      </p:sp>
      <p:sp>
        <p:nvSpPr>
          <p:cNvPr id="22" name="Agenda description 5"/>
          <p:cNvSpPr txBox="1"/>
          <p:nvPr/>
        </p:nvSpPr>
        <p:spPr>
          <a:xfrm>
            <a:off x="6197600" y="5029200"/>
            <a:ext cx="5486400" cy="914400"/>
          </a:xfrm>
          <a:prstGeom prst="rect">
            <a:avLst/>
          </a:prstGeom>
          <a:noFill/>
          <a:ln>
            <a:noFill/>
          </a:ln>
        </p:spPr>
        <p:txBody>
          <a:bodyPr wrap="square" lIns="0" tIns="0" rIns="0" bIns="0" rtlCol="0" anchor="ctr" anchorCtr="0">
            <a:noAutofit/>
          </a:bodyPr>
          <a:lstStyle/>
          <a:p>
            <a:pPr marL="0" indent="0" algn="l">
              <a:spcBef>
                <a:spcPts val="0"/>
              </a:spcBef>
              <a:spcAft>
                <a:spcPts val="0"/>
              </a:spcAft>
              <a:buNone/>
            </a:pPr>
            <a:r>
              <a:rPr lang="en-GB" sz="1400">
                <a:solidFill>
                  <a:srgbClr val="4A4A4C"/>
                </a:solidFill>
                <a:latin typeface="Aptos"/>
                <a:cs typeface="Aptos"/>
              </a:rPr>
              <a:t>Who does what by when, and the decisions we need today</a:t>
            </a:r>
            <a:endParaRPr lang="en-GB" sz="1400">
              <a:solidFill>
                <a:srgbClr val="4A4A4C"/>
              </a:solidFill>
              <a:latin typeface="Aptos"/>
              <a:cs typeface="Aptos"/>
            </a:endParaRPr>
          </a:p>
        </p:txBody>
      </p:sp>
      <p:cxnSp>
        <p:nvCxnSpPr>
          <p:cNvPr id="23" name="Agenda rule 5"/>
          <p:cNvCxnSpPr/>
          <p:nvPr/>
        </p:nvCxnSpPr>
        <p:spPr>
          <a:xfrm>
            <a:off x="508000" y="5943600"/>
            <a:ext cx="11176000" cy="0"/>
          </a:xfrm>
          <a:prstGeom prst="line">
            <a:avLst/>
          </a:prstGeom>
          <a:ln w="9525">
            <a:solidFill>
              <a:srgbClr val="E8E9E6"/>
            </a:solidFill>
          </a:ln>
        </p:spPr>
      </p:cxnSp>
      <p:sp>
        <p:nvSpPr>
          <p:cNvPr id="24" name="Slide number"/>
          <p:cNvSpPr>
            <a:spLocks noGrp="1"/>
          </p:cNvSpPr>
          <p:nvPr>
            <p:ph type="sldNum" sz="quarter" idx="12"/>
          </p:nvPr>
        </p:nvSpPr>
        <p:spPr/>
        <p:txBody>
          <a:bodyPr/>
          <a:lstStyle/>
          <a:p>
            <a:fld id="{B6F15528-21DE-4FAA-801E-634DDDAF4B2B}" type="slidenum">
              <a:rPr lang="en-GB"/>
              <a:t>2</a:t>
            </a:fld>
            <a:endParaRPr lang="en-GB"/>
          </a:p>
        </p:txBody>
      </p:sp>
    </p:spTree>
    <p:extLst>
      <p:ext uri="{BB962C8B-B14F-4D97-AF65-F5344CB8AC3E}">
        <p14:creationId xmlns:p14="http://schemas.microsoft.com/office/powerpoint/2010/main" val="136333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 number"/>
          <p:cNvSpPr>
            <a:spLocks noGrp="1"/>
          </p:cNvSpPr>
          <p:nvPr>
            <p:ph type="body" sz="quarter" idx="13"/>
          </p:nvPr>
        </p:nvSpPr>
        <p:spPr/>
        <p:txBody>
          <a:bodyPr/>
          <a:lstStyle/>
          <a:p>
            <a:r>
              <a:rPr lang="en-GB"/>
              <a:t>01</a:t>
            </a:r>
            <a:endParaRPr lang="en-GB"/>
          </a:p>
        </p:txBody>
      </p:sp>
      <p:sp>
        <p:nvSpPr>
          <p:cNvPr id="3" name="Title"/>
          <p:cNvSpPr>
            <a:spLocks noGrp="1"/>
          </p:cNvSpPr>
          <p:nvPr>
            <p:ph type="title"/>
          </p:nvPr>
        </p:nvSpPr>
        <p:spPr/>
        <p:txBody>
          <a:bodyPr/>
          <a:lstStyle/>
          <a:p>
            <a:r>
              <a:rPr lang="en-GB"/>
              <a:t>Section title in sentence case, as it appears on the agenda</a:t>
            </a:r>
            <a:endParaRPr lang="en-GB"/>
          </a:p>
        </p:txBody>
      </p:sp>
      <p:sp>
        <p:nvSpPr>
          <p:cNvPr id="4" name="Description"/>
          <p:cNvSpPr>
            <a:spLocks noGrp="1"/>
          </p:cNvSpPr>
          <p:nvPr>
            <p:ph type="body" sz="quarter" idx="14"/>
          </p:nvPr>
        </p:nvSpPr>
        <p:spPr/>
        <p:txBody>
          <a:bodyPr/>
          <a:lstStyle/>
          <a:p>
            <a:r>
              <a:rPr lang="en-GB"/>
              <a:t>One sentence on what this section shows and why it matters to the reader</a:t>
            </a:r>
            <a:endParaRPr lang="en-GB"/>
          </a:p>
        </p:txBody>
      </p:sp>
    </p:spTree>
    <p:extLst>
      <p:ext uri="{BB962C8B-B14F-4D97-AF65-F5344CB8AC3E}">
        <p14:creationId xmlns:p14="http://schemas.microsoft.com/office/powerpoint/2010/main" val="414069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Executive summary</a:t>
            </a:r>
            <a:endParaRPr lang="en-GB"/>
          </a:p>
        </p:txBody>
      </p:sp>
      <p:sp>
        <p:nvSpPr>
          <p:cNvPr id="3" name="Message marker 1"/>
          <p:cNvSpPr/>
          <p:nvPr/>
        </p:nvSpPr>
        <p:spPr>
          <a:xfrm>
            <a:off x="508000" y="1371600"/>
            <a:ext cx="406400" cy="406400"/>
          </a:xfrm>
          <a:prstGeom prst="rect">
            <a:avLst/>
          </a:prstGeom>
          <a:solidFill>
            <a:srgbClr val="328840"/>
          </a:solidFill>
          <a:ln>
            <a:noFill/>
          </a:ln>
        </p:spPr>
        <p:txBody>
          <a:bodyPr wrap="square" lIns="0" tIns="0" rIns="0" bIns="0" rtlCol="0" anchor="ctr" anchorCtr="0">
            <a:noAutofit/>
          </a:bodyPr>
          <a:lstStyle/>
          <a:p>
            <a:pPr marL="0" indent="0" algn="ctr">
              <a:spcBef>
                <a:spcPts val="0"/>
              </a:spcBef>
              <a:spcAft>
                <a:spcPts val="0"/>
              </a:spcAft>
              <a:buNone/>
            </a:pPr>
            <a:r>
              <a:rPr lang="en-GB" sz="1600" b="1">
                <a:solidFill>
                  <a:srgbClr val="FFFFFF"/>
                </a:solidFill>
                <a:latin typeface="Aptos"/>
                <a:cs typeface="Aptos"/>
              </a:rPr>
              <a:t>1</a:t>
            </a:r>
            <a:endParaRPr lang="en-GB" sz="1600">
              <a:solidFill>
                <a:srgbClr val="FFFFFF"/>
              </a:solidFill>
              <a:latin typeface="Aptos"/>
              <a:cs typeface="Aptos"/>
            </a:endParaRPr>
          </a:p>
        </p:txBody>
      </p:sp>
      <p:sp>
        <p:nvSpPr>
          <p:cNvPr id="4" name="Message 1"/>
          <p:cNvSpPr txBox="1"/>
          <p:nvPr/>
        </p:nvSpPr>
        <p:spPr>
          <a:xfrm>
            <a:off x="1456267" y="1371600"/>
            <a:ext cx="4538133" cy="1388533"/>
          </a:xfrm>
          <a:prstGeom prst="rect">
            <a:avLst/>
          </a:prstGeom>
          <a:noFill/>
          <a:ln>
            <a:noFill/>
          </a:ln>
        </p:spPr>
        <p:txBody>
          <a:bodyPr wrap="square" lIns="0" tIns="0" rIns="0" bIns="0" rtlCol="0" anchor="t" anchorCtr="0">
            <a:noAutofit/>
          </a:bodyPr>
          <a:lstStyle/>
          <a:p>
            <a:pPr marL="0" indent="0" algn="l">
              <a:lnSpc>
                <a:spcPct val="95000"/>
              </a:lnSpc>
              <a:spcBef>
                <a:spcPts val="0"/>
              </a:spcBef>
              <a:spcAft>
                <a:spcPts val="0"/>
              </a:spcAft>
              <a:buNone/>
            </a:pPr>
            <a:r>
              <a:rPr lang="en-GB" sz="1800" b="1">
                <a:solidFill>
                  <a:srgbClr val="022338"/>
                </a:solidFill>
                <a:latin typeface="Candara"/>
                <a:cs typeface="Candara"/>
              </a:rPr>
              <a:t>State the answer to the client’s question in one sentence</a:t>
            </a:r>
            <a:endParaRPr lang="en-GB" sz="1800">
              <a:solidFill>
                <a:srgbClr val="022338"/>
              </a:solidFill>
              <a:latin typeface="Candara"/>
              <a:cs typeface="Candara"/>
            </a:endParaRPr>
          </a:p>
        </p:txBody>
      </p:sp>
      <p:sp>
        <p:nvSpPr>
          <p:cNvPr id="5" name="Message detail 1"/>
          <p:cNvSpPr txBox="1"/>
          <p:nvPr/>
        </p:nvSpPr>
        <p:spPr>
          <a:xfrm>
            <a:off x="6197600" y="1397000"/>
            <a:ext cx="5486400" cy="1388533"/>
          </a:xfrm>
          <a:prstGeom prst="rect">
            <a:avLst/>
          </a:prstGeom>
          <a:noFill/>
          <a:ln>
            <a:noFill/>
          </a:ln>
        </p:spPr>
        <p:txBody>
          <a:bodyPr wrap="square" lIns="0" tIns="0" rIns="0" bIns="0" rtlCol="0" anchor="t" anchorCtr="0">
            <a:noAutofit/>
          </a:bodyPr>
          <a:lstStyle/>
          <a:p>
            <a:pPr marL="203200" indent="-203200" algn="l">
              <a:spcBef>
                <a:spcPts val="0"/>
              </a:spcBef>
              <a:spcAft>
                <a:spcPts val="600"/>
              </a:spcAft>
              <a:buClr>
                <a:srgbClr val="328840"/>
              </a:buClr>
              <a:buSzPct val="80000"/>
              <a:buFont typeface="Arial" panose="020B0604020202020204" pitchFamily="34" charset="0"/>
              <a:buChar char="■"/>
            </a:pPr>
            <a:r>
              <a:rPr lang="en-GB" sz="1400">
                <a:solidFill>
                  <a:srgbClr val="000000"/>
                </a:solidFill>
                <a:latin typeface="Aptos"/>
                <a:cs typeface="Aptos"/>
              </a:rPr>
              <a:t>Put the conclusion first: a reader who stops here should still know what we recommend</a:t>
            </a:r>
            <a:endParaRPr lang="en-GB" sz="1400">
              <a:solidFill>
                <a:srgbClr val="000000"/>
              </a:solidFill>
              <a:latin typeface="Aptos"/>
              <a:cs typeface="Aptos"/>
            </a:endParaRPr>
          </a:p>
          <a:p>
            <a:pPr marL="203200" indent="-203200" algn="l">
              <a:spcBef>
                <a:spcPts val="0"/>
              </a:spcBef>
              <a:spcAft>
                <a:spcPts val="600"/>
              </a:spcAft>
              <a:buClr>
                <a:srgbClr val="328840"/>
              </a:buClr>
              <a:buSzPct val="80000"/>
              <a:buFont typeface="Arial" panose="020B0604020202020204" pitchFamily="34" charset="0"/>
              <a:buChar char="■"/>
            </a:pPr>
            <a:r>
              <a:rPr lang="en-GB" sz="1400">
                <a:solidFill>
                  <a:srgbClr val="000000"/>
                </a:solidFill>
                <a:latin typeface="Aptos"/>
                <a:cs typeface="Aptos"/>
              </a:rPr>
              <a:t>Use the client’s own words for the question</a:t>
            </a:r>
            <a:endParaRPr lang="en-GB" sz="1400">
              <a:solidFill>
                <a:srgbClr val="000000"/>
              </a:solidFill>
              <a:latin typeface="Aptos"/>
              <a:cs typeface="Aptos"/>
            </a:endParaRPr>
          </a:p>
        </p:txBody>
      </p:sp>
      <p:cxnSp>
        <p:nvCxnSpPr>
          <p:cNvPr id="6" name="Message rule 1"/>
          <p:cNvCxnSpPr/>
          <p:nvPr/>
        </p:nvCxnSpPr>
        <p:spPr>
          <a:xfrm>
            <a:off x="508000" y="2861733"/>
            <a:ext cx="11176000" cy="0"/>
          </a:xfrm>
          <a:prstGeom prst="line">
            <a:avLst/>
          </a:prstGeom>
          <a:ln w="9525">
            <a:solidFill>
              <a:srgbClr val="E8E9E6"/>
            </a:solidFill>
          </a:ln>
        </p:spPr>
      </p:cxnSp>
      <p:sp>
        <p:nvSpPr>
          <p:cNvPr id="7" name="Message marker 2"/>
          <p:cNvSpPr/>
          <p:nvPr/>
        </p:nvSpPr>
        <p:spPr>
          <a:xfrm>
            <a:off x="508000" y="2963333"/>
            <a:ext cx="406400" cy="406400"/>
          </a:xfrm>
          <a:prstGeom prst="rect">
            <a:avLst/>
          </a:prstGeom>
          <a:solidFill>
            <a:srgbClr val="328840"/>
          </a:solidFill>
          <a:ln>
            <a:noFill/>
          </a:ln>
        </p:spPr>
        <p:txBody>
          <a:bodyPr wrap="square" lIns="0" tIns="0" rIns="0" bIns="0" rtlCol="0" anchor="ctr" anchorCtr="0">
            <a:noAutofit/>
          </a:bodyPr>
          <a:lstStyle/>
          <a:p>
            <a:pPr marL="0" indent="0" algn="ctr">
              <a:spcBef>
                <a:spcPts val="0"/>
              </a:spcBef>
              <a:spcAft>
                <a:spcPts val="0"/>
              </a:spcAft>
              <a:buNone/>
            </a:pPr>
            <a:r>
              <a:rPr lang="en-GB" sz="1600" b="1">
                <a:solidFill>
                  <a:srgbClr val="FFFFFF"/>
                </a:solidFill>
                <a:latin typeface="Aptos"/>
                <a:cs typeface="Aptos"/>
              </a:rPr>
              <a:t>2</a:t>
            </a:r>
            <a:endParaRPr lang="en-GB" sz="1600">
              <a:solidFill>
                <a:srgbClr val="FFFFFF"/>
              </a:solidFill>
              <a:latin typeface="Aptos"/>
              <a:cs typeface="Aptos"/>
            </a:endParaRPr>
          </a:p>
        </p:txBody>
      </p:sp>
      <p:sp>
        <p:nvSpPr>
          <p:cNvPr id="8" name="Message 2"/>
          <p:cNvSpPr txBox="1"/>
          <p:nvPr/>
        </p:nvSpPr>
        <p:spPr>
          <a:xfrm>
            <a:off x="1456267" y="2963333"/>
            <a:ext cx="4538133" cy="1388533"/>
          </a:xfrm>
          <a:prstGeom prst="rect">
            <a:avLst/>
          </a:prstGeom>
          <a:noFill/>
          <a:ln>
            <a:noFill/>
          </a:ln>
        </p:spPr>
        <p:txBody>
          <a:bodyPr wrap="square" lIns="0" tIns="0" rIns="0" bIns="0" rtlCol="0" anchor="t" anchorCtr="0">
            <a:noAutofit/>
          </a:bodyPr>
          <a:lstStyle/>
          <a:p>
            <a:pPr marL="0" indent="0" algn="l">
              <a:lnSpc>
                <a:spcPct val="95000"/>
              </a:lnSpc>
              <a:spcBef>
                <a:spcPts val="0"/>
              </a:spcBef>
              <a:spcAft>
                <a:spcPts val="0"/>
              </a:spcAft>
              <a:buNone/>
            </a:pPr>
            <a:r>
              <a:rPr lang="en-GB" sz="1800" b="1">
                <a:solidFill>
                  <a:srgbClr val="022338"/>
                </a:solidFill>
                <a:latin typeface="Candara"/>
                <a:cs typeface="Candara"/>
              </a:rPr>
              <a:t>Give the finding that matters most, with its evidence</a:t>
            </a:r>
            <a:endParaRPr lang="en-GB" sz="1800">
              <a:solidFill>
                <a:srgbClr val="022338"/>
              </a:solidFill>
              <a:latin typeface="Candara"/>
              <a:cs typeface="Candara"/>
            </a:endParaRPr>
          </a:p>
        </p:txBody>
      </p:sp>
      <p:sp>
        <p:nvSpPr>
          <p:cNvPr id="9" name="Message detail 2"/>
          <p:cNvSpPr txBox="1"/>
          <p:nvPr/>
        </p:nvSpPr>
        <p:spPr>
          <a:xfrm>
            <a:off x="6197600" y="2988733"/>
            <a:ext cx="5486400" cy="1388533"/>
          </a:xfrm>
          <a:prstGeom prst="rect">
            <a:avLst/>
          </a:prstGeom>
          <a:noFill/>
          <a:ln>
            <a:noFill/>
          </a:ln>
        </p:spPr>
        <p:txBody>
          <a:bodyPr wrap="square" lIns="0" tIns="0" rIns="0" bIns="0" rtlCol="0" anchor="t" anchorCtr="0">
            <a:noAutofit/>
          </a:bodyPr>
          <a:lstStyle/>
          <a:p>
            <a:pPr marL="203200" indent="-203200" algn="l">
              <a:spcBef>
                <a:spcPts val="0"/>
              </a:spcBef>
              <a:spcAft>
                <a:spcPts val="600"/>
              </a:spcAft>
              <a:buClr>
                <a:srgbClr val="328840"/>
              </a:buClr>
              <a:buSzPct val="80000"/>
              <a:buFont typeface="Arial" panose="020B0604020202020204" pitchFamily="34" charset="0"/>
              <a:buChar char="■"/>
            </a:pPr>
            <a:r>
              <a:rPr lang="en-GB" sz="1400">
                <a:solidFill>
                  <a:srgbClr val="000000"/>
                </a:solidFill>
                <a:latin typeface="Aptos"/>
                <a:cs typeface="Aptos"/>
              </a:rPr>
              <a:t>Back it with one or two facts: a figure, a comparison or a trend</a:t>
            </a:r>
            <a:endParaRPr lang="en-GB" sz="1400">
              <a:solidFill>
                <a:srgbClr val="000000"/>
              </a:solidFill>
              <a:latin typeface="Aptos"/>
              <a:cs typeface="Aptos"/>
            </a:endParaRPr>
          </a:p>
          <a:p>
            <a:pPr marL="203200" indent="-203200" algn="l">
              <a:spcBef>
                <a:spcPts val="0"/>
              </a:spcBef>
              <a:spcAft>
                <a:spcPts val="600"/>
              </a:spcAft>
              <a:buClr>
                <a:srgbClr val="328840"/>
              </a:buClr>
              <a:buSzPct val="80000"/>
              <a:buFont typeface="Arial" panose="020B0604020202020204" pitchFamily="34" charset="0"/>
              <a:buChar char="■"/>
            </a:pPr>
            <a:r>
              <a:rPr lang="en-GB" sz="1400">
                <a:solidFill>
                  <a:srgbClr val="000000"/>
                </a:solidFill>
                <a:latin typeface="Aptos"/>
                <a:cs typeface="Aptos"/>
              </a:rPr>
              <a:t>Source each fact on the slide that shows it in full</a:t>
            </a:r>
            <a:endParaRPr lang="en-GB" sz="1400">
              <a:solidFill>
                <a:srgbClr val="000000"/>
              </a:solidFill>
              <a:latin typeface="Aptos"/>
              <a:cs typeface="Aptos"/>
            </a:endParaRPr>
          </a:p>
        </p:txBody>
      </p:sp>
      <p:cxnSp>
        <p:nvCxnSpPr>
          <p:cNvPr id="10" name="Message rule 2"/>
          <p:cNvCxnSpPr/>
          <p:nvPr/>
        </p:nvCxnSpPr>
        <p:spPr>
          <a:xfrm>
            <a:off x="508000" y="4453467"/>
            <a:ext cx="11176000" cy="0"/>
          </a:xfrm>
          <a:prstGeom prst="line">
            <a:avLst/>
          </a:prstGeom>
          <a:ln w="9525">
            <a:solidFill>
              <a:srgbClr val="E8E9E6"/>
            </a:solidFill>
          </a:ln>
        </p:spPr>
      </p:cxnSp>
      <p:sp>
        <p:nvSpPr>
          <p:cNvPr id="11" name="Message marker 3"/>
          <p:cNvSpPr/>
          <p:nvPr/>
        </p:nvSpPr>
        <p:spPr>
          <a:xfrm>
            <a:off x="508000" y="4555067"/>
            <a:ext cx="406400" cy="406400"/>
          </a:xfrm>
          <a:prstGeom prst="rect">
            <a:avLst/>
          </a:prstGeom>
          <a:solidFill>
            <a:srgbClr val="328840"/>
          </a:solidFill>
          <a:ln>
            <a:noFill/>
          </a:ln>
        </p:spPr>
        <p:txBody>
          <a:bodyPr wrap="square" lIns="0" tIns="0" rIns="0" bIns="0" rtlCol="0" anchor="ctr" anchorCtr="0">
            <a:noAutofit/>
          </a:bodyPr>
          <a:lstStyle/>
          <a:p>
            <a:pPr marL="0" indent="0" algn="ctr">
              <a:spcBef>
                <a:spcPts val="0"/>
              </a:spcBef>
              <a:spcAft>
                <a:spcPts val="0"/>
              </a:spcAft>
              <a:buNone/>
            </a:pPr>
            <a:r>
              <a:rPr lang="en-GB" sz="1600" b="1">
                <a:solidFill>
                  <a:srgbClr val="FFFFFF"/>
                </a:solidFill>
                <a:latin typeface="Aptos"/>
                <a:cs typeface="Aptos"/>
              </a:rPr>
              <a:t>3</a:t>
            </a:r>
            <a:endParaRPr lang="en-GB" sz="1600">
              <a:solidFill>
                <a:srgbClr val="FFFFFF"/>
              </a:solidFill>
              <a:latin typeface="Aptos"/>
              <a:cs typeface="Aptos"/>
            </a:endParaRPr>
          </a:p>
        </p:txBody>
      </p:sp>
      <p:sp>
        <p:nvSpPr>
          <p:cNvPr id="12" name="Message 3"/>
          <p:cNvSpPr txBox="1"/>
          <p:nvPr/>
        </p:nvSpPr>
        <p:spPr>
          <a:xfrm>
            <a:off x="1456267" y="4555067"/>
            <a:ext cx="4538133" cy="1388533"/>
          </a:xfrm>
          <a:prstGeom prst="rect">
            <a:avLst/>
          </a:prstGeom>
          <a:noFill/>
          <a:ln>
            <a:noFill/>
          </a:ln>
        </p:spPr>
        <p:txBody>
          <a:bodyPr wrap="square" lIns="0" tIns="0" rIns="0" bIns="0" rtlCol="0" anchor="t" anchorCtr="0">
            <a:noAutofit/>
          </a:bodyPr>
          <a:lstStyle/>
          <a:p>
            <a:pPr marL="0" indent="0" algn="l">
              <a:lnSpc>
                <a:spcPct val="95000"/>
              </a:lnSpc>
              <a:spcBef>
                <a:spcPts val="0"/>
              </a:spcBef>
              <a:spcAft>
                <a:spcPts val="0"/>
              </a:spcAft>
              <a:buNone/>
            </a:pPr>
            <a:r>
              <a:rPr lang="en-GB" sz="1800" b="1">
                <a:solidFill>
                  <a:srgbClr val="022338"/>
                </a:solidFill>
                <a:latin typeface="Candara"/>
                <a:cs typeface="Candara"/>
              </a:rPr>
              <a:t>Close with what the client should do next</a:t>
            </a:r>
            <a:endParaRPr lang="en-GB" sz="1800">
              <a:solidFill>
                <a:srgbClr val="022338"/>
              </a:solidFill>
              <a:latin typeface="Candara"/>
              <a:cs typeface="Candara"/>
            </a:endParaRPr>
          </a:p>
        </p:txBody>
      </p:sp>
      <p:sp>
        <p:nvSpPr>
          <p:cNvPr id="13" name="Message detail 3"/>
          <p:cNvSpPr txBox="1"/>
          <p:nvPr/>
        </p:nvSpPr>
        <p:spPr>
          <a:xfrm>
            <a:off x="6197600" y="4580467"/>
            <a:ext cx="5486400" cy="1388533"/>
          </a:xfrm>
          <a:prstGeom prst="rect">
            <a:avLst/>
          </a:prstGeom>
          <a:noFill/>
          <a:ln>
            <a:noFill/>
          </a:ln>
        </p:spPr>
        <p:txBody>
          <a:bodyPr wrap="square" lIns="0" tIns="0" rIns="0" bIns="0" rtlCol="0" anchor="t" anchorCtr="0">
            <a:noAutofit/>
          </a:bodyPr>
          <a:lstStyle/>
          <a:p>
            <a:pPr marL="203200" indent="-203200" algn="l">
              <a:spcBef>
                <a:spcPts val="0"/>
              </a:spcBef>
              <a:spcAft>
                <a:spcPts val="600"/>
              </a:spcAft>
              <a:buClr>
                <a:srgbClr val="328840"/>
              </a:buClr>
              <a:buSzPct val="80000"/>
              <a:buFont typeface="Arial" panose="020B0604020202020204" pitchFamily="34" charset="0"/>
              <a:buChar char="■"/>
            </a:pPr>
            <a:r>
              <a:rPr lang="en-GB" sz="1400">
                <a:solidFill>
                  <a:srgbClr val="000000"/>
                </a:solidFill>
                <a:latin typeface="Aptos"/>
                <a:cs typeface="Aptos"/>
              </a:rPr>
              <a:t>Name the decision, the owner and the timing</a:t>
            </a:r>
            <a:endParaRPr lang="en-GB" sz="1400">
              <a:solidFill>
                <a:srgbClr val="000000"/>
              </a:solidFill>
              <a:latin typeface="Aptos"/>
              <a:cs typeface="Aptos"/>
            </a:endParaRPr>
          </a:p>
          <a:p>
            <a:pPr marL="203200" indent="-203200" algn="l">
              <a:spcBef>
                <a:spcPts val="0"/>
              </a:spcBef>
              <a:spcAft>
                <a:spcPts val="600"/>
              </a:spcAft>
              <a:buClr>
                <a:srgbClr val="328840"/>
              </a:buClr>
              <a:buSzPct val="80000"/>
              <a:buFont typeface="Arial" panose="020B0604020202020204" pitchFamily="34" charset="0"/>
              <a:buChar char="■"/>
            </a:pPr>
            <a:r>
              <a:rPr lang="en-GB" sz="1400">
                <a:solidFill>
                  <a:srgbClr val="000000"/>
                </a:solidFill>
                <a:latin typeface="Aptos"/>
                <a:cs typeface="Aptos"/>
              </a:rPr>
              <a:t>Keep each message to two lines, so the page reads in a minute</a:t>
            </a:r>
            <a:endParaRPr lang="en-GB" sz="1400">
              <a:solidFill>
                <a:srgbClr val="000000"/>
              </a:solidFill>
              <a:latin typeface="Aptos"/>
              <a:cs typeface="Aptos"/>
            </a:endParaRPr>
          </a:p>
        </p:txBody>
      </p:sp>
      <p:sp>
        <p:nvSpPr>
          <p:cNvPr id="14" name="Slide number"/>
          <p:cNvSpPr>
            <a:spLocks noGrp="1"/>
          </p:cNvSpPr>
          <p:nvPr>
            <p:ph type="sldNum" sz="quarter" idx="12"/>
          </p:nvPr>
        </p:nvSpPr>
        <p:spPr/>
        <p:txBody>
          <a:bodyPr/>
          <a:lstStyle/>
          <a:p>
            <a:fld id="{B6F15528-21DE-4FAA-801E-634DDDAF4B2B}" type="slidenum">
              <a:rPr lang="en-GB"/>
              <a:t>4</a:t>
            </a:fld>
            <a:endParaRPr lang="en-GB"/>
          </a:p>
        </p:txBody>
      </p:sp>
    </p:spTree>
    <p:extLst>
      <p:ext uri="{BB962C8B-B14F-4D97-AF65-F5344CB8AC3E}">
        <p14:creationId xmlns:p14="http://schemas.microsoft.com/office/powerpoint/2010/main" val="167807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Action title: say the so-what in one sentence, on no more than two lines</a:t>
            </a:r>
            <a:endParaRPr lang="en-GB"/>
          </a:p>
        </p:txBody>
      </p:sp>
      <p:sp>
        <p:nvSpPr>
          <p:cNvPr id="3" name="Content"/>
          <p:cNvSpPr>
            <a:spLocks noGrp="1"/>
          </p:cNvSpPr>
          <p:nvPr>
            <p:ph idx="1"/>
          </p:nvPr>
        </p:nvSpPr>
        <p:spPr>
          <a:xfrm>
            <a:off x="508000" y="1371600"/>
            <a:ext cx="7382933" cy="4572000"/>
          </a:xfrm>
        </p:spPr>
        <p:txBody>
          <a:bodyPr/>
          <a:lstStyle/>
          <a:p>
            <a:r>
              <a:rPr lang="en-GB"/>
              <a:t>Lead with the point, then give the evidence for it</a:t>
            </a:r>
            <a:endParaRPr lang="en-GB"/>
          </a:p>
          <a:p>
            <a:pPr lvl="1"/>
            <a:r>
              <a:rPr lang="en-GB"/>
              <a:t>Use the second level for supporting detail, at most three under a point</a:t>
            </a:r>
            <a:endParaRPr lang="en-GB"/>
          </a:p>
          <a:p>
            <a:r>
              <a:rPr lang="en-GB"/>
              <a:t>Keep to five or six bullets of one or two lines each</a:t>
            </a:r>
            <a:endParaRPr lang="en-GB"/>
          </a:p>
          <a:p>
            <a:r>
              <a:rPr lang="en-GB"/>
              <a:t>Write full sentences in plain English, with UK spelling and no filler</a:t>
            </a:r>
            <a:endParaRPr lang="en-GB"/>
          </a:p>
          <a:p>
            <a:pPr lvl="1"/>
            <a:r>
              <a:rPr lang="en-GB"/>
              <a:t>Spell out an abbreviation the first time it appears</a:t>
            </a:r>
            <a:endParaRPr lang="en-GB"/>
          </a:p>
          <a:p>
            <a:r>
              <a:rPr lang="en-GB"/>
              <a:t>Use figures where they make the point: GBP 5m, 38 per cent, 2025 to 2030</a:t>
            </a:r>
            <a:endParaRPr lang="en-GB"/>
          </a:p>
          <a:p>
            <a:pPr lvl="1"/>
            <a:r>
              <a:rPr lang="en-GB"/>
              <a:t>Give the source of every figure in the source line at the foot of the slide</a:t>
            </a:r>
            <a:endParaRPr lang="en-GB"/>
          </a:p>
          <a:p>
            <a:r>
              <a:rPr lang="en-GB"/>
              <a:t>Make the bullets parallel: start each with the same kind of word</a:t>
            </a:r>
            <a:endParaRPr lang="en-GB"/>
          </a:p>
          <a:p>
            <a:r>
              <a:rPr lang="en-GB"/>
              <a:t>Bold only the </a:t>
            </a:r>
            <a:r>
              <a:rPr lang="en-GB" b="1"/>
              <a:t>few words</a:t>
            </a:r>
            <a:r>
              <a:rPr lang="en-GB"/>
              <a:t> the reader must not miss</a:t>
            </a:r>
            <a:endParaRPr lang="en-GB"/>
          </a:p>
        </p:txBody>
      </p:sp>
      <p:sp>
        <p:nvSpPr>
          <p:cNvPr id="4" name="Callout"/>
          <p:cNvSpPr/>
          <p:nvPr/>
        </p:nvSpPr>
        <p:spPr>
          <a:xfrm>
            <a:off x="8094133" y="1371600"/>
            <a:ext cx="3589867" cy="1168400"/>
          </a:xfrm>
          <a:prstGeom prst="rect">
            <a:avLst/>
          </a:prstGeom>
          <a:solidFill>
            <a:srgbClr val="F7F8F5"/>
          </a:solidFill>
          <a:ln>
            <a:noFill/>
          </a:ln>
        </p:spPr>
        <p:txBody>
          <a:bodyPr wrap="square" lIns="254000" tIns="152400" rIns="203200" bIns="152400" rtlCol="0" anchor="t" anchorCtr="0">
            <a:noAutofit/>
          </a:bodyPr>
          <a:lstStyle/>
          <a:p>
            <a:pPr marL="0" indent="0" algn="l">
              <a:spcBef>
                <a:spcPts val="0"/>
              </a:spcBef>
              <a:spcAft>
                <a:spcPts val="400"/>
              </a:spcAft>
              <a:buNone/>
            </a:pPr>
            <a:r>
              <a:rPr lang="en-GB" sz="1400" b="1">
                <a:solidFill>
                  <a:srgbClr val="022338"/>
                </a:solidFill>
                <a:latin typeface="Aptos"/>
                <a:cs typeface="Aptos"/>
              </a:rPr>
              <a:t>Key takeaway</a:t>
            </a:r>
            <a:endParaRPr lang="en-GB" sz="1400">
              <a:solidFill>
                <a:srgbClr val="022338"/>
              </a:solidFill>
              <a:latin typeface="Aptos"/>
              <a:cs typeface="Aptos"/>
            </a:endParaRPr>
          </a:p>
          <a:p>
            <a:pPr marL="0" indent="0" algn="l">
              <a:spcBef>
                <a:spcPts val="0"/>
              </a:spcBef>
              <a:spcAft>
                <a:spcPts val="0"/>
              </a:spcAft>
              <a:buNone/>
            </a:pPr>
            <a:r>
              <a:rPr lang="en-GB" sz="1200">
                <a:solidFill>
                  <a:srgbClr val="000000"/>
                </a:solidFill>
                <a:latin typeface="Aptos"/>
                <a:cs typeface="Aptos"/>
              </a:rPr>
              <a:t>Use a callout for the one message the slide exists to make. Keep it to three lines.</a:t>
            </a:r>
            <a:endParaRPr lang="en-GB" sz="1200">
              <a:solidFill>
                <a:srgbClr val="000000"/>
              </a:solidFill>
              <a:latin typeface="Aptos"/>
              <a:cs typeface="Aptos"/>
            </a:endParaRPr>
          </a:p>
        </p:txBody>
      </p:sp>
      <p:sp>
        <p:nvSpPr>
          <p:cNvPr id="5" name="Callout bar"/>
          <p:cNvSpPr/>
          <p:nvPr/>
        </p:nvSpPr>
        <p:spPr>
          <a:xfrm>
            <a:off x="8094133" y="1371600"/>
            <a:ext cx="50800" cy="1168400"/>
          </a:xfrm>
          <a:prstGeom prst="rect">
            <a:avLst/>
          </a:prstGeom>
          <a:solidFill>
            <a:srgbClr val="328840"/>
          </a:solidFill>
          <a:ln>
            <a:noFill/>
          </a:ln>
        </p:spPr>
      </p:sp>
      <p:sp>
        <p:nvSpPr>
          <p:cNvPr id="6" name="Source"/>
          <p:cNvSpPr txBox="1"/>
          <p:nvPr/>
        </p:nvSpPr>
        <p:spPr>
          <a:xfrm>
            <a:off x="508000" y="6045200"/>
            <a:ext cx="8890000" cy="304800"/>
          </a:xfrm>
          <a:prstGeom prst="rect">
            <a:avLst/>
          </a:prstGeom>
          <a:noFill/>
          <a:ln>
            <a:noFill/>
          </a:ln>
        </p:spPr>
        <p:txBody>
          <a:bodyPr wrap="square" lIns="0" tIns="0" rIns="0" bIns="0" rtlCol="0" anchor="b" anchorCtr="0">
            <a:noAutofit/>
          </a:bodyPr>
          <a:lstStyle/>
          <a:p>
            <a:pPr marL="0" indent="0" algn="l">
              <a:spcBef>
                <a:spcPts val="0"/>
              </a:spcBef>
              <a:spcAft>
                <a:spcPts val="0"/>
              </a:spcAft>
              <a:buNone/>
            </a:pPr>
            <a:r>
              <a:rPr lang="en-GB" sz="800">
                <a:solidFill>
                  <a:srgbClr val="4A4A4C"/>
                </a:solidFill>
                <a:latin typeface="Aptos"/>
                <a:cs typeface="Aptos"/>
              </a:rPr>
              <a:t>Source: organisation, title of the publication (year). Notes go on the same line, in Aptos 8 pt charcoal.</a:t>
            </a:r>
            <a:endParaRPr lang="en-GB" sz="800">
              <a:solidFill>
                <a:srgbClr val="4A4A4C"/>
              </a:solidFill>
              <a:latin typeface="Aptos"/>
              <a:cs typeface="Aptos"/>
            </a:endParaRPr>
          </a:p>
        </p:txBody>
      </p:sp>
      <p:sp>
        <p:nvSpPr>
          <p:cNvPr id="7" name="Slide number"/>
          <p:cNvSpPr>
            <a:spLocks noGrp="1"/>
          </p:cNvSpPr>
          <p:nvPr>
            <p:ph type="sldNum" sz="quarter" idx="12"/>
          </p:nvPr>
        </p:nvSpPr>
        <p:spPr/>
        <p:txBody>
          <a:bodyPr/>
          <a:lstStyle/>
          <a:p>
            <a:fld id="{B6F15528-21DE-4FAA-801E-634DDDAF4B2B}" type="slidenum">
              <a:rPr lang="en-GB"/>
              <a:t>5</a:t>
            </a:fld>
            <a:endParaRPr lang="en-GB"/>
          </a:p>
        </p:txBody>
      </p:sp>
    </p:spTree>
    <p:extLst>
      <p:ext uri="{BB962C8B-B14F-4D97-AF65-F5344CB8AC3E}">
        <p14:creationId xmlns:p14="http://schemas.microsoft.com/office/powerpoint/2010/main" val="1940440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Action title: compare two options, periods or groups side by side</a:t>
            </a:r>
            <a:endParaRPr lang="en-GB"/>
          </a:p>
        </p:txBody>
      </p:sp>
      <p:sp>
        <p:nvSpPr>
          <p:cNvPr id="3" name="Column heading 1"/>
          <p:cNvSpPr txBox="1"/>
          <p:nvPr/>
        </p:nvSpPr>
        <p:spPr>
          <a:xfrm>
            <a:off x="508000" y="1371600"/>
            <a:ext cx="5486400" cy="355600"/>
          </a:xfrm>
          <a:prstGeom prst="rect">
            <a:avLst/>
          </a:prstGeom>
          <a:noFill/>
          <a:ln>
            <a:noFill/>
          </a:ln>
        </p:spPr>
        <p:txBody>
          <a:bodyPr wrap="square" lIns="0" tIns="0" rIns="0" bIns="0" rtlCol="0" anchor="b" anchorCtr="0">
            <a:noAutofit/>
          </a:bodyPr>
          <a:lstStyle/>
          <a:p>
            <a:pPr marL="0" indent="0" algn="l">
              <a:spcBef>
                <a:spcPts val="0"/>
              </a:spcBef>
              <a:spcAft>
                <a:spcPts val="0"/>
              </a:spcAft>
              <a:buNone/>
            </a:pPr>
            <a:r>
              <a:rPr lang="en-GB" sz="1800" b="1">
                <a:solidFill>
                  <a:srgbClr val="022338"/>
                </a:solidFill>
                <a:latin typeface="Candara"/>
                <a:cs typeface="Candara"/>
              </a:rPr>
              <a:t>Option A: name it in a few words</a:t>
            </a:r>
            <a:endParaRPr lang="en-GB" sz="1800">
              <a:solidFill>
                <a:srgbClr val="022338"/>
              </a:solidFill>
              <a:latin typeface="Candara"/>
              <a:cs typeface="Candara"/>
            </a:endParaRPr>
          </a:p>
        </p:txBody>
      </p:sp>
      <p:cxnSp>
        <p:nvCxnSpPr>
          <p:cNvPr id="4" name="Column rule 1"/>
          <p:cNvCxnSpPr/>
          <p:nvPr/>
        </p:nvCxnSpPr>
        <p:spPr>
          <a:xfrm>
            <a:off x="508000" y="1854200"/>
            <a:ext cx="5486400" cy="0"/>
          </a:xfrm>
          <a:prstGeom prst="line">
            <a:avLst/>
          </a:prstGeom>
          <a:ln w="19050">
            <a:solidFill>
              <a:srgbClr val="328840"/>
            </a:solidFill>
          </a:ln>
        </p:spPr>
      </p:cxnSp>
      <p:sp>
        <p:nvSpPr>
          <p:cNvPr id="5" name="Left content"/>
          <p:cNvSpPr>
            <a:spLocks noGrp="1"/>
          </p:cNvSpPr>
          <p:nvPr>
            <p:ph sz="half" idx="1"/>
          </p:nvPr>
        </p:nvSpPr>
        <p:spPr>
          <a:xfrm>
            <a:off x="508000" y="2082800"/>
            <a:ext cx="5486400" cy="2844800"/>
          </a:xfrm>
        </p:spPr>
        <p:txBody>
          <a:bodyPr/>
          <a:lstStyle/>
          <a:p>
            <a:r>
              <a:rPr lang="en-GB"/>
              <a:t>Say what the option involves, in one line</a:t>
            </a:r>
            <a:endParaRPr lang="en-GB"/>
          </a:p>
          <a:p>
            <a:r>
              <a:rPr lang="en-GB"/>
              <a:t>Give its main benefit, with a figure if there is one</a:t>
            </a:r>
            <a:endParaRPr lang="en-GB"/>
          </a:p>
          <a:p>
            <a:r>
              <a:rPr lang="en-GB"/>
              <a:t>Give its main risk or cost</a:t>
            </a:r>
            <a:endParaRPr lang="en-GB"/>
          </a:p>
          <a:p>
            <a:r>
              <a:rPr lang="en-GB"/>
              <a:t>Say what it would take to deliver</a:t>
            </a:r>
            <a:endParaRPr lang="en-GB"/>
          </a:p>
        </p:txBody>
      </p:sp>
      <p:sp>
        <p:nvSpPr>
          <p:cNvPr id="6" name="Column heading 2"/>
          <p:cNvSpPr txBox="1"/>
          <p:nvPr/>
        </p:nvSpPr>
        <p:spPr>
          <a:xfrm>
            <a:off x="6197600" y="1371600"/>
            <a:ext cx="5486400" cy="355600"/>
          </a:xfrm>
          <a:prstGeom prst="rect">
            <a:avLst/>
          </a:prstGeom>
          <a:noFill/>
          <a:ln>
            <a:noFill/>
          </a:ln>
        </p:spPr>
        <p:txBody>
          <a:bodyPr wrap="square" lIns="0" tIns="0" rIns="0" bIns="0" rtlCol="0" anchor="b" anchorCtr="0">
            <a:noAutofit/>
          </a:bodyPr>
          <a:lstStyle/>
          <a:p>
            <a:pPr marL="0" indent="0" algn="l">
              <a:spcBef>
                <a:spcPts val="0"/>
              </a:spcBef>
              <a:spcAft>
                <a:spcPts val="0"/>
              </a:spcAft>
              <a:buNone/>
            </a:pPr>
            <a:r>
              <a:rPr lang="en-GB" sz="1800" b="1">
                <a:solidFill>
                  <a:srgbClr val="022338"/>
                </a:solidFill>
                <a:latin typeface="Candara"/>
                <a:cs typeface="Candara"/>
              </a:rPr>
              <a:t>Option B: name it in a few words</a:t>
            </a:r>
            <a:endParaRPr lang="en-GB" sz="1800">
              <a:solidFill>
                <a:srgbClr val="022338"/>
              </a:solidFill>
              <a:latin typeface="Candara"/>
              <a:cs typeface="Candara"/>
            </a:endParaRPr>
          </a:p>
        </p:txBody>
      </p:sp>
      <p:cxnSp>
        <p:nvCxnSpPr>
          <p:cNvPr id="7" name="Column rule 2"/>
          <p:cNvCxnSpPr/>
          <p:nvPr/>
        </p:nvCxnSpPr>
        <p:spPr>
          <a:xfrm>
            <a:off x="6197600" y="1854200"/>
            <a:ext cx="5486400" cy="0"/>
          </a:xfrm>
          <a:prstGeom prst="line">
            <a:avLst/>
          </a:prstGeom>
          <a:ln w="19050">
            <a:solidFill>
              <a:srgbClr val="328840"/>
            </a:solidFill>
          </a:ln>
        </p:spPr>
      </p:cxnSp>
      <p:sp>
        <p:nvSpPr>
          <p:cNvPr id="8" name="Right content"/>
          <p:cNvSpPr>
            <a:spLocks noGrp="1"/>
          </p:cNvSpPr>
          <p:nvPr>
            <p:ph sz="half" idx="2"/>
          </p:nvPr>
        </p:nvSpPr>
        <p:spPr>
          <a:xfrm>
            <a:off x="6197600" y="2082800"/>
            <a:ext cx="5486400" cy="2844800"/>
          </a:xfrm>
        </p:spPr>
        <p:txBody>
          <a:bodyPr/>
          <a:lstStyle/>
          <a:p>
            <a:r>
              <a:rPr lang="en-GB"/>
              <a:t>Match the left column point for point, so the reader can compare across</a:t>
            </a:r>
            <a:endParaRPr lang="en-GB"/>
          </a:p>
          <a:p>
            <a:r>
              <a:rPr lang="en-GB"/>
              <a:t>Use the same units and periods in both columns</a:t>
            </a:r>
            <a:endParaRPr lang="en-GB"/>
          </a:p>
          <a:p>
            <a:r>
              <a:rPr lang="en-GB"/>
              <a:t>Keep the points parallel and about the same length</a:t>
            </a:r>
            <a:endParaRPr lang="en-GB"/>
          </a:p>
          <a:p>
            <a:r>
              <a:rPr lang="en-GB"/>
              <a:t>Leave the verdict to the box below</a:t>
            </a:r>
            <a:endParaRPr lang="en-GB"/>
          </a:p>
        </p:txBody>
      </p:sp>
      <p:sp>
        <p:nvSpPr>
          <p:cNvPr id="9" name="Callout"/>
          <p:cNvSpPr/>
          <p:nvPr/>
        </p:nvSpPr>
        <p:spPr>
          <a:xfrm>
            <a:off x="508000" y="5130800"/>
            <a:ext cx="11176000" cy="812800"/>
          </a:xfrm>
          <a:prstGeom prst="rect">
            <a:avLst/>
          </a:prstGeom>
          <a:solidFill>
            <a:srgbClr val="F7F8F5"/>
          </a:solidFill>
          <a:ln>
            <a:noFill/>
          </a:ln>
        </p:spPr>
        <p:txBody>
          <a:bodyPr wrap="square" lIns="254000" tIns="152400" rIns="203200" bIns="152400" rtlCol="0" anchor="t" anchorCtr="0">
            <a:noAutofit/>
          </a:bodyPr>
          <a:lstStyle/>
          <a:p>
            <a:pPr marL="0" indent="0" algn="l">
              <a:spcBef>
                <a:spcPts val="0"/>
              </a:spcBef>
              <a:spcAft>
                <a:spcPts val="400"/>
              </a:spcAft>
              <a:buNone/>
            </a:pPr>
            <a:r>
              <a:rPr lang="en-GB" sz="1400" b="1">
                <a:solidFill>
                  <a:srgbClr val="022338"/>
                </a:solidFill>
                <a:latin typeface="Aptos"/>
                <a:cs typeface="Aptos"/>
              </a:rPr>
              <a:t>Recommendation</a:t>
            </a:r>
            <a:endParaRPr lang="en-GB" sz="1400">
              <a:solidFill>
                <a:srgbClr val="022338"/>
              </a:solidFill>
              <a:latin typeface="Aptos"/>
              <a:cs typeface="Aptos"/>
            </a:endParaRPr>
          </a:p>
          <a:p>
            <a:pPr marL="0" indent="0" algn="l">
              <a:spcBef>
                <a:spcPts val="0"/>
              </a:spcBef>
              <a:spcAft>
                <a:spcPts val="0"/>
              </a:spcAft>
              <a:buNone/>
            </a:pPr>
            <a:r>
              <a:rPr lang="en-GB" sz="1200">
                <a:solidFill>
                  <a:srgbClr val="000000"/>
                </a:solidFill>
                <a:latin typeface="Aptos"/>
                <a:cs typeface="Aptos"/>
              </a:rPr>
              <a:t>Say which option we recommend and the one reason that decides it.</a:t>
            </a:r>
            <a:endParaRPr lang="en-GB" sz="1200">
              <a:solidFill>
                <a:srgbClr val="000000"/>
              </a:solidFill>
              <a:latin typeface="Aptos"/>
              <a:cs typeface="Aptos"/>
            </a:endParaRPr>
          </a:p>
        </p:txBody>
      </p:sp>
      <p:sp>
        <p:nvSpPr>
          <p:cNvPr id="10" name="Callout bar"/>
          <p:cNvSpPr/>
          <p:nvPr/>
        </p:nvSpPr>
        <p:spPr>
          <a:xfrm>
            <a:off x="508000" y="5130800"/>
            <a:ext cx="50800" cy="812800"/>
          </a:xfrm>
          <a:prstGeom prst="rect">
            <a:avLst/>
          </a:prstGeom>
          <a:solidFill>
            <a:srgbClr val="328840"/>
          </a:solidFill>
          <a:ln>
            <a:noFill/>
          </a:ln>
        </p:spPr>
      </p:sp>
      <p:sp>
        <p:nvSpPr>
          <p:cNvPr id="11" name="Slide number"/>
          <p:cNvSpPr>
            <a:spLocks noGrp="1"/>
          </p:cNvSpPr>
          <p:nvPr>
            <p:ph type="sldNum" sz="quarter" idx="12"/>
          </p:nvPr>
        </p:nvSpPr>
        <p:spPr/>
        <p:txBody>
          <a:bodyPr/>
          <a:lstStyle/>
          <a:p>
            <a:fld id="{B6F15528-21DE-4FAA-801E-634DDDAF4B2B}" type="slidenum">
              <a:rPr lang="en-GB"/>
              <a:t>6</a:t>
            </a:fld>
            <a:endParaRPr lang="en-GB"/>
          </a:p>
        </p:txBody>
      </p:sp>
    </p:spTree>
    <p:extLst>
      <p:ext uri="{BB962C8B-B14F-4D97-AF65-F5344CB8AC3E}">
        <p14:creationId xmlns:p14="http://schemas.microsoft.com/office/powerpoint/2010/main" val="1023045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Action title: what the numbers show, in one sentence</a:t>
            </a:r>
            <a:endParaRPr lang="en-GB"/>
          </a:p>
        </p:txBody>
      </p:sp>
      <p:sp>
        <p:nvSpPr>
          <p:cNvPr id="3" name="Introduction"/>
          <p:cNvSpPr txBox="1"/>
          <p:nvPr/>
        </p:nvSpPr>
        <p:spPr>
          <a:xfrm>
            <a:off x="508000" y="1371600"/>
            <a:ext cx="7382933" cy="5080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400">
                <a:solidFill>
                  <a:srgbClr val="000000"/>
                </a:solidFill>
                <a:latin typeface="Aptos"/>
                <a:cs typeface="Aptos"/>
              </a:rPr>
              <a:t>One or two lines that set up the figures: the scope, the period and where the data comes from.</a:t>
            </a:r>
            <a:endParaRPr lang="en-GB" sz="1400">
              <a:solidFill>
                <a:srgbClr val="000000"/>
              </a:solidFill>
              <a:latin typeface="Aptos"/>
              <a:cs typeface="Aptos"/>
            </a:endParaRPr>
          </a:p>
        </p:txBody>
      </p:sp>
      <p:sp>
        <p:nvSpPr>
          <p:cNvPr id="4" name="Navy band"/>
          <p:cNvSpPr/>
          <p:nvPr/>
        </p:nvSpPr>
        <p:spPr>
          <a:xfrm>
            <a:off x="0" y="2082800"/>
            <a:ext cx="12192000" cy="2235200"/>
          </a:xfrm>
          <a:prstGeom prst="rect">
            <a:avLst/>
          </a:prstGeom>
          <a:solidFill>
            <a:srgbClr val="022338"/>
          </a:solidFill>
          <a:ln>
            <a:noFill/>
          </a:ln>
        </p:spPr>
      </p:sp>
      <p:sp>
        <p:nvSpPr>
          <p:cNvPr id="5" name="Key figure 1"/>
          <p:cNvSpPr txBox="1"/>
          <p:nvPr/>
        </p:nvSpPr>
        <p:spPr>
          <a:xfrm>
            <a:off x="508000" y="2387600"/>
            <a:ext cx="2641600" cy="812800"/>
          </a:xfrm>
          <a:prstGeom prst="rect">
            <a:avLst/>
          </a:prstGeom>
          <a:noFill/>
          <a:ln>
            <a:noFill/>
          </a:ln>
        </p:spPr>
        <p:txBody>
          <a:bodyPr wrap="square" lIns="0" tIns="0" rIns="0" bIns="0" rtlCol="0" anchor="b" anchorCtr="0">
            <a:noAutofit/>
          </a:bodyPr>
          <a:lstStyle/>
          <a:p>
            <a:pPr marL="0" indent="0" algn="l">
              <a:lnSpc>
                <a:spcPct val="90000"/>
              </a:lnSpc>
              <a:buNone/>
            </a:pPr>
            <a:r>
              <a:rPr lang="en-GB" sz="1800" b="1">
                <a:solidFill>
                  <a:srgbClr val="BED62F"/>
                </a:solidFill>
                <a:latin typeface="Aptos"/>
                <a:cs typeface="Aptos"/>
              </a:rPr>
              <a:t>USD </a:t>
            </a:r>
            <a:r>
              <a:rPr lang="en-GB" sz="4400" b="1">
                <a:solidFill>
                  <a:srgbClr val="BED62F"/>
                </a:solidFill>
                <a:latin typeface="Aptos"/>
                <a:cs typeface="Aptos"/>
              </a:rPr>
              <a:t>250m</a:t>
            </a:r>
            <a:endParaRPr lang="en-GB" sz="4400">
              <a:solidFill>
                <a:srgbClr val="BED62F"/>
              </a:solidFill>
              <a:latin typeface="Aptos"/>
              <a:cs typeface="Aptos"/>
            </a:endParaRPr>
          </a:p>
        </p:txBody>
      </p:sp>
      <p:sp>
        <p:nvSpPr>
          <p:cNvPr id="6" name="Key figure label 1"/>
          <p:cNvSpPr txBox="1"/>
          <p:nvPr/>
        </p:nvSpPr>
        <p:spPr>
          <a:xfrm>
            <a:off x="508000" y="3352800"/>
            <a:ext cx="2641600" cy="6096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400">
                <a:solidFill>
                  <a:srgbClr val="FFFFFF"/>
                </a:solidFill>
                <a:latin typeface="Aptos"/>
                <a:cs typeface="Aptos"/>
              </a:rPr>
              <a:t>Headline figure, with its unit and year</a:t>
            </a:r>
            <a:endParaRPr lang="en-GB" sz="1400">
              <a:solidFill>
                <a:srgbClr val="FFFFFF"/>
              </a:solidFill>
              <a:latin typeface="Aptos"/>
              <a:cs typeface="Aptos"/>
            </a:endParaRPr>
          </a:p>
        </p:txBody>
      </p:sp>
      <p:sp>
        <p:nvSpPr>
          <p:cNvPr id="7" name="Key figure note 1"/>
          <p:cNvSpPr txBox="1"/>
          <p:nvPr/>
        </p:nvSpPr>
        <p:spPr>
          <a:xfrm>
            <a:off x="508000" y="4572000"/>
            <a:ext cx="2641600" cy="13716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Lead with the figure that carries the message. Only this one is lime.</a:t>
            </a:r>
            <a:endParaRPr lang="en-GB" sz="1200">
              <a:solidFill>
                <a:srgbClr val="000000"/>
              </a:solidFill>
              <a:latin typeface="Aptos"/>
              <a:cs typeface="Aptos"/>
            </a:endParaRPr>
          </a:p>
        </p:txBody>
      </p:sp>
      <p:cxnSp>
        <p:nvCxnSpPr>
          <p:cNvPr id="8" name="Key figure divider 1"/>
          <p:cNvCxnSpPr/>
          <p:nvPr/>
        </p:nvCxnSpPr>
        <p:spPr>
          <a:xfrm>
            <a:off x="3251200" y="2438400"/>
            <a:ext cx="0" cy="1524000"/>
          </a:xfrm>
          <a:prstGeom prst="line">
            <a:avLst/>
          </a:prstGeom>
          <a:ln w="6350">
            <a:solidFill>
              <a:srgbClr val="FFFFFF"/>
            </a:solidFill>
          </a:ln>
        </p:spPr>
      </p:cxnSp>
      <p:sp>
        <p:nvSpPr>
          <p:cNvPr id="9" name="Key figure 2"/>
          <p:cNvSpPr txBox="1"/>
          <p:nvPr/>
        </p:nvSpPr>
        <p:spPr>
          <a:xfrm>
            <a:off x="3352800" y="2387600"/>
            <a:ext cx="2641600" cy="812800"/>
          </a:xfrm>
          <a:prstGeom prst="rect">
            <a:avLst/>
          </a:prstGeom>
          <a:noFill/>
          <a:ln>
            <a:noFill/>
          </a:ln>
        </p:spPr>
        <p:txBody>
          <a:bodyPr wrap="square" lIns="0" tIns="0" rIns="0" bIns="0" rtlCol="0" anchor="b" anchorCtr="0">
            <a:noAutofit/>
          </a:bodyPr>
          <a:lstStyle/>
          <a:p>
            <a:pPr marL="0" indent="0" algn="l">
              <a:lnSpc>
                <a:spcPct val="90000"/>
              </a:lnSpc>
              <a:buNone/>
            </a:pPr>
            <a:r>
              <a:rPr lang="en-GB" sz="4400" b="1">
                <a:solidFill>
                  <a:srgbClr val="FFFFFF"/>
                </a:solidFill>
                <a:latin typeface="Aptos"/>
                <a:cs typeface="Aptos"/>
              </a:rPr>
              <a:t>38%</a:t>
            </a:r>
            <a:endParaRPr lang="en-GB" sz="4400">
              <a:solidFill>
                <a:srgbClr val="FFFFFF"/>
              </a:solidFill>
              <a:latin typeface="Aptos"/>
              <a:cs typeface="Aptos"/>
            </a:endParaRPr>
          </a:p>
        </p:txBody>
      </p:sp>
      <p:sp>
        <p:nvSpPr>
          <p:cNvPr id="10" name="Key figure label 2"/>
          <p:cNvSpPr txBox="1"/>
          <p:nvPr/>
        </p:nvSpPr>
        <p:spPr>
          <a:xfrm>
            <a:off x="3352800" y="3352800"/>
            <a:ext cx="2641600" cy="6096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400">
                <a:solidFill>
                  <a:srgbClr val="FFFFFF"/>
                </a:solidFill>
                <a:latin typeface="Aptos"/>
                <a:cs typeface="Aptos"/>
              </a:rPr>
              <a:t>Second figure: say what it measures</a:t>
            </a:r>
            <a:endParaRPr lang="en-GB" sz="1400">
              <a:solidFill>
                <a:srgbClr val="FFFFFF"/>
              </a:solidFill>
              <a:latin typeface="Aptos"/>
              <a:cs typeface="Aptos"/>
            </a:endParaRPr>
          </a:p>
        </p:txBody>
      </p:sp>
      <p:sp>
        <p:nvSpPr>
          <p:cNvPr id="11" name="Key figure note 2"/>
          <p:cNvSpPr txBox="1"/>
          <p:nvPr/>
        </p:nvSpPr>
        <p:spPr>
          <a:xfrm>
            <a:off x="3352800" y="4572000"/>
            <a:ext cx="2641600" cy="13716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Round figures to what the reader needs: 38%, not 37.84%.</a:t>
            </a:r>
            <a:endParaRPr lang="en-GB" sz="1200">
              <a:solidFill>
                <a:srgbClr val="000000"/>
              </a:solidFill>
              <a:latin typeface="Aptos"/>
              <a:cs typeface="Aptos"/>
            </a:endParaRPr>
          </a:p>
        </p:txBody>
      </p:sp>
      <p:cxnSp>
        <p:nvCxnSpPr>
          <p:cNvPr id="12" name="Key figure divider 2"/>
          <p:cNvCxnSpPr/>
          <p:nvPr/>
        </p:nvCxnSpPr>
        <p:spPr>
          <a:xfrm>
            <a:off x="6096000" y="2438400"/>
            <a:ext cx="0" cy="1524000"/>
          </a:xfrm>
          <a:prstGeom prst="line">
            <a:avLst/>
          </a:prstGeom>
          <a:ln w="6350">
            <a:solidFill>
              <a:srgbClr val="FFFFFF"/>
            </a:solidFill>
          </a:ln>
        </p:spPr>
      </p:cxnSp>
      <p:sp>
        <p:nvSpPr>
          <p:cNvPr id="13" name="Key figure 3"/>
          <p:cNvSpPr txBox="1"/>
          <p:nvPr/>
        </p:nvSpPr>
        <p:spPr>
          <a:xfrm>
            <a:off x="6197600" y="2387600"/>
            <a:ext cx="2641600" cy="812800"/>
          </a:xfrm>
          <a:prstGeom prst="rect">
            <a:avLst/>
          </a:prstGeom>
          <a:noFill/>
          <a:ln>
            <a:noFill/>
          </a:ln>
        </p:spPr>
        <p:txBody>
          <a:bodyPr wrap="square" lIns="0" tIns="0" rIns="0" bIns="0" rtlCol="0" anchor="b" anchorCtr="0">
            <a:noAutofit/>
          </a:bodyPr>
          <a:lstStyle/>
          <a:p>
            <a:pPr marL="0" indent="0" algn="l">
              <a:lnSpc>
                <a:spcPct val="90000"/>
              </a:lnSpc>
              <a:buNone/>
            </a:pPr>
            <a:r>
              <a:rPr lang="en-GB" sz="4400" b="1">
                <a:solidFill>
                  <a:srgbClr val="FFFFFF"/>
                </a:solidFill>
                <a:latin typeface="Aptos"/>
                <a:cs typeface="Aptos"/>
              </a:rPr>
              <a:t>12</a:t>
            </a:r>
            <a:endParaRPr lang="en-GB" sz="4400">
              <a:solidFill>
                <a:srgbClr val="FFFFFF"/>
              </a:solidFill>
              <a:latin typeface="Aptos"/>
              <a:cs typeface="Aptos"/>
            </a:endParaRPr>
          </a:p>
        </p:txBody>
      </p:sp>
      <p:sp>
        <p:nvSpPr>
          <p:cNvPr id="14" name="Key figure label 3"/>
          <p:cNvSpPr txBox="1"/>
          <p:nvPr/>
        </p:nvSpPr>
        <p:spPr>
          <a:xfrm>
            <a:off x="6197600" y="3352800"/>
            <a:ext cx="2641600" cy="6096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400">
                <a:solidFill>
                  <a:srgbClr val="FFFFFF"/>
                </a:solidFill>
                <a:latin typeface="Aptos"/>
                <a:cs typeface="Aptos"/>
              </a:rPr>
              <a:t>Countries, projects or partners</a:t>
            </a:r>
            <a:endParaRPr lang="en-GB" sz="1400">
              <a:solidFill>
                <a:srgbClr val="FFFFFF"/>
              </a:solidFill>
              <a:latin typeface="Aptos"/>
              <a:cs typeface="Aptos"/>
            </a:endParaRPr>
          </a:p>
        </p:txBody>
      </p:sp>
      <p:sp>
        <p:nvSpPr>
          <p:cNvPr id="15" name="Key figure note 3"/>
          <p:cNvSpPr txBox="1"/>
          <p:nvPr/>
        </p:nvSpPr>
        <p:spPr>
          <a:xfrm>
            <a:off x="6197600" y="4572000"/>
            <a:ext cx="2641600" cy="13716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Use the % sign in figures and ‘per cent’ in sentences.</a:t>
            </a:r>
            <a:endParaRPr lang="en-GB" sz="1200">
              <a:solidFill>
                <a:srgbClr val="000000"/>
              </a:solidFill>
              <a:latin typeface="Aptos"/>
              <a:cs typeface="Aptos"/>
            </a:endParaRPr>
          </a:p>
        </p:txBody>
      </p:sp>
      <p:cxnSp>
        <p:nvCxnSpPr>
          <p:cNvPr id="16" name="Key figure divider 3"/>
          <p:cNvCxnSpPr/>
          <p:nvPr/>
        </p:nvCxnSpPr>
        <p:spPr>
          <a:xfrm>
            <a:off x="8940800" y="2438400"/>
            <a:ext cx="0" cy="1524000"/>
          </a:xfrm>
          <a:prstGeom prst="line">
            <a:avLst/>
          </a:prstGeom>
          <a:ln w="6350">
            <a:solidFill>
              <a:srgbClr val="FFFFFF"/>
            </a:solidFill>
          </a:ln>
        </p:spPr>
      </p:cxnSp>
      <p:sp>
        <p:nvSpPr>
          <p:cNvPr id="17" name="Key figure 4"/>
          <p:cNvSpPr txBox="1"/>
          <p:nvPr/>
        </p:nvSpPr>
        <p:spPr>
          <a:xfrm>
            <a:off x="9042400" y="2387600"/>
            <a:ext cx="2641600" cy="812800"/>
          </a:xfrm>
          <a:prstGeom prst="rect">
            <a:avLst/>
          </a:prstGeom>
          <a:noFill/>
          <a:ln>
            <a:noFill/>
          </a:ln>
        </p:spPr>
        <p:txBody>
          <a:bodyPr wrap="square" lIns="0" tIns="0" rIns="0" bIns="0" rtlCol="0" anchor="b" anchorCtr="0">
            <a:noAutofit/>
          </a:bodyPr>
          <a:lstStyle/>
          <a:p>
            <a:pPr marL="0" indent="0" algn="l">
              <a:lnSpc>
                <a:spcPct val="90000"/>
              </a:lnSpc>
              <a:buNone/>
            </a:pPr>
            <a:r>
              <a:rPr lang="en-GB" sz="4400" b="1">
                <a:solidFill>
                  <a:srgbClr val="FFFFFF"/>
                </a:solidFill>
                <a:latin typeface="Aptos"/>
                <a:cs typeface="Aptos"/>
              </a:rPr>
              <a:t>2030</a:t>
            </a:r>
            <a:endParaRPr lang="en-GB" sz="4400">
              <a:solidFill>
                <a:srgbClr val="FFFFFF"/>
              </a:solidFill>
              <a:latin typeface="Aptos"/>
              <a:cs typeface="Aptos"/>
            </a:endParaRPr>
          </a:p>
        </p:txBody>
      </p:sp>
      <p:sp>
        <p:nvSpPr>
          <p:cNvPr id="18" name="Key figure label 4"/>
          <p:cNvSpPr txBox="1"/>
          <p:nvPr/>
        </p:nvSpPr>
        <p:spPr>
          <a:xfrm>
            <a:off x="9042400" y="3352800"/>
            <a:ext cx="2641600" cy="6096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400">
                <a:solidFill>
                  <a:srgbClr val="FFFFFF"/>
                </a:solidFill>
                <a:latin typeface="Aptos"/>
                <a:cs typeface="Aptos"/>
              </a:rPr>
              <a:t>A date or a target year</a:t>
            </a:r>
            <a:endParaRPr lang="en-GB" sz="1400">
              <a:solidFill>
                <a:srgbClr val="FFFFFF"/>
              </a:solidFill>
              <a:latin typeface="Aptos"/>
              <a:cs typeface="Aptos"/>
            </a:endParaRPr>
          </a:p>
        </p:txBody>
      </p:sp>
      <p:sp>
        <p:nvSpPr>
          <p:cNvPr id="19" name="Key figure note 4"/>
          <p:cNvSpPr txBox="1"/>
          <p:nvPr/>
        </p:nvSpPr>
        <p:spPr>
          <a:xfrm>
            <a:off x="9042400" y="4572000"/>
            <a:ext cx="2641600" cy="13716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Write currency as a code and a figure: GBP 5m, USD 250m, EUR 1.2bn.</a:t>
            </a:r>
            <a:endParaRPr lang="en-GB" sz="1200">
              <a:solidFill>
                <a:srgbClr val="000000"/>
              </a:solidFill>
              <a:latin typeface="Aptos"/>
              <a:cs typeface="Aptos"/>
            </a:endParaRPr>
          </a:p>
        </p:txBody>
      </p:sp>
      <p:sp>
        <p:nvSpPr>
          <p:cNvPr id="20" name="Source"/>
          <p:cNvSpPr txBox="1"/>
          <p:nvPr/>
        </p:nvSpPr>
        <p:spPr>
          <a:xfrm>
            <a:off x="508000" y="6045200"/>
            <a:ext cx="8890000" cy="304800"/>
          </a:xfrm>
          <a:prstGeom prst="rect">
            <a:avLst/>
          </a:prstGeom>
          <a:noFill/>
          <a:ln>
            <a:noFill/>
          </a:ln>
        </p:spPr>
        <p:txBody>
          <a:bodyPr wrap="square" lIns="0" tIns="0" rIns="0" bIns="0" rtlCol="0" anchor="b" anchorCtr="0">
            <a:noAutofit/>
          </a:bodyPr>
          <a:lstStyle/>
          <a:p>
            <a:pPr marL="0" indent="0" algn="l">
              <a:spcBef>
                <a:spcPts val="0"/>
              </a:spcBef>
              <a:spcAft>
                <a:spcPts val="0"/>
              </a:spcAft>
              <a:buNone/>
            </a:pPr>
            <a:r>
              <a:rPr lang="en-GB" sz="800">
                <a:solidFill>
                  <a:srgbClr val="4A4A4C"/>
                </a:solidFill>
                <a:latin typeface="Aptos"/>
                <a:cs typeface="Aptos"/>
              </a:rPr>
              <a:t>Source: organisation, title of the publication (year). Every figure needs a source.</a:t>
            </a:r>
            <a:endParaRPr lang="en-GB" sz="800">
              <a:solidFill>
                <a:srgbClr val="4A4A4C"/>
              </a:solidFill>
              <a:latin typeface="Aptos"/>
              <a:cs typeface="Aptos"/>
            </a:endParaRPr>
          </a:p>
        </p:txBody>
      </p:sp>
      <p:sp>
        <p:nvSpPr>
          <p:cNvPr id="21" name="Slide number"/>
          <p:cNvSpPr>
            <a:spLocks noGrp="1"/>
          </p:cNvSpPr>
          <p:nvPr>
            <p:ph type="sldNum" sz="quarter" idx="12"/>
          </p:nvPr>
        </p:nvSpPr>
        <p:spPr/>
        <p:txBody>
          <a:bodyPr/>
          <a:lstStyle/>
          <a:p>
            <a:fld id="{B6F15528-21DE-4FAA-801E-634DDDAF4B2B}" type="slidenum">
              <a:rPr lang="en-GB"/>
              <a:t>7</a:t>
            </a:fld>
            <a:endParaRPr lang="en-GB"/>
          </a:p>
        </p:txBody>
      </p:sp>
    </p:spTree>
    <p:extLst>
      <p:ext uri="{BB962C8B-B14F-4D97-AF65-F5344CB8AC3E}">
        <p14:creationId xmlns:p14="http://schemas.microsoft.com/office/powerpoint/2010/main" val="2051732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Action title: the conclusion the chart supports, not a description of it</a:t>
            </a:r>
            <a:endParaRPr lang="en-GB"/>
          </a:p>
        </p:txBody>
      </p:sp>
      <p:sp>
        <p:nvSpPr>
          <p:cNvPr id="3" name="Chart heading"/>
          <p:cNvSpPr txBox="1"/>
          <p:nvPr/>
        </p:nvSpPr>
        <p:spPr>
          <a:xfrm>
            <a:off x="508000" y="1371600"/>
            <a:ext cx="7382933" cy="2540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b="1">
                <a:solidFill>
                  <a:srgbClr val="022338"/>
                </a:solidFill>
                <a:latin typeface="Aptos"/>
                <a:cs typeface="Aptos"/>
              </a:rPr>
              <a:t>Chart heading: what is measured, the unit and the period (USD m, 2021 to 2025)</a:t>
            </a:r>
            <a:endParaRPr lang="en-GB" sz="1200">
              <a:solidFill>
                <a:srgbClr val="022338"/>
              </a:solidFill>
              <a:latin typeface="Aptos"/>
              <a:cs typeface="Aptos"/>
            </a:endParaRPr>
          </a:p>
        </p:txBody>
      </p:sp>
      <p:graphicFrame>
        <p:nvGraphicFramePr>
          <p:cNvPr id="4" name="Chart" descr="Column chart of two series over five years. Right-click it and choose Edit Data to use your own figures"/>
          <p:cNvGraphicFramePr>
            <a:graphicFrameLocks noGrp="1"/>
          </p:cNvGraphicFramePr>
          <p:nvPr/>
        </p:nvGraphicFramePr>
        <p:xfrm>
          <a:off x="508000" y="1727200"/>
          <a:ext cx="7382933" cy="4216400"/>
        </p:xfrm>
        <a:graphic>
          <a:graphicData uri="http://schemas.openxmlformats.org/drawingml/2006/chart">
            <c:chart xmlns:c="http://schemas.openxmlformats.org/drawingml/2006/chart" r:id="rId2"/>
          </a:graphicData>
        </a:graphic>
      </p:graphicFrame>
      <p:sp>
        <p:nvSpPr>
          <p:cNvPr id="5" name="Commentary"/>
          <p:cNvSpPr/>
          <p:nvPr/>
        </p:nvSpPr>
        <p:spPr>
          <a:xfrm>
            <a:off x="8094133" y="1371600"/>
            <a:ext cx="3589867" cy="4572000"/>
          </a:xfrm>
          <a:prstGeom prst="rect">
            <a:avLst/>
          </a:prstGeom>
          <a:solidFill>
            <a:srgbClr val="F7F8F5"/>
          </a:solidFill>
          <a:ln>
            <a:noFill/>
          </a:ln>
        </p:spPr>
        <p:txBody>
          <a:bodyPr wrap="square" lIns="254000" tIns="254000" rIns="254000" bIns="254000" rtlCol="0" anchor="t" anchorCtr="0">
            <a:noAutofit/>
          </a:bodyPr>
          <a:lstStyle/>
          <a:p>
            <a:pPr marL="0" indent="0" algn="l">
              <a:spcBef>
                <a:spcPts val="0"/>
              </a:spcBef>
              <a:spcAft>
                <a:spcPts val="1200"/>
              </a:spcAft>
              <a:buNone/>
            </a:pPr>
            <a:r>
              <a:rPr lang="en-GB" sz="1600" b="1">
                <a:solidFill>
                  <a:srgbClr val="022338"/>
                </a:solidFill>
                <a:latin typeface="Candara"/>
                <a:cs typeface="Candara"/>
              </a:rPr>
              <a:t>What the chart shows</a:t>
            </a:r>
            <a:endParaRPr lang="en-GB" sz="1600">
              <a:solidFill>
                <a:srgbClr val="022338"/>
              </a:solidFill>
              <a:latin typeface="Candara"/>
              <a:cs typeface="Candara"/>
            </a:endParaRPr>
          </a:p>
          <a:p>
            <a:pPr marL="203200" indent="-203200" algn="l">
              <a:spcBef>
                <a:spcPts val="0"/>
              </a:spcBef>
              <a:spcAft>
                <a:spcPts val="800"/>
              </a:spcAft>
              <a:buClr>
                <a:srgbClr val="328840"/>
              </a:buClr>
              <a:buSzPct val="80000"/>
              <a:buFont typeface="Arial" panose="020B0604020202020204" pitchFamily="34" charset="0"/>
              <a:buChar char="■"/>
            </a:pPr>
            <a:r>
              <a:rPr lang="en-GB" sz="1200">
                <a:solidFill>
                  <a:srgbClr val="000000"/>
                </a:solidFill>
                <a:latin typeface="Aptos"/>
                <a:cs typeface="Aptos"/>
              </a:rPr>
              <a:t>Name the pattern: the trend, the gap or the outlier</a:t>
            </a:r>
            <a:endParaRPr lang="en-GB" sz="1200">
              <a:solidFill>
                <a:srgbClr val="000000"/>
              </a:solidFill>
              <a:latin typeface="Aptos"/>
              <a:cs typeface="Aptos"/>
            </a:endParaRPr>
          </a:p>
          <a:p>
            <a:pPr marL="203200" indent="-203200" algn="l">
              <a:spcBef>
                <a:spcPts val="0"/>
              </a:spcBef>
              <a:spcAft>
                <a:spcPts val="800"/>
              </a:spcAft>
              <a:buClr>
                <a:srgbClr val="328840"/>
              </a:buClr>
              <a:buSzPct val="80000"/>
              <a:buFont typeface="Arial" panose="020B0604020202020204" pitchFamily="34" charset="0"/>
              <a:buChar char="■"/>
            </a:pPr>
            <a:r>
              <a:rPr lang="en-GB" sz="1200">
                <a:solidFill>
                  <a:srgbClr val="000000"/>
                </a:solidFill>
                <a:latin typeface="Aptos"/>
                <a:cs typeface="Aptos"/>
              </a:rPr>
              <a:t>Give the number that proves it, read from the chart</a:t>
            </a:r>
            <a:endParaRPr lang="en-GB" sz="1200">
              <a:solidFill>
                <a:srgbClr val="000000"/>
              </a:solidFill>
              <a:latin typeface="Aptos"/>
              <a:cs typeface="Aptos"/>
            </a:endParaRPr>
          </a:p>
          <a:p>
            <a:pPr marL="203200" indent="-203200" algn="l">
              <a:spcBef>
                <a:spcPts val="0"/>
              </a:spcBef>
              <a:spcAft>
                <a:spcPts val="800"/>
              </a:spcAft>
              <a:buClr>
                <a:srgbClr val="328840"/>
              </a:buClr>
              <a:buSzPct val="80000"/>
              <a:buFont typeface="Arial" panose="020B0604020202020204" pitchFamily="34" charset="0"/>
              <a:buChar char="■"/>
            </a:pPr>
            <a:r>
              <a:rPr lang="en-GB" sz="1200">
                <a:solidFill>
                  <a:srgbClr val="000000"/>
                </a:solidFill>
                <a:latin typeface="Aptos"/>
                <a:cs typeface="Aptos"/>
              </a:rPr>
              <a:t>Say what it means for the decision in hand</a:t>
            </a:r>
            <a:endParaRPr lang="en-GB" sz="1200">
              <a:solidFill>
                <a:srgbClr val="000000"/>
              </a:solidFill>
              <a:latin typeface="Aptos"/>
              <a:cs typeface="Aptos"/>
            </a:endParaRPr>
          </a:p>
          <a:p>
            <a:pPr marL="203200" indent="-203200" algn="l">
              <a:spcBef>
                <a:spcPts val="0"/>
              </a:spcBef>
              <a:spcAft>
                <a:spcPts val="800"/>
              </a:spcAft>
              <a:buClr>
                <a:srgbClr val="328840"/>
              </a:buClr>
              <a:buSzPct val="80000"/>
              <a:buFont typeface="Arial" panose="020B0604020202020204" pitchFamily="34" charset="0"/>
              <a:buChar char="■"/>
            </a:pPr>
            <a:r>
              <a:rPr lang="en-GB" sz="1200">
                <a:solidFill>
                  <a:srgbClr val="000000"/>
                </a:solidFill>
                <a:latin typeface="Aptos"/>
                <a:cs typeface="Aptos"/>
              </a:rPr>
              <a:t>Right-click the chart and choose Edit Data to put in your own figures</a:t>
            </a:r>
            <a:endParaRPr lang="en-GB" sz="1200">
              <a:solidFill>
                <a:srgbClr val="000000"/>
              </a:solidFill>
              <a:latin typeface="Aptos"/>
              <a:cs typeface="Aptos"/>
            </a:endParaRPr>
          </a:p>
        </p:txBody>
      </p:sp>
      <p:sp>
        <p:nvSpPr>
          <p:cNvPr id="6" name="Source"/>
          <p:cNvSpPr txBox="1"/>
          <p:nvPr/>
        </p:nvSpPr>
        <p:spPr>
          <a:xfrm>
            <a:off x="508000" y="6045200"/>
            <a:ext cx="8890000" cy="304800"/>
          </a:xfrm>
          <a:prstGeom prst="rect">
            <a:avLst/>
          </a:prstGeom>
          <a:noFill/>
          <a:ln>
            <a:noFill/>
          </a:ln>
        </p:spPr>
        <p:txBody>
          <a:bodyPr wrap="square" lIns="0" tIns="0" rIns="0" bIns="0" rtlCol="0" anchor="b" anchorCtr="0">
            <a:noAutofit/>
          </a:bodyPr>
          <a:lstStyle/>
          <a:p>
            <a:pPr marL="0" indent="0" algn="l">
              <a:spcBef>
                <a:spcPts val="0"/>
              </a:spcBef>
              <a:spcAft>
                <a:spcPts val="0"/>
              </a:spcAft>
              <a:buNone/>
            </a:pPr>
            <a:r>
              <a:rPr lang="en-GB" sz="800">
                <a:solidFill>
                  <a:srgbClr val="4A4A4C"/>
                </a:solidFill>
                <a:latin typeface="Aptos"/>
                <a:cs typeface="Aptos"/>
              </a:rPr>
              <a:t>Source: organisation, dataset (year). Charts use green and green 50 on white, with no title inside the chart.</a:t>
            </a:r>
            <a:endParaRPr lang="en-GB" sz="800">
              <a:solidFill>
                <a:srgbClr val="4A4A4C"/>
              </a:solidFill>
              <a:latin typeface="Aptos"/>
              <a:cs typeface="Aptos"/>
            </a:endParaRPr>
          </a:p>
        </p:txBody>
      </p:sp>
      <p:sp>
        <p:nvSpPr>
          <p:cNvPr id="7" name="Slide number"/>
          <p:cNvSpPr>
            <a:spLocks noGrp="1"/>
          </p:cNvSpPr>
          <p:nvPr>
            <p:ph type="sldNum" sz="quarter" idx="12"/>
          </p:nvPr>
        </p:nvSpPr>
        <p:spPr/>
        <p:txBody>
          <a:bodyPr/>
          <a:lstStyle/>
          <a:p>
            <a:fld id="{B6F15528-21DE-4FAA-801E-634DDDAF4B2B}" type="slidenum">
              <a:rPr lang="en-GB"/>
              <a:t>8</a:t>
            </a:fld>
            <a:endParaRPr lang="en-GB"/>
          </a:p>
        </p:txBody>
      </p:sp>
    </p:spTree>
    <p:extLst>
      <p:ext uri="{BB962C8B-B14F-4D97-AF65-F5344CB8AC3E}">
        <p14:creationId xmlns:p14="http://schemas.microsoft.com/office/powerpoint/2010/main" val="1513724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Action title: the comparison the table makes, in one sentence</a:t>
            </a:r>
            <a:endParaRPr lang="en-GB"/>
          </a:p>
        </p:txBody>
      </p:sp>
      <p:graphicFrame>
        <p:nvGraphicFramePr>
          <p:cNvPr id="3" name="Table"/>
          <p:cNvGraphicFramePr>
            <a:graphicFrameLocks noGrp="1"/>
          </p:cNvGraphicFramePr>
          <p:nvPr/>
        </p:nvGraphicFramePr>
        <p:xfrm>
          <a:off x="508000" y="1371600"/>
          <a:ext cx="11176000" cy="3911600"/>
        </p:xfrm>
        <a:graphic>
          <a:graphicData uri="http://schemas.openxmlformats.org/drawingml/2006/table">
            <a:tbl>
              <a:tblPr firstRow="1" bandRow="0">
                <a:tableStyleId>{2D5ABB26-0587-4C30-8999-92F81FD0307C}</a:tableStyleId>
              </a:tblPr>
              <a:tblGrid>
                <a:gridCol w="2641600"/>
                <a:gridCol w="1422400"/>
                <a:gridCol w="1422400"/>
                <a:gridCol w="1422400"/>
                <a:gridCol w="4267200"/>
              </a:tblGrid>
              <a:tr h="558800">
                <a:tc>
                  <a:txBody>
                    <a:bodyPr/>
                    <a:lstStyle/>
                    <a:p>
                      <a:pPr marL="0" indent="0" algn="l">
                        <a:spcBef>
                          <a:spcPts val="0"/>
                        </a:spcBef>
                        <a:spcAft>
                          <a:spcPts val="0"/>
                        </a:spcAft>
                        <a:buNone/>
                      </a:pPr>
                      <a:r>
                        <a:rPr lang="en-GB" sz="1200" b="1">
                          <a:solidFill>
                            <a:srgbClr val="FFFFFF"/>
                          </a:solidFill>
                          <a:latin typeface="Aptos"/>
                          <a:cs typeface="Aptos"/>
                        </a:rPr>
                        <a:t>Instrument</a:t>
                      </a:r>
                      <a:endParaRPr lang="en-GB" sz="1200">
                        <a:solidFill>
                          <a:srgbClr val="FFFFFF"/>
                        </a:solidFill>
                        <a:latin typeface="Aptos"/>
                        <a:cs typeface="Aptos"/>
                      </a:endParaRPr>
                    </a:p>
                  </a:txBody>
                  <a:tcPr marL="101600" marR="101600" marT="50800" marB="50800" anchor="ctr">
                    <a:lnL w="0">
                      <a:noFill/>
                    </a:lnL>
                    <a:lnR w="0">
                      <a:noFill/>
                    </a:lnR>
                    <a:lnT w="0">
                      <a:noFill/>
                    </a:lnT>
                    <a:lnB w="0">
                      <a:noFill/>
                    </a:lnB>
                    <a:solidFill>
                      <a:srgbClr val="022338"/>
                    </a:solidFill>
                  </a:tcPr>
                </a:tc>
                <a:tc>
                  <a:txBody>
                    <a:bodyPr/>
                    <a:lstStyle/>
                    <a:p>
                      <a:pPr marL="0" indent="0" algn="r">
                        <a:spcBef>
                          <a:spcPts val="0"/>
                        </a:spcBef>
                        <a:spcAft>
                          <a:spcPts val="0"/>
                        </a:spcAft>
                        <a:buNone/>
                      </a:pPr>
                      <a:r>
                        <a:rPr lang="en-GB" sz="1200" b="1">
                          <a:solidFill>
                            <a:srgbClr val="FFFFFF"/>
                          </a:solidFill>
                          <a:latin typeface="Aptos"/>
                          <a:cs typeface="Aptos"/>
                        </a:rPr>
                        <a:t>2024 (USD m)</a:t>
                      </a:r>
                      <a:endParaRPr lang="en-GB" sz="1200">
                        <a:solidFill>
                          <a:srgbClr val="FFFFFF"/>
                        </a:solidFill>
                        <a:latin typeface="Aptos"/>
                        <a:cs typeface="Aptos"/>
                      </a:endParaRPr>
                    </a:p>
                  </a:txBody>
                  <a:tcPr marL="101600" marR="101600" marT="50800" marB="50800" anchor="ctr">
                    <a:lnL w="0">
                      <a:noFill/>
                    </a:lnL>
                    <a:lnR w="0">
                      <a:noFill/>
                    </a:lnR>
                    <a:lnT w="0">
                      <a:noFill/>
                    </a:lnT>
                    <a:lnB w="0">
                      <a:noFill/>
                    </a:lnB>
                    <a:solidFill>
                      <a:srgbClr val="022338"/>
                    </a:solidFill>
                  </a:tcPr>
                </a:tc>
                <a:tc>
                  <a:txBody>
                    <a:bodyPr/>
                    <a:lstStyle/>
                    <a:p>
                      <a:pPr marL="0" indent="0" algn="r">
                        <a:spcBef>
                          <a:spcPts val="0"/>
                        </a:spcBef>
                        <a:spcAft>
                          <a:spcPts val="0"/>
                        </a:spcAft>
                        <a:buNone/>
                      </a:pPr>
                      <a:r>
                        <a:rPr lang="en-GB" sz="1200" b="1">
                          <a:solidFill>
                            <a:srgbClr val="FFFFFF"/>
                          </a:solidFill>
                          <a:latin typeface="Aptos"/>
                          <a:cs typeface="Aptos"/>
                        </a:rPr>
                        <a:t>2025 (USD m)</a:t>
                      </a:r>
                      <a:endParaRPr lang="en-GB" sz="1200">
                        <a:solidFill>
                          <a:srgbClr val="FFFFFF"/>
                        </a:solidFill>
                        <a:latin typeface="Aptos"/>
                        <a:cs typeface="Aptos"/>
                      </a:endParaRPr>
                    </a:p>
                  </a:txBody>
                  <a:tcPr marL="101600" marR="101600" marT="50800" marB="50800" anchor="ctr">
                    <a:lnL w="0">
                      <a:noFill/>
                    </a:lnL>
                    <a:lnR w="0">
                      <a:noFill/>
                    </a:lnR>
                    <a:lnT w="0">
                      <a:noFill/>
                    </a:lnT>
                    <a:lnB w="0">
                      <a:noFill/>
                    </a:lnB>
                    <a:solidFill>
                      <a:srgbClr val="022338"/>
                    </a:solidFill>
                  </a:tcPr>
                </a:tc>
                <a:tc>
                  <a:txBody>
                    <a:bodyPr/>
                    <a:lstStyle/>
                    <a:p>
                      <a:pPr marL="0" indent="0" algn="r">
                        <a:spcBef>
                          <a:spcPts val="0"/>
                        </a:spcBef>
                        <a:spcAft>
                          <a:spcPts val="0"/>
                        </a:spcAft>
                        <a:buNone/>
                      </a:pPr>
                      <a:r>
                        <a:rPr lang="en-GB" sz="1200" b="1">
                          <a:solidFill>
                            <a:srgbClr val="FFFFFF"/>
                          </a:solidFill>
                          <a:latin typeface="Aptos"/>
                          <a:cs typeface="Aptos"/>
                        </a:rPr>
                        <a:t>Change (%)</a:t>
                      </a:r>
                      <a:endParaRPr lang="en-GB" sz="1200">
                        <a:solidFill>
                          <a:srgbClr val="FFFFFF"/>
                        </a:solidFill>
                        <a:latin typeface="Aptos"/>
                        <a:cs typeface="Aptos"/>
                      </a:endParaRPr>
                    </a:p>
                  </a:txBody>
                  <a:tcPr marL="101600" marR="101600" marT="50800" marB="50800" anchor="ctr">
                    <a:lnL w="0">
                      <a:noFill/>
                    </a:lnL>
                    <a:lnR w="0">
                      <a:noFill/>
                    </a:lnR>
                    <a:lnT w="0">
                      <a:noFill/>
                    </a:lnT>
                    <a:lnB w="0">
                      <a:noFill/>
                    </a:lnB>
                    <a:solidFill>
                      <a:srgbClr val="022338"/>
                    </a:solidFill>
                  </a:tcPr>
                </a:tc>
                <a:tc>
                  <a:txBody>
                    <a:bodyPr/>
                    <a:lstStyle/>
                    <a:p>
                      <a:pPr marL="0" indent="0" algn="l">
                        <a:spcBef>
                          <a:spcPts val="0"/>
                        </a:spcBef>
                        <a:spcAft>
                          <a:spcPts val="0"/>
                        </a:spcAft>
                        <a:buNone/>
                      </a:pPr>
                      <a:r>
                        <a:rPr lang="en-GB" sz="1200" b="1">
                          <a:solidFill>
                            <a:srgbClr val="FFFFFF"/>
                          </a:solidFill>
                          <a:latin typeface="Aptos"/>
                          <a:cs typeface="Aptos"/>
                        </a:rPr>
                        <a:t>How the table is set</a:t>
                      </a:r>
                      <a:endParaRPr lang="en-GB" sz="1200">
                        <a:solidFill>
                          <a:srgbClr val="FFFFFF"/>
                        </a:solidFill>
                        <a:latin typeface="Aptos"/>
                        <a:cs typeface="Aptos"/>
                      </a:endParaRPr>
                    </a:p>
                  </a:txBody>
                  <a:tcPr marL="101600" marR="101600" marT="50800" marB="50800" anchor="ctr">
                    <a:lnL w="0">
                      <a:noFill/>
                    </a:lnL>
                    <a:lnR w="0">
                      <a:noFill/>
                    </a:lnR>
                    <a:lnT w="0">
                      <a:noFill/>
                    </a:lnT>
                    <a:lnB w="0">
                      <a:noFill/>
                    </a:lnB>
                    <a:solidFill>
                      <a:srgbClr val="022338"/>
                    </a:solidFill>
                  </a:tcPr>
                </a:tc>
              </a:tr>
              <a:tr h="558800">
                <a:tc>
                  <a:txBody>
                    <a:bodyPr/>
                    <a:lstStyle/>
                    <a:p>
                      <a:pPr marL="0" indent="0" algn="l">
                        <a:spcBef>
                          <a:spcPts val="0"/>
                        </a:spcBef>
                        <a:spcAft>
                          <a:spcPts val="0"/>
                        </a:spcAft>
                        <a:buNone/>
                      </a:pPr>
                      <a:r>
                        <a:rPr lang="en-GB" sz="1200">
                          <a:solidFill>
                            <a:srgbClr val="000000"/>
                          </a:solidFill>
                          <a:latin typeface="Aptos"/>
                          <a:cs typeface="Aptos"/>
                        </a:rPr>
                        <a:t>Green bonds</a:t>
                      </a:r>
                      <a:endParaRPr lang="en-GB" sz="1200">
                        <a:solidFill>
                          <a:srgbClr val="000000"/>
                        </a:solidFill>
                        <a:latin typeface="Aptos"/>
                        <a:cs typeface="Aptos"/>
                      </a:endParaRPr>
                    </a:p>
                  </a:txBody>
                  <a:tcPr marL="101600" marR="101600" marT="50800" marB="50800" anchor="ctr">
                    <a:lnL w="0">
                      <a:noFill/>
                    </a:lnL>
                    <a:lnR w="0">
                      <a:noFill/>
                    </a:lnR>
                    <a:lnT w="0">
                      <a:noFill/>
                    </a:lnT>
                    <a:lnB w="9525" cap="flat" cmpd="sng" algn="ctr">
                      <a:solidFill>
                        <a:srgbClr val="E8E9E6"/>
                      </a:solidFill>
                      <a:prstDash val="solid"/>
                    </a:lnB>
                    <a:noFill/>
                  </a:tcPr>
                </a:tc>
                <a:tc>
                  <a:txBody>
                    <a:bodyPr/>
                    <a:lstStyle/>
                    <a:p>
                      <a:pPr marL="0" indent="0" algn="r">
                        <a:spcBef>
                          <a:spcPts val="0"/>
                        </a:spcBef>
                        <a:spcAft>
                          <a:spcPts val="0"/>
                        </a:spcAft>
                        <a:buNone/>
                      </a:pPr>
                      <a:r>
                        <a:rPr lang="en-GB" sz="1200">
                          <a:solidFill>
                            <a:srgbClr val="000000"/>
                          </a:solidFill>
                          <a:latin typeface="Aptos"/>
                          <a:cs typeface="Aptos"/>
                        </a:rPr>
                        <a:t>1,250</a:t>
                      </a:r>
                      <a:endParaRPr lang="en-GB" sz="1200">
                        <a:solidFill>
                          <a:srgbClr val="000000"/>
                        </a:solidFill>
                        <a:latin typeface="Aptos"/>
                        <a:cs typeface="Aptos"/>
                      </a:endParaRPr>
                    </a:p>
                  </a:txBody>
                  <a:tcPr marL="101600" marR="101600" marT="50800" marB="50800" anchor="ctr">
                    <a:lnL w="0">
                      <a:noFill/>
                    </a:lnL>
                    <a:lnR w="0">
                      <a:noFill/>
                    </a:lnR>
                    <a:lnT w="0">
                      <a:noFill/>
                    </a:lnT>
                    <a:lnB w="9525" cap="flat" cmpd="sng" algn="ctr">
                      <a:solidFill>
                        <a:srgbClr val="E8E9E6"/>
                      </a:solidFill>
                      <a:prstDash val="solid"/>
                    </a:lnB>
                    <a:noFill/>
                  </a:tcPr>
                </a:tc>
                <a:tc>
                  <a:txBody>
                    <a:bodyPr/>
                    <a:lstStyle/>
                    <a:p>
                      <a:pPr marL="0" indent="0" algn="r">
                        <a:spcBef>
                          <a:spcPts val="0"/>
                        </a:spcBef>
                        <a:spcAft>
                          <a:spcPts val="0"/>
                        </a:spcAft>
                        <a:buNone/>
                      </a:pPr>
                      <a:r>
                        <a:rPr lang="en-GB" sz="1200">
                          <a:solidFill>
                            <a:srgbClr val="000000"/>
                          </a:solidFill>
                          <a:latin typeface="Aptos"/>
                          <a:cs typeface="Aptos"/>
                        </a:rPr>
                        <a:t>1,480</a:t>
                      </a:r>
                      <a:endParaRPr lang="en-GB" sz="1200">
                        <a:solidFill>
                          <a:srgbClr val="000000"/>
                        </a:solidFill>
                        <a:latin typeface="Aptos"/>
                        <a:cs typeface="Aptos"/>
                      </a:endParaRPr>
                    </a:p>
                  </a:txBody>
                  <a:tcPr marL="101600" marR="101600" marT="50800" marB="50800" anchor="ctr">
                    <a:lnL w="0">
                      <a:noFill/>
                    </a:lnL>
                    <a:lnR w="0">
                      <a:noFill/>
                    </a:lnR>
                    <a:lnT w="0">
                      <a:noFill/>
                    </a:lnT>
                    <a:lnB w="9525" cap="flat" cmpd="sng" algn="ctr">
                      <a:solidFill>
                        <a:srgbClr val="E8E9E6"/>
                      </a:solidFill>
                      <a:prstDash val="solid"/>
                    </a:lnB>
                    <a:noFill/>
                  </a:tcPr>
                </a:tc>
                <a:tc>
                  <a:txBody>
                    <a:bodyPr/>
                    <a:lstStyle/>
                    <a:p>
                      <a:pPr marL="0" indent="0" algn="r">
                        <a:spcBef>
                          <a:spcPts val="0"/>
                        </a:spcBef>
                        <a:spcAft>
                          <a:spcPts val="0"/>
                        </a:spcAft>
                        <a:buNone/>
                      </a:pPr>
                      <a:r>
                        <a:rPr lang="en-GB" sz="1200">
                          <a:solidFill>
                            <a:srgbClr val="000000"/>
                          </a:solidFill>
                          <a:latin typeface="Aptos"/>
                          <a:cs typeface="Aptos"/>
                        </a:rPr>
                        <a:t>18</a:t>
                      </a:r>
                      <a:endParaRPr lang="en-GB" sz="1200">
                        <a:solidFill>
                          <a:srgbClr val="000000"/>
                        </a:solidFill>
                        <a:latin typeface="Aptos"/>
                        <a:cs typeface="Aptos"/>
                      </a:endParaRPr>
                    </a:p>
                  </a:txBody>
                  <a:tcPr marL="101600" marR="101600" marT="50800" marB="508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r>
                        <a:rPr lang="en-GB" sz="1200">
                          <a:solidFill>
                            <a:srgbClr val="4A4A4C"/>
                          </a:solidFill>
                          <a:latin typeface="Aptos"/>
                          <a:cs typeface="Aptos"/>
                        </a:rPr>
                        <a:t>Figures right-aligned, with a thousands separator</a:t>
                      </a:r>
                      <a:endParaRPr lang="en-GB" sz="1200">
                        <a:solidFill>
                          <a:srgbClr val="4A4A4C"/>
                        </a:solidFill>
                        <a:latin typeface="Aptos"/>
                        <a:cs typeface="Aptos"/>
                      </a:endParaRPr>
                    </a:p>
                  </a:txBody>
                  <a:tcPr marL="101600" marR="101600" marT="50800" marB="50800" anchor="ctr">
                    <a:lnL w="0">
                      <a:noFill/>
                    </a:lnL>
                    <a:lnR w="0">
                      <a:noFill/>
                    </a:lnR>
                    <a:lnT w="0">
                      <a:noFill/>
                    </a:lnT>
                    <a:lnB w="9525" cap="flat" cmpd="sng" algn="ctr">
                      <a:solidFill>
                        <a:srgbClr val="E8E9E6"/>
                      </a:solidFill>
                      <a:prstDash val="solid"/>
                    </a:lnB>
                    <a:noFill/>
                  </a:tcPr>
                </a:tc>
              </a:tr>
              <a:tr h="558800">
                <a:tc>
                  <a:txBody>
                    <a:bodyPr/>
                    <a:lstStyle/>
                    <a:p>
                      <a:pPr marL="0" indent="0" algn="l">
                        <a:spcBef>
                          <a:spcPts val="0"/>
                        </a:spcBef>
                        <a:spcAft>
                          <a:spcPts val="0"/>
                        </a:spcAft>
                        <a:buNone/>
                      </a:pPr>
                      <a:r>
                        <a:rPr lang="en-GB" sz="1200">
                          <a:solidFill>
                            <a:srgbClr val="000000"/>
                          </a:solidFill>
                          <a:latin typeface="Aptos"/>
                          <a:cs typeface="Aptos"/>
                        </a:rPr>
                        <a:t>Sustainability-linked loans</a:t>
                      </a:r>
                      <a:endParaRPr lang="en-GB" sz="1200">
                        <a:solidFill>
                          <a:srgbClr val="000000"/>
                        </a:solidFill>
                        <a:latin typeface="Aptos"/>
                        <a:cs typeface="Aptos"/>
                      </a:endParaRPr>
                    </a:p>
                  </a:txBody>
                  <a:tcPr marL="101600" marR="101600" marT="50800" marB="50800" anchor="ctr">
                    <a:lnL w="0">
                      <a:noFill/>
                    </a:lnL>
                    <a:lnR w="0">
                      <a:noFill/>
                    </a:lnR>
                    <a:lnT w="0">
                      <a:noFill/>
                    </a:lnT>
                    <a:lnB w="9525" cap="flat" cmpd="sng" algn="ctr">
                      <a:solidFill>
                        <a:srgbClr val="E8E9E6"/>
                      </a:solidFill>
                      <a:prstDash val="solid"/>
                    </a:lnB>
                    <a:noFill/>
                  </a:tcPr>
                </a:tc>
                <a:tc>
                  <a:txBody>
                    <a:bodyPr/>
                    <a:lstStyle/>
                    <a:p>
                      <a:pPr marL="0" indent="0" algn="r">
                        <a:spcBef>
                          <a:spcPts val="0"/>
                        </a:spcBef>
                        <a:spcAft>
                          <a:spcPts val="0"/>
                        </a:spcAft>
                        <a:buNone/>
                      </a:pPr>
                      <a:r>
                        <a:rPr lang="en-GB" sz="1200">
                          <a:solidFill>
                            <a:srgbClr val="000000"/>
                          </a:solidFill>
                          <a:latin typeface="Aptos"/>
                          <a:cs typeface="Aptos"/>
                        </a:rPr>
                        <a:t>860</a:t>
                      </a:r>
                      <a:endParaRPr lang="en-GB" sz="1200">
                        <a:solidFill>
                          <a:srgbClr val="000000"/>
                        </a:solidFill>
                        <a:latin typeface="Aptos"/>
                        <a:cs typeface="Aptos"/>
                      </a:endParaRPr>
                    </a:p>
                  </a:txBody>
                  <a:tcPr marL="101600" marR="101600" marT="50800" marB="50800" anchor="ctr">
                    <a:lnL w="0">
                      <a:noFill/>
                    </a:lnL>
                    <a:lnR w="0">
                      <a:noFill/>
                    </a:lnR>
                    <a:lnT w="0">
                      <a:noFill/>
                    </a:lnT>
                    <a:lnB w="9525" cap="flat" cmpd="sng" algn="ctr">
                      <a:solidFill>
                        <a:srgbClr val="E8E9E6"/>
                      </a:solidFill>
                      <a:prstDash val="solid"/>
                    </a:lnB>
                    <a:noFill/>
                  </a:tcPr>
                </a:tc>
                <a:tc>
                  <a:txBody>
                    <a:bodyPr/>
                    <a:lstStyle/>
                    <a:p>
                      <a:pPr marL="0" indent="0" algn="r">
                        <a:spcBef>
                          <a:spcPts val="0"/>
                        </a:spcBef>
                        <a:spcAft>
                          <a:spcPts val="0"/>
                        </a:spcAft>
                        <a:buNone/>
                      </a:pPr>
                      <a:r>
                        <a:rPr lang="en-GB" sz="1200">
                          <a:solidFill>
                            <a:srgbClr val="000000"/>
                          </a:solidFill>
                          <a:latin typeface="Aptos"/>
                          <a:cs typeface="Aptos"/>
                        </a:rPr>
                        <a:t>910</a:t>
                      </a:r>
                      <a:endParaRPr lang="en-GB" sz="1200">
                        <a:solidFill>
                          <a:srgbClr val="000000"/>
                        </a:solidFill>
                        <a:latin typeface="Aptos"/>
                        <a:cs typeface="Aptos"/>
                      </a:endParaRPr>
                    </a:p>
                  </a:txBody>
                  <a:tcPr marL="101600" marR="101600" marT="50800" marB="50800" anchor="ctr">
                    <a:lnL w="0">
                      <a:noFill/>
                    </a:lnL>
                    <a:lnR w="0">
                      <a:noFill/>
                    </a:lnR>
                    <a:lnT w="0">
                      <a:noFill/>
                    </a:lnT>
                    <a:lnB w="9525" cap="flat" cmpd="sng" algn="ctr">
                      <a:solidFill>
                        <a:srgbClr val="E8E9E6"/>
                      </a:solidFill>
                      <a:prstDash val="solid"/>
                    </a:lnB>
                    <a:noFill/>
                  </a:tcPr>
                </a:tc>
                <a:tc>
                  <a:txBody>
                    <a:bodyPr/>
                    <a:lstStyle/>
                    <a:p>
                      <a:pPr marL="0" indent="0" algn="r">
                        <a:spcBef>
                          <a:spcPts val="0"/>
                        </a:spcBef>
                        <a:spcAft>
                          <a:spcPts val="0"/>
                        </a:spcAft>
                        <a:buNone/>
                      </a:pPr>
                      <a:r>
                        <a:rPr lang="en-GB" sz="1200">
                          <a:solidFill>
                            <a:srgbClr val="000000"/>
                          </a:solidFill>
                          <a:latin typeface="Aptos"/>
                          <a:cs typeface="Aptos"/>
                        </a:rPr>
                        <a:t>6</a:t>
                      </a:r>
                      <a:endParaRPr lang="en-GB" sz="1200">
                        <a:solidFill>
                          <a:srgbClr val="000000"/>
                        </a:solidFill>
                        <a:latin typeface="Aptos"/>
                        <a:cs typeface="Aptos"/>
                      </a:endParaRPr>
                    </a:p>
                  </a:txBody>
                  <a:tcPr marL="101600" marR="101600" marT="50800" marB="508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r>
                        <a:rPr lang="en-GB" sz="1200">
                          <a:solidFill>
                            <a:srgbClr val="4A4A4C"/>
                          </a:solidFill>
                          <a:latin typeface="Aptos"/>
                          <a:cs typeface="Aptos"/>
                        </a:rPr>
                        <a:t>Units in the column heading, not in each cell</a:t>
                      </a:r>
                      <a:endParaRPr lang="en-GB" sz="1200">
                        <a:solidFill>
                          <a:srgbClr val="4A4A4C"/>
                        </a:solidFill>
                        <a:latin typeface="Aptos"/>
                        <a:cs typeface="Aptos"/>
                      </a:endParaRPr>
                    </a:p>
                  </a:txBody>
                  <a:tcPr marL="101600" marR="101600" marT="50800" marB="50800" anchor="ctr">
                    <a:lnL w="0">
                      <a:noFill/>
                    </a:lnL>
                    <a:lnR w="0">
                      <a:noFill/>
                    </a:lnR>
                    <a:lnT w="0">
                      <a:noFill/>
                    </a:lnT>
                    <a:lnB w="9525" cap="flat" cmpd="sng" algn="ctr">
                      <a:solidFill>
                        <a:srgbClr val="E8E9E6"/>
                      </a:solidFill>
                      <a:prstDash val="solid"/>
                    </a:lnB>
                    <a:noFill/>
                  </a:tcPr>
                </a:tc>
              </a:tr>
              <a:tr h="558800">
                <a:tc>
                  <a:txBody>
                    <a:bodyPr/>
                    <a:lstStyle/>
                    <a:p>
                      <a:pPr marL="0" indent="0" algn="l">
                        <a:spcBef>
                          <a:spcPts val="0"/>
                        </a:spcBef>
                        <a:spcAft>
                          <a:spcPts val="0"/>
                        </a:spcAft>
                        <a:buNone/>
                      </a:pPr>
                      <a:r>
                        <a:rPr lang="en-GB" sz="1200">
                          <a:solidFill>
                            <a:srgbClr val="000000"/>
                          </a:solidFill>
                          <a:latin typeface="Aptos"/>
                          <a:cs typeface="Aptos"/>
                        </a:rPr>
                        <a:t>Blended finance</a:t>
                      </a:r>
                      <a:endParaRPr lang="en-GB" sz="1200">
                        <a:solidFill>
                          <a:srgbClr val="000000"/>
                        </a:solidFill>
                        <a:latin typeface="Aptos"/>
                        <a:cs typeface="Aptos"/>
                      </a:endParaRPr>
                    </a:p>
                  </a:txBody>
                  <a:tcPr marL="101600" marR="101600" marT="50800" marB="50800" anchor="ctr">
                    <a:lnL w="0">
                      <a:noFill/>
                    </a:lnL>
                    <a:lnR w="0">
                      <a:noFill/>
                    </a:lnR>
                    <a:lnT w="0">
                      <a:noFill/>
                    </a:lnT>
                    <a:lnB w="9525" cap="flat" cmpd="sng" algn="ctr">
                      <a:solidFill>
                        <a:srgbClr val="E8E9E6"/>
                      </a:solidFill>
                      <a:prstDash val="solid"/>
                    </a:lnB>
                    <a:noFill/>
                  </a:tcPr>
                </a:tc>
                <a:tc>
                  <a:txBody>
                    <a:bodyPr/>
                    <a:lstStyle/>
                    <a:p>
                      <a:pPr marL="0" indent="0" algn="r">
                        <a:spcBef>
                          <a:spcPts val="0"/>
                        </a:spcBef>
                        <a:spcAft>
                          <a:spcPts val="0"/>
                        </a:spcAft>
                        <a:buNone/>
                      </a:pPr>
                      <a:r>
                        <a:rPr lang="en-GB" sz="1200">
                          <a:solidFill>
                            <a:srgbClr val="000000"/>
                          </a:solidFill>
                          <a:latin typeface="Aptos"/>
                          <a:cs typeface="Aptos"/>
                        </a:rPr>
                        <a:t>420</a:t>
                      </a:r>
                      <a:endParaRPr lang="en-GB" sz="1200">
                        <a:solidFill>
                          <a:srgbClr val="000000"/>
                        </a:solidFill>
                        <a:latin typeface="Aptos"/>
                        <a:cs typeface="Aptos"/>
                      </a:endParaRPr>
                    </a:p>
                  </a:txBody>
                  <a:tcPr marL="101600" marR="101600" marT="50800" marB="50800" anchor="ctr">
                    <a:lnL w="0">
                      <a:noFill/>
                    </a:lnL>
                    <a:lnR w="0">
                      <a:noFill/>
                    </a:lnR>
                    <a:lnT w="0">
                      <a:noFill/>
                    </a:lnT>
                    <a:lnB w="9525" cap="flat" cmpd="sng" algn="ctr">
                      <a:solidFill>
                        <a:srgbClr val="E8E9E6"/>
                      </a:solidFill>
                      <a:prstDash val="solid"/>
                    </a:lnB>
                    <a:noFill/>
                  </a:tcPr>
                </a:tc>
                <a:tc>
                  <a:txBody>
                    <a:bodyPr/>
                    <a:lstStyle/>
                    <a:p>
                      <a:pPr marL="0" indent="0" algn="r">
                        <a:spcBef>
                          <a:spcPts val="0"/>
                        </a:spcBef>
                        <a:spcAft>
                          <a:spcPts val="0"/>
                        </a:spcAft>
                        <a:buNone/>
                      </a:pPr>
                      <a:r>
                        <a:rPr lang="en-GB" sz="1200">
                          <a:solidFill>
                            <a:srgbClr val="000000"/>
                          </a:solidFill>
                          <a:latin typeface="Aptos"/>
                          <a:cs typeface="Aptos"/>
                        </a:rPr>
                        <a:t>510</a:t>
                      </a:r>
                      <a:endParaRPr lang="en-GB" sz="1200">
                        <a:solidFill>
                          <a:srgbClr val="000000"/>
                        </a:solidFill>
                        <a:latin typeface="Aptos"/>
                        <a:cs typeface="Aptos"/>
                      </a:endParaRPr>
                    </a:p>
                  </a:txBody>
                  <a:tcPr marL="101600" marR="101600" marT="50800" marB="50800" anchor="ctr">
                    <a:lnL w="0">
                      <a:noFill/>
                    </a:lnL>
                    <a:lnR w="0">
                      <a:noFill/>
                    </a:lnR>
                    <a:lnT w="0">
                      <a:noFill/>
                    </a:lnT>
                    <a:lnB w="9525" cap="flat" cmpd="sng" algn="ctr">
                      <a:solidFill>
                        <a:srgbClr val="E8E9E6"/>
                      </a:solidFill>
                      <a:prstDash val="solid"/>
                    </a:lnB>
                    <a:noFill/>
                  </a:tcPr>
                </a:tc>
                <a:tc>
                  <a:txBody>
                    <a:bodyPr/>
                    <a:lstStyle/>
                    <a:p>
                      <a:pPr marL="0" indent="0" algn="r">
                        <a:spcBef>
                          <a:spcPts val="0"/>
                        </a:spcBef>
                        <a:spcAft>
                          <a:spcPts val="0"/>
                        </a:spcAft>
                        <a:buNone/>
                      </a:pPr>
                      <a:r>
                        <a:rPr lang="en-GB" sz="1200">
                          <a:solidFill>
                            <a:srgbClr val="000000"/>
                          </a:solidFill>
                          <a:latin typeface="Aptos"/>
                          <a:cs typeface="Aptos"/>
                        </a:rPr>
                        <a:t>21</a:t>
                      </a:r>
                      <a:endParaRPr lang="en-GB" sz="1200">
                        <a:solidFill>
                          <a:srgbClr val="000000"/>
                        </a:solidFill>
                        <a:latin typeface="Aptos"/>
                        <a:cs typeface="Aptos"/>
                      </a:endParaRPr>
                    </a:p>
                  </a:txBody>
                  <a:tcPr marL="101600" marR="101600" marT="50800" marB="508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r>
                        <a:rPr lang="en-GB" sz="1200">
                          <a:solidFill>
                            <a:srgbClr val="4A4A4C"/>
                          </a:solidFill>
                          <a:latin typeface="Aptos"/>
                          <a:cs typeface="Aptos"/>
                        </a:rPr>
                        <a:t>The % sign in tables, ‘per cent’ in sentences</a:t>
                      </a:r>
                      <a:endParaRPr lang="en-GB" sz="1200">
                        <a:solidFill>
                          <a:srgbClr val="4A4A4C"/>
                        </a:solidFill>
                        <a:latin typeface="Aptos"/>
                        <a:cs typeface="Aptos"/>
                      </a:endParaRPr>
                    </a:p>
                  </a:txBody>
                  <a:tcPr marL="101600" marR="101600" marT="50800" marB="50800" anchor="ctr">
                    <a:lnL w="0">
                      <a:noFill/>
                    </a:lnL>
                    <a:lnR w="0">
                      <a:noFill/>
                    </a:lnR>
                    <a:lnT w="0">
                      <a:noFill/>
                    </a:lnT>
                    <a:lnB w="9525" cap="flat" cmpd="sng" algn="ctr">
                      <a:solidFill>
                        <a:srgbClr val="E8E9E6"/>
                      </a:solidFill>
                      <a:prstDash val="solid"/>
                    </a:lnB>
                    <a:noFill/>
                  </a:tcPr>
                </a:tc>
              </a:tr>
              <a:tr h="558800">
                <a:tc>
                  <a:txBody>
                    <a:bodyPr/>
                    <a:lstStyle/>
                    <a:p>
                      <a:pPr marL="0" indent="0" algn="l">
                        <a:spcBef>
                          <a:spcPts val="0"/>
                        </a:spcBef>
                        <a:spcAft>
                          <a:spcPts val="0"/>
                        </a:spcAft>
                        <a:buNone/>
                      </a:pPr>
                      <a:r>
                        <a:rPr lang="en-GB" sz="1200">
                          <a:solidFill>
                            <a:srgbClr val="000000"/>
                          </a:solidFill>
                          <a:latin typeface="Aptos"/>
                          <a:cs typeface="Aptos"/>
                        </a:rPr>
                        <a:t>Guarantees</a:t>
                      </a:r>
                      <a:endParaRPr lang="en-GB" sz="1200">
                        <a:solidFill>
                          <a:srgbClr val="000000"/>
                        </a:solidFill>
                        <a:latin typeface="Aptos"/>
                        <a:cs typeface="Aptos"/>
                      </a:endParaRPr>
                    </a:p>
                  </a:txBody>
                  <a:tcPr marL="101600" marR="101600" marT="50800" marB="50800" anchor="ctr">
                    <a:lnL w="0">
                      <a:noFill/>
                    </a:lnL>
                    <a:lnR w="0">
                      <a:noFill/>
                    </a:lnR>
                    <a:lnT w="0">
                      <a:noFill/>
                    </a:lnT>
                    <a:lnB w="9525" cap="flat" cmpd="sng" algn="ctr">
                      <a:solidFill>
                        <a:srgbClr val="E8E9E6"/>
                      </a:solidFill>
                      <a:prstDash val="solid"/>
                    </a:lnB>
                    <a:noFill/>
                  </a:tcPr>
                </a:tc>
                <a:tc>
                  <a:txBody>
                    <a:bodyPr/>
                    <a:lstStyle/>
                    <a:p>
                      <a:pPr marL="0" indent="0" algn="r">
                        <a:spcBef>
                          <a:spcPts val="0"/>
                        </a:spcBef>
                        <a:spcAft>
                          <a:spcPts val="0"/>
                        </a:spcAft>
                        <a:buNone/>
                      </a:pPr>
                      <a:r>
                        <a:rPr lang="en-GB" sz="1200">
                          <a:solidFill>
                            <a:srgbClr val="000000"/>
                          </a:solidFill>
                          <a:latin typeface="Aptos"/>
                          <a:cs typeface="Aptos"/>
                        </a:rPr>
                        <a:t>180</a:t>
                      </a:r>
                      <a:endParaRPr lang="en-GB" sz="1200">
                        <a:solidFill>
                          <a:srgbClr val="000000"/>
                        </a:solidFill>
                        <a:latin typeface="Aptos"/>
                        <a:cs typeface="Aptos"/>
                      </a:endParaRPr>
                    </a:p>
                  </a:txBody>
                  <a:tcPr marL="101600" marR="101600" marT="50800" marB="50800" anchor="ctr">
                    <a:lnL w="0">
                      <a:noFill/>
                    </a:lnL>
                    <a:lnR w="0">
                      <a:noFill/>
                    </a:lnR>
                    <a:lnT w="0">
                      <a:noFill/>
                    </a:lnT>
                    <a:lnB w="9525" cap="flat" cmpd="sng" algn="ctr">
                      <a:solidFill>
                        <a:srgbClr val="E8E9E6"/>
                      </a:solidFill>
                      <a:prstDash val="solid"/>
                    </a:lnB>
                    <a:noFill/>
                  </a:tcPr>
                </a:tc>
                <a:tc>
                  <a:txBody>
                    <a:bodyPr/>
                    <a:lstStyle/>
                    <a:p>
                      <a:pPr marL="0" indent="0" algn="r">
                        <a:spcBef>
                          <a:spcPts val="0"/>
                        </a:spcBef>
                        <a:spcAft>
                          <a:spcPts val="0"/>
                        </a:spcAft>
                        <a:buNone/>
                      </a:pPr>
                      <a:r>
                        <a:rPr lang="en-GB" sz="1200">
                          <a:solidFill>
                            <a:srgbClr val="000000"/>
                          </a:solidFill>
                          <a:latin typeface="Aptos"/>
                          <a:cs typeface="Aptos"/>
                        </a:rPr>
                        <a:t>240</a:t>
                      </a:r>
                      <a:endParaRPr lang="en-GB" sz="1200">
                        <a:solidFill>
                          <a:srgbClr val="000000"/>
                        </a:solidFill>
                        <a:latin typeface="Aptos"/>
                        <a:cs typeface="Aptos"/>
                      </a:endParaRPr>
                    </a:p>
                  </a:txBody>
                  <a:tcPr marL="101600" marR="101600" marT="50800" marB="50800" anchor="ctr">
                    <a:lnL w="0">
                      <a:noFill/>
                    </a:lnL>
                    <a:lnR w="0">
                      <a:noFill/>
                    </a:lnR>
                    <a:lnT w="0">
                      <a:noFill/>
                    </a:lnT>
                    <a:lnB w="9525" cap="flat" cmpd="sng" algn="ctr">
                      <a:solidFill>
                        <a:srgbClr val="E8E9E6"/>
                      </a:solidFill>
                      <a:prstDash val="solid"/>
                    </a:lnB>
                    <a:noFill/>
                  </a:tcPr>
                </a:tc>
                <a:tc>
                  <a:txBody>
                    <a:bodyPr/>
                    <a:lstStyle/>
                    <a:p>
                      <a:pPr marL="0" indent="0" algn="r">
                        <a:spcBef>
                          <a:spcPts val="0"/>
                        </a:spcBef>
                        <a:spcAft>
                          <a:spcPts val="0"/>
                        </a:spcAft>
                        <a:buNone/>
                      </a:pPr>
                      <a:r>
                        <a:rPr lang="en-GB" sz="1200">
                          <a:solidFill>
                            <a:srgbClr val="000000"/>
                          </a:solidFill>
                          <a:latin typeface="Aptos"/>
                          <a:cs typeface="Aptos"/>
                        </a:rPr>
                        <a:t>33</a:t>
                      </a:r>
                      <a:endParaRPr lang="en-GB" sz="1200">
                        <a:solidFill>
                          <a:srgbClr val="000000"/>
                        </a:solidFill>
                        <a:latin typeface="Aptos"/>
                        <a:cs typeface="Aptos"/>
                      </a:endParaRPr>
                    </a:p>
                  </a:txBody>
                  <a:tcPr marL="101600" marR="101600" marT="50800" marB="508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r>
                        <a:rPr lang="en-GB" sz="1200">
                          <a:solidFill>
                            <a:srgbClr val="4A4A4C"/>
                          </a:solidFill>
                          <a:latin typeface="Aptos"/>
                          <a:cs typeface="Aptos"/>
                        </a:rPr>
                        <a:t>Light grey rules between rows, no vertical lines</a:t>
                      </a:r>
                      <a:endParaRPr lang="en-GB" sz="1200">
                        <a:solidFill>
                          <a:srgbClr val="4A4A4C"/>
                        </a:solidFill>
                        <a:latin typeface="Aptos"/>
                        <a:cs typeface="Aptos"/>
                      </a:endParaRPr>
                    </a:p>
                  </a:txBody>
                  <a:tcPr marL="101600" marR="101600" marT="50800" marB="50800" anchor="ctr">
                    <a:lnL w="0">
                      <a:noFill/>
                    </a:lnL>
                    <a:lnR w="0">
                      <a:noFill/>
                    </a:lnR>
                    <a:lnT w="0">
                      <a:noFill/>
                    </a:lnT>
                    <a:lnB w="9525" cap="flat" cmpd="sng" algn="ctr">
                      <a:solidFill>
                        <a:srgbClr val="E8E9E6"/>
                      </a:solidFill>
                      <a:prstDash val="solid"/>
                    </a:lnB>
                    <a:noFill/>
                  </a:tcPr>
                </a:tc>
              </a:tr>
              <a:tr h="558800">
                <a:tc>
                  <a:txBody>
                    <a:bodyPr/>
                    <a:lstStyle/>
                    <a:p>
                      <a:pPr marL="0" indent="0" algn="l">
                        <a:spcBef>
                          <a:spcPts val="0"/>
                        </a:spcBef>
                        <a:spcAft>
                          <a:spcPts val="0"/>
                        </a:spcAft>
                        <a:buNone/>
                      </a:pPr>
                      <a:r>
                        <a:rPr lang="en-GB" sz="1200">
                          <a:solidFill>
                            <a:srgbClr val="000000"/>
                          </a:solidFill>
                          <a:latin typeface="Aptos"/>
                          <a:cs typeface="Aptos"/>
                        </a:rPr>
                        <a:t>Results-based finance</a:t>
                      </a:r>
                      <a:endParaRPr lang="en-GB" sz="1200">
                        <a:solidFill>
                          <a:srgbClr val="000000"/>
                        </a:solidFill>
                        <a:latin typeface="Aptos"/>
                        <a:cs typeface="Aptos"/>
                      </a:endParaRPr>
                    </a:p>
                  </a:txBody>
                  <a:tcPr marL="101600" marR="101600" marT="50800" marB="50800" anchor="ctr">
                    <a:lnL w="0">
                      <a:noFill/>
                    </a:lnL>
                    <a:lnR w="0">
                      <a:noFill/>
                    </a:lnR>
                    <a:lnT w="0">
                      <a:noFill/>
                    </a:lnT>
                    <a:lnB w="9525" cap="flat" cmpd="sng" algn="ctr">
                      <a:solidFill>
                        <a:srgbClr val="E8E9E6"/>
                      </a:solidFill>
                      <a:prstDash val="solid"/>
                    </a:lnB>
                    <a:noFill/>
                  </a:tcPr>
                </a:tc>
                <a:tc>
                  <a:txBody>
                    <a:bodyPr/>
                    <a:lstStyle/>
                    <a:p>
                      <a:pPr marL="0" indent="0" algn="r">
                        <a:spcBef>
                          <a:spcPts val="0"/>
                        </a:spcBef>
                        <a:spcAft>
                          <a:spcPts val="0"/>
                        </a:spcAft>
                        <a:buNone/>
                      </a:pPr>
                      <a:r>
                        <a:rPr lang="en-GB" sz="1200">
                          <a:solidFill>
                            <a:srgbClr val="000000"/>
                          </a:solidFill>
                          <a:latin typeface="Aptos"/>
                          <a:cs typeface="Aptos"/>
                        </a:rPr>
                        <a:t>95</a:t>
                      </a:r>
                      <a:endParaRPr lang="en-GB" sz="1200">
                        <a:solidFill>
                          <a:srgbClr val="000000"/>
                        </a:solidFill>
                        <a:latin typeface="Aptos"/>
                        <a:cs typeface="Aptos"/>
                      </a:endParaRPr>
                    </a:p>
                  </a:txBody>
                  <a:tcPr marL="101600" marR="101600" marT="50800" marB="50800" anchor="ctr">
                    <a:lnL w="0">
                      <a:noFill/>
                    </a:lnL>
                    <a:lnR w="0">
                      <a:noFill/>
                    </a:lnR>
                    <a:lnT w="0">
                      <a:noFill/>
                    </a:lnT>
                    <a:lnB w="9525" cap="flat" cmpd="sng" algn="ctr">
                      <a:solidFill>
                        <a:srgbClr val="E8E9E6"/>
                      </a:solidFill>
                      <a:prstDash val="solid"/>
                    </a:lnB>
                    <a:noFill/>
                  </a:tcPr>
                </a:tc>
                <a:tc>
                  <a:txBody>
                    <a:bodyPr/>
                    <a:lstStyle/>
                    <a:p>
                      <a:pPr marL="0" indent="0" algn="r">
                        <a:spcBef>
                          <a:spcPts val="0"/>
                        </a:spcBef>
                        <a:spcAft>
                          <a:spcPts val="0"/>
                        </a:spcAft>
                        <a:buNone/>
                      </a:pPr>
                      <a:r>
                        <a:rPr lang="en-GB" sz="1200">
                          <a:solidFill>
                            <a:srgbClr val="000000"/>
                          </a:solidFill>
                          <a:latin typeface="Aptos"/>
                          <a:cs typeface="Aptos"/>
                        </a:rPr>
                        <a:t>120</a:t>
                      </a:r>
                      <a:endParaRPr lang="en-GB" sz="1200">
                        <a:solidFill>
                          <a:srgbClr val="000000"/>
                        </a:solidFill>
                        <a:latin typeface="Aptos"/>
                        <a:cs typeface="Aptos"/>
                      </a:endParaRPr>
                    </a:p>
                  </a:txBody>
                  <a:tcPr marL="101600" marR="101600" marT="50800" marB="50800" anchor="ctr">
                    <a:lnL w="0">
                      <a:noFill/>
                    </a:lnL>
                    <a:lnR w="0">
                      <a:noFill/>
                    </a:lnR>
                    <a:lnT w="0">
                      <a:noFill/>
                    </a:lnT>
                    <a:lnB w="9525" cap="flat" cmpd="sng" algn="ctr">
                      <a:solidFill>
                        <a:srgbClr val="E8E9E6"/>
                      </a:solidFill>
                      <a:prstDash val="solid"/>
                    </a:lnB>
                    <a:noFill/>
                  </a:tcPr>
                </a:tc>
                <a:tc>
                  <a:txBody>
                    <a:bodyPr/>
                    <a:lstStyle/>
                    <a:p>
                      <a:pPr marL="0" indent="0" algn="r">
                        <a:spcBef>
                          <a:spcPts val="0"/>
                        </a:spcBef>
                        <a:spcAft>
                          <a:spcPts val="0"/>
                        </a:spcAft>
                        <a:buNone/>
                      </a:pPr>
                      <a:r>
                        <a:rPr lang="en-GB" sz="1200">
                          <a:solidFill>
                            <a:srgbClr val="000000"/>
                          </a:solidFill>
                          <a:latin typeface="Aptos"/>
                          <a:cs typeface="Aptos"/>
                        </a:rPr>
                        <a:t>26</a:t>
                      </a:r>
                      <a:endParaRPr lang="en-GB" sz="1200">
                        <a:solidFill>
                          <a:srgbClr val="000000"/>
                        </a:solidFill>
                        <a:latin typeface="Aptos"/>
                        <a:cs typeface="Aptos"/>
                      </a:endParaRPr>
                    </a:p>
                  </a:txBody>
                  <a:tcPr marL="101600" marR="101600" marT="50800" marB="508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r>
                        <a:rPr lang="en-GB" sz="1200">
                          <a:solidFill>
                            <a:srgbClr val="4A4A4C"/>
                          </a:solidFill>
                          <a:latin typeface="Aptos"/>
                          <a:cs typeface="Aptos"/>
                        </a:rPr>
                        <a:t>Order the rows so that the order means something</a:t>
                      </a:r>
                      <a:endParaRPr lang="en-GB" sz="1200">
                        <a:solidFill>
                          <a:srgbClr val="4A4A4C"/>
                        </a:solidFill>
                        <a:latin typeface="Aptos"/>
                        <a:cs typeface="Aptos"/>
                      </a:endParaRPr>
                    </a:p>
                  </a:txBody>
                  <a:tcPr marL="101600" marR="101600" marT="50800" marB="50800" anchor="ctr">
                    <a:lnL w="0">
                      <a:noFill/>
                    </a:lnL>
                    <a:lnR w="0">
                      <a:noFill/>
                    </a:lnR>
                    <a:lnT w="0">
                      <a:noFill/>
                    </a:lnT>
                    <a:lnB w="9525" cap="flat" cmpd="sng" algn="ctr">
                      <a:solidFill>
                        <a:srgbClr val="E8E9E6"/>
                      </a:solidFill>
                      <a:prstDash val="solid"/>
                    </a:lnB>
                    <a:noFill/>
                  </a:tcPr>
                </a:tc>
              </a:tr>
              <a:tr h="558800">
                <a:tc>
                  <a:txBody>
                    <a:bodyPr/>
                    <a:lstStyle/>
                    <a:p>
                      <a:pPr marL="0" indent="0" algn="l">
                        <a:spcBef>
                          <a:spcPts val="0"/>
                        </a:spcBef>
                        <a:spcAft>
                          <a:spcPts val="0"/>
                        </a:spcAft>
                        <a:buNone/>
                      </a:pPr>
                      <a:r>
                        <a:rPr lang="en-GB" sz="1200" b="1">
                          <a:solidFill>
                            <a:srgbClr val="000000"/>
                          </a:solidFill>
                          <a:latin typeface="Aptos"/>
                          <a:cs typeface="Aptos"/>
                        </a:rPr>
                        <a:t>Total</a:t>
                      </a:r>
                      <a:endParaRPr lang="en-GB" sz="1200">
                        <a:solidFill>
                          <a:srgbClr val="000000"/>
                        </a:solidFill>
                        <a:latin typeface="Aptos"/>
                        <a:cs typeface="Aptos"/>
                      </a:endParaRPr>
                    </a:p>
                  </a:txBody>
                  <a:tcPr marL="101600" marR="101600" marT="50800" marB="50800" anchor="ctr">
                    <a:lnL w="0">
                      <a:noFill/>
                    </a:lnL>
                    <a:lnR w="0">
                      <a:noFill/>
                    </a:lnR>
                    <a:lnT w="12700" cap="flat" cmpd="sng" algn="ctr">
                      <a:solidFill>
                        <a:srgbClr val="022338"/>
                      </a:solidFill>
                      <a:prstDash val="solid"/>
                    </a:lnT>
                    <a:lnB w="9525" cap="flat" cmpd="sng" algn="ctr">
                      <a:solidFill>
                        <a:srgbClr val="E8E9E6"/>
                      </a:solidFill>
                      <a:prstDash val="solid"/>
                    </a:lnB>
                    <a:solidFill>
                      <a:srgbClr val="F7F8F5"/>
                    </a:solidFill>
                  </a:tcPr>
                </a:tc>
                <a:tc>
                  <a:txBody>
                    <a:bodyPr/>
                    <a:lstStyle/>
                    <a:p>
                      <a:pPr marL="0" indent="0" algn="r">
                        <a:spcBef>
                          <a:spcPts val="0"/>
                        </a:spcBef>
                        <a:spcAft>
                          <a:spcPts val="0"/>
                        </a:spcAft>
                        <a:buNone/>
                      </a:pPr>
                      <a:r>
                        <a:rPr lang="en-GB" sz="1200" b="1">
                          <a:solidFill>
                            <a:srgbClr val="000000"/>
                          </a:solidFill>
                          <a:latin typeface="Aptos"/>
                          <a:cs typeface="Aptos"/>
                        </a:rPr>
                        <a:t>2,805</a:t>
                      </a:r>
                      <a:endParaRPr lang="en-GB" sz="1200">
                        <a:solidFill>
                          <a:srgbClr val="000000"/>
                        </a:solidFill>
                        <a:latin typeface="Aptos"/>
                        <a:cs typeface="Aptos"/>
                      </a:endParaRPr>
                    </a:p>
                  </a:txBody>
                  <a:tcPr marL="101600" marR="101600" marT="50800" marB="50800" anchor="ctr">
                    <a:lnL w="0">
                      <a:noFill/>
                    </a:lnL>
                    <a:lnR w="0">
                      <a:noFill/>
                    </a:lnR>
                    <a:lnT w="12700" cap="flat" cmpd="sng" algn="ctr">
                      <a:solidFill>
                        <a:srgbClr val="022338"/>
                      </a:solidFill>
                      <a:prstDash val="solid"/>
                    </a:lnT>
                    <a:lnB w="9525" cap="flat" cmpd="sng" algn="ctr">
                      <a:solidFill>
                        <a:srgbClr val="E8E9E6"/>
                      </a:solidFill>
                      <a:prstDash val="solid"/>
                    </a:lnB>
                    <a:solidFill>
                      <a:srgbClr val="F7F8F5"/>
                    </a:solidFill>
                  </a:tcPr>
                </a:tc>
                <a:tc>
                  <a:txBody>
                    <a:bodyPr/>
                    <a:lstStyle/>
                    <a:p>
                      <a:pPr marL="0" indent="0" algn="r">
                        <a:spcBef>
                          <a:spcPts val="0"/>
                        </a:spcBef>
                        <a:spcAft>
                          <a:spcPts val="0"/>
                        </a:spcAft>
                        <a:buNone/>
                      </a:pPr>
                      <a:r>
                        <a:rPr lang="en-GB" sz="1200" b="1">
                          <a:solidFill>
                            <a:srgbClr val="000000"/>
                          </a:solidFill>
                          <a:latin typeface="Aptos"/>
                          <a:cs typeface="Aptos"/>
                        </a:rPr>
                        <a:t>3,260</a:t>
                      </a:r>
                      <a:endParaRPr lang="en-GB" sz="1200">
                        <a:solidFill>
                          <a:srgbClr val="000000"/>
                        </a:solidFill>
                        <a:latin typeface="Aptos"/>
                        <a:cs typeface="Aptos"/>
                      </a:endParaRPr>
                    </a:p>
                  </a:txBody>
                  <a:tcPr marL="101600" marR="101600" marT="50800" marB="50800" anchor="ctr">
                    <a:lnL w="0">
                      <a:noFill/>
                    </a:lnL>
                    <a:lnR w="0">
                      <a:noFill/>
                    </a:lnR>
                    <a:lnT w="12700" cap="flat" cmpd="sng" algn="ctr">
                      <a:solidFill>
                        <a:srgbClr val="022338"/>
                      </a:solidFill>
                      <a:prstDash val="solid"/>
                    </a:lnT>
                    <a:lnB w="9525" cap="flat" cmpd="sng" algn="ctr">
                      <a:solidFill>
                        <a:srgbClr val="E8E9E6"/>
                      </a:solidFill>
                      <a:prstDash val="solid"/>
                    </a:lnB>
                    <a:solidFill>
                      <a:srgbClr val="F7F8F5"/>
                    </a:solidFill>
                  </a:tcPr>
                </a:tc>
                <a:tc>
                  <a:txBody>
                    <a:bodyPr/>
                    <a:lstStyle/>
                    <a:p>
                      <a:pPr marL="0" indent="0" algn="r">
                        <a:spcBef>
                          <a:spcPts val="0"/>
                        </a:spcBef>
                        <a:spcAft>
                          <a:spcPts val="0"/>
                        </a:spcAft>
                        <a:buNone/>
                      </a:pPr>
                      <a:r>
                        <a:rPr lang="en-GB" sz="1200" b="1">
                          <a:solidFill>
                            <a:srgbClr val="000000"/>
                          </a:solidFill>
                          <a:latin typeface="Aptos"/>
                          <a:cs typeface="Aptos"/>
                        </a:rPr>
                        <a:t>16</a:t>
                      </a:r>
                      <a:endParaRPr lang="en-GB" sz="1200">
                        <a:solidFill>
                          <a:srgbClr val="000000"/>
                        </a:solidFill>
                        <a:latin typeface="Aptos"/>
                        <a:cs typeface="Aptos"/>
                      </a:endParaRPr>
                    </a:p>
                  </a:txBody>
                  <a:tcPr marL="101600" marR="101600" marT="50800" marB="50800" anchor="ctr">
                    <a:lnL w="0">
                      <a:noFill/>
                    </a:lnL>
                    <a:lnR w="0">
                      <a:noFill/>
                    </a:lnR>
                    <a:lnT w="12700" cap="flat" cmpd="sng" algn="ctr">
                      <a:solidFill>
                        <a:srgbClr val="022338"/>
                      </a:solidFill>
                      <a:prstDash val="solid"/>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r>
                        <a:rPr lang="en-GB" sz="1200">
                          <a:solidFill>
                            <a:srgbClr val="4A4A4C"/>
                          </a:solidFill>
                          <a:latin typeface="Aptos"/>
                          <a:cs typeface="Aptos"/>
                        </a:rPr>
                        <a:t>Totals in bold, on the off-white row</a:t>
                      </a:r>
                      <a:endParaRPr lang="en-GB" sz="1200">
                        <a:solidFill>
                          <a:srgbClr val="4A4A4C"/>
                        </a:solidFill>
                        <a:latin typeface="Aptos"/>
                        <a:cs typeface="Aptos"/>
                      </a:endParaRPr>
                    </a:p>
                  </a:txBody>
                  <a:tcPr marL="101600" marR="101600" marT="50800" marB="50800" anchor="ctr">
                    <a:lnL w="0">
                      <a:noFill/>
                    </a:lnL>
                    <a:lnR w="0">
                      <a:noFill/>
                    </a:lnR>
                    <a:lnT w="12700" cap="flat" cmpd="sng" algn="ctr">
                      <a:solidFill>
                        <a:srgbClr val="022338"/>
                      </a:solidFill>
                      <a:prstDash val="solid"/>
                    </a:lnT>
                    <a:lnB w="9525" cap="flat" cmpd="sng" algn="ctr">
                      <a:solidFill>
                        <a:srgbClr val="E8E9E6"/>
                      </a:solidFill>
                      <a:prstDash val="solid"/>
                    </a:lnB>
                    <a:solidFill>
                      <a:srgbClr val="F7F8F5"/>
                    </a:solidFill>
                  </a:tcPr>
                </a:tc>
              </a:tr>
            </a:tbl>
          </a:graphicData>
        </a:graphic>
      </p:graphicFrame>
      <p:sp>
        <p:nvSpPr>
          <p:cNvPr id="4" name="Source"/>
          <p:cNvSpPr txBox="1"/>
          <p:nvPr/>
        </p:nvSpPr>
        <p:spPr>
          <a:xfrm>
            <a:off x="508000" y="6045200"/>
            <a:ext cx="8890000" cy="304800"/>
          </a:xfrm>
          <a:prstGeom prst="rect">
            <a:avLst/>
          </a:prstGeom>
          <a:noFill/>
          <a:ln>
            <a:noFill/>
          </a:ln>
        </p:spPr>
        <p:txBody>
          <a:bodyPr wrap="square" lIns="0" tIns="0" rIns="0" bIns="0" rtlCol="0" anchor="b" anchorCtr="0">
            <a:noAutofit/>
          </a:bodyPr>
          <a:lstStyle/>
          <a:p>
            <a:pPr marL="0" indent="0" algn="l">
              <a:spcBef>
                <a:spcPts val="0"/>
              </a:spcBef>
              <a:spcAft>
                <a:spcPts val="0"/>
              </a:spcAft>
              <a:buNone/>
            </a:pPr>
            <a:r>
              <a:rPr lang="en-GB" sz="800">
                <a:solidFill>
                  <a:srgbClr val="4A4A4C"/>
                </a:solidFill>
                <a:latin typeface="Aptos"/>
                <a:cs typeface="Aptos"/>
              </a:rPr>
              <a:t>Source: organisation, dataset (year). Illustrative figures.</a:t>
            </a:r>
            <a:endParaRPr lang="en-GB" sz="800">
              <a:solidFill>
                <a:srgbClr val="4A4A4C"/>
              </a:solidFill>
              <a:latin typeface="Aptos"/>
              <a:cs typeface="Aptos"/>
            </a:endParaRPr>
          </a:p>
        </p:txBody>
      </p:sp>
      <p:sp>
        <p:nvSpPr>
          <p:cNvPr id="5" name="Slide number"/>
          <p:cNvSpPr>
            <a:spLocks noGrp="1"/>
          </p:cNvSpPr>
          <p:nvPr>
            <p:ph type="sldNum" sz="quarter" idx="12"/>
          </p:nvPr>
        </p:nvSpPr>
        <p:spPr/>
        <p:txBody>
          <a:bodyPr/>
          <a:lstStyle/>
          <a:p>
            <a:fld id="{B6F15528-21DE-4FAA-801E-634DDDAF4B2B}" type="slidenum">
              <a:rPr lang="en-GB"/>
              <a:t>9</a:t>
            </a:fld>
            <a:endParaRPr lang="en-GB"/>
          </a:p>
        </p:txBody>
      </p:sp>
    </p:spTree>
    <p:extLst>
      <p:ext uri="{BB962C8B-B14F-4D97-AF65-F5344CB8AC3E}">
        <p14:creationId xmlns:p14="http://schemas.microsoft.com/office/powerpoint/2010/main" val="1785516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Action title: how the work moves from question to answer in four steps</a:t>
            </a:r>
            <a:endParaRPr lang="en-GB"/>
          </a:p>
        </p:txBody>
      </p:sp>
      <p:sp>
        <p:nvSpPr>
          <p:cNvPr id="3" name="Step 1"/>
          <p:cNvSpPr/>
          <p:nvPr/>
        </p:nvSpPr>
        <p:spPr>
          <a:xfrm>
            <a:off x="508000" y="1371600"/>
            <a:ext cx="2794000" cy="660400"/>
          </a:xfrm>
          <a:prstGeom prst="homePlate">
            <a:avLst>
              <a:gd name="adj" fmla="val 30769"/>
            </a:avLst>
          </a:prstGeom>
          <a:solidFill>
            <a:srgbClr val="022338"/>
          </a:solidFill>
          <a:ln>
            <a:noFill/>
          </a:ln>
        </p:spPr>
        <p:txBody>
          <a:bodyPr wrap="square" lIns="203200" tIns="0" rIns="203200" bIns="0" rtlCol="0" anchor="ctr" anchorCtr="0">
            <a:noAutofit/>
          </a:bodyPr>
          <a:lstStyle/>
          <a:p>
            <a:pPr marL="0" indent="0" algn="ctr">
              <a:buNone/>
            </a:pPr>
            <a:r>
              <a:rPr lang="en-GB" sz="1600" b="1">
                <a:solidFill>
                  <a:srgbClr val="BED62F"/>
                </a:solidFill>
                <a:latin typeface="Aptos"/>
                <a:cs typeface="Aptos"/>
              </a:rPr>
              <a:t>1 </a:t>
            </a:r>
            <a:r>
              <a:rPr lang="en-GB" sz="1600" b="1">
                <a:solidFill>
                  <a:srgbClr val="FFFFFF"/>
                </a:solidFill>
                <a:latin typeface="Aptos"/>
                <a:cs typeface="Aptos"/>
              </a:rPr>
              <a:t>Diagnose</a:t>
            </a:r>
            <a:endParaRPr lang="en-GB" sz="1600">
              <a:solidFill>
                <a:srgbClr val="FFFFFF"/>
              </a:solidFill>
              <a:latin typeface="Aptos"/>
              <a:cs typeface="Aptos"/>
            </a:endParaRPr>
          </a:p>
        </p:txBody>
      </p:sp>
      <p:sp>
        <p:nvSpPr>
          <p:cNvPr id="4" name="Step panel 1"/>
          <p:cNvSpPr/>
          <p:nvPr/>
        </p:nvSpPr>
        <p:spPr>
          <a:xfrm>
            <a:off x="508000" y="2184400"/>
            <a:ext cx="2641600" cy="3759200"/>
          </a:xfrm>
          <a:prstGeom prst="rect">
            <a:avLst/>
          </a:prstGeom>
          <a:solidFill>
            <a:srgbClr val="F7F8F5"/>
          </a:solidFill>
          <a:ln>
            <a:noFill/>
          </a:ln>
        </p:spPr>
      </p:sp>
      <p:sp>
        <p:nvSpPr>
          <p:cNvPr id="5" name="Step timing 1"/>
          <p:cNvSpPr txBox="1"/>
          <p:nvPr/>
        </p:nvSpPr>
        <p:spPr>
          <a:xfrm>
            <a:off x="685800" y="2362200"/>
            <a:ext cx="2286000" cy="2286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b="1">
                <a:solidFill>
                  <a:srgbClr val="4A4A4C"/>
                </a:solidFill>
                <a:latin typeface="Aptos"/>
                <a:cs typeface="Aptos"/>
              </a:rPr>
              <a:t>Weeks 1 to 4</a:t>
            </a:r>
            <a:endParaRPr lang="en-GB" sz="1200">
              <a:solidFill>
                <a:srgbClr val="4A4A4C"/>
              </a:solidFill>
              <a:latin typeface="Aptos"/>
              <a:cs typeface="Aptos"/>
            </a:endParaRPr>
          </a:p>
        </p:txBody>
      </p:sp>
      <p:sp>
        <p:nvSpPr>
          <p:cNvPr id="6" name="Step text 1"/>
          <p:cNvSpPr txBox="1"/>
          <p:nvPr/>
        </p:nvSpPr>
        <p:spPr>
          <a:xfrm>
            <a:off x="685800" y="2717800"/>
            <a:ext cx="2286000" cy="2159000"/>
          </a:xfrm>
          <a:prstGeom prst="rect">
            <a:avLst/>
          </a:prstGeom>
          <a:noFill/>
          <a:ln>
            <a:noFill/>
          </a:ln>
        </p:spPr>
        <p:txBody>
          <a:bodyPr wrap="square" lIns="0" tIns="0" rIns="0" bIns="0" rtlCol="0" anchor="t" anchorCtr="0">
            <a:noAutofit/>
          </a:bodyPr>
          <a:lstStyle/>
          <a:p>
            <a:pPr marL="203200" indent="-203200" algn="l">
              <a:spcBef>
                <a:spcPts val="0"/>
              </a:spcBef>
              <a:spcAft>
                <a:spcPts val="600"/>
              </a:spcAft>
              <a:buClr>
                <a:srgbClr val="328840"/>
              </a:buClr>
              <a:buSzPct val="80000"/>
              <a:buFont typeface="Arial" panose="020B0604020202020204" pitchFamily="34" charset="0"/>
              <a:buChar char="■"/>
            </a:pPr>
            <a:r>
              <a:rPr lang="en-GB" sz="1200">
                <a:solidFill>
                  <a:srgbClr val="000000"/>
                </a:solidFill>
                <a:latin typeface="Aptos"/>
                <a:cs typeface="Aptos"/>
              </a:rPr>
              <a:t>Frame the question and the decision it informs</a:t>
            </a:r>
            <a:endParaRPr lang="en-GB" sz="1200">
              <a:solidFill>
                <a:srgbClr val="000000"/>
              </a:solidFill>
              <a:latin typeface="Aptos"/>
              <a:cs typeface="Aptos"/>
            </a:endParaRPr>
          </a:p>
          <a:p>
            <a:pPr marL="203200" indent="-203200" algn="l">
              <a:spcBef>
                <a:spcPts val="0"/>
              </a:spcBef>
              <a:spcAft>
                <a:spcPts val="600"/>
              </a:spcAft>
              <a:buClr>
                <a:srgbClr val="328840"/>
              </a:buClr>
              <a:buSzPct val="80000"/>
              <a:buFont typeface="Arial" panose="020B0604020202020204" pitchFamily="34" charset="0"/>
              <a:buChar char="■"/>
            </a:pPr>
            <a:r>
              <a:rPr lang="en-GB" sz="1200">
                <a:solidFill>
                  <a:srgbClr val="000000"/>
                </a:solidFill>
                <a:latin typeface="Aptos"/>
                <a:cs typeface="Aptos"/>
              </a:rPr>
              <a:t>Collect the data and interview stakeholders</a:t>
            </a:r>
            <a:endParaRPr lang="en-GB" sz="1200">
              <a:solidFill>
                <a:srgbClr val="000000"/>
              </a:solidFill>
              <a:latin typeface="Aptos"/>
              <a:cs typeface="Aptos"/>
            </a:endParaRPr>
          </a:p>
          <a:p>
            <a:pPr marL="203200" indent="-203200" algn="l">
              <a:spcBef>
                <a:spcPts val="0"/>
              </a:spcBef>
              <a:spcAft>
                <a:spcPts val="600"/>
              </a:spcAft>
              <a:buClr>
                <a:srgbClr val="328840"/>
              </a:buClr>
              <a:buSzPct val="80000"/>
              <a:buFont typeface="Arial" panose="020B0604020202020204" pitchFamily="34" charset="0"/>
              <a:buChar char="■"/>
            </a:pPr>
            <a:r>
              <a:rPr lang="en-GB" sz="1200">
                <a:solidFill>
                  <a:srgbClr val="000000"/>
                </a:solidFill>
                <a:latin typeface="Aptos"/>
                <a:cs typeface="Aptos"/>
              </a:rPr>
              <a:t>Test early findings with the client team</a:t>
            </a:r>
            <a:endParaRPr lang="en-GB" sz="1200">
              <a:solidFill>
                <a:srgbClr val="000000"/>
              </a:solidFill>
              <a:latin typeface="Aptos"/>
              <a:cs typeface="Aptos"/>
            </a:endParaRPr>
          </a:p>
        </p:txBody>
      </p:sp>
      <p:cxnSp>
        <p:nvCxnSpPr>
          <p:cNvPr id="7" name="Step rule 1"/>
          <p:cNvCxnSpPr/>
          <p:nvPr/>
        </p:nvCxnSpPr>
        <p:spPr>
          <a:xfrm>
            <a:off x="685800" y="5308600"/>
            <a:ext cx="2286000" cy="0"/>
          </a:xfrm>
          <a:prstGeom prst="line">
            <a:avLst/>
          </a:prstGeom>
          <a:ln w="9525">
            <a:solidFill>
              <a:srgbClr val="D5D5D6"/>
            </a:solidFill>
          </a:ln>
        </p:spPr>
      </p:cxnSp>
      <p:sp>
        <p:nvSpPr>
          <p:cNvPr id="8" name="Step output 1"/>
          <p:cNvSpPr txBox="1"/>
          <p:nvPr/>
        </p:nvSpPr>
        <p:spPr>
          <a:xfrm>
            <a:off x="685800" y="5435600"/>
            <a:ext cx="2286000" cy="3810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b="1">
                <a:solidFill>
                  <a:srgbClr val="022338"/>
                </a:solidFill>
                <a:latin typeface="Aptos"/>
                <a:cs typeface="Aptos"/>
              </a:rPr>
              <a:t>Output:</a:t>
            </a:r>
            <a:r>
              <a:rPr lang="en-GB" sz="1200">
                <a:solidFill>
                  <a:srgbClr val="022338"/>
                </a:solidFill>
                <a:latin typeface="Aptos"/>
                <a:cs typeface="Aptos"/>
              </a:rPr>
              <a:t> Diagnostic note</a:t>
            </a:r>
            <a:endParaRPr lang="en-GB" sz="1200">
              <a:solidFill>
                <a:srgbClr val="022338"/>
              </a:solidFill>
              <a:latin typeface="Aptos"/>
              <a:cs typeface="Aptos"/>
            </a:endParaRPr>
          </a:p>
        </p:txBody>
      </p:sp>
      <p:sp>
        <p:nvSpPr>
          <p:cNvPr id="9" name="Step 2"/>
          <p:cNvSpPr/>
          <p:nvPr/>
        </p:nvSpPr>
        <p:spPr>
          <a:xfrm>
            <a:off x="3352800" y="1371600"/>
            <a:ext cx="2794000" cy="660400"/>
          </a:xfrm>
          <a:prstGeom prst="chevron">
            <a:avLst>
              <a:gd name="adj" fmla="val 30769"/>
            </a:avLst>
          </a:prstGeom>
          <a:solidFill>
            <a:srgbClr val="022338"/>
          </a:solidFill>
          <a:ln>
            <a:noFill/>
          </a:ln>
        </p:spPr>
        <p:txBody>
          <a:bodyPr wrap="square" lIns="203200" tIns="0" rIns="203200" bIns="0" rtlCol="0" anchor="ctr" anchorCtr="0">
            <a:noAutofit/>
          </a:bodyPr>
          <a:lstStyle/>
          <a:p>
            <a:pPr marL="0" indent="0" algn="ctr">
              <a:buNone/>
            </a:pPr>
            <a:r>
              <a:rPr lang="en-GB" sz="1600" b="1">
                <a:solidFill>
                  <a:srgbClr val="BED62F"/>
                </a:solidFill>
                <a:latin typeface="Aptos"/>
                <a:cs typeface="Aptos"/>
              </a:rPr>
              <a:t>2 </a:t>
            </a:r>
            <a:r>
              <a:rPr lang="en-GB" sz="1600" b="1">
                <a:solidFill>
                  <a:srgbClr val="FFFFFF"/>
                </a:solidFill>
                <a:latin typeface="Aptos"/>
                <a:cs typeface="Aptos"/>
              </a:rPr>
              <a:t>Design</a:t>
            </a:r>
            <a:endParaRPr lang="en-GB" sz="1600">
              <a:solidFill>
                <a:srgbClr val="FFFFFF"/>
              </a:solidFill>
              <a:latin typeface="Aptos"/>
              <a:cs typeface="Aptos"/>
            </a:endParaRPr>
          </a:p>
        </p:txBody>
      </p:sp>
      <p:sp>
        <p:nvSpPr>
          <p:cNvPr id="10" name="Step panel 2"/>
          <p:cNvSpPr/>
          <p:nvPr/>
        </p:nvSpPr>
        <p:spPr>
          <a:xfrm>
            <a:off x="3352800" y="2184400"/>
            <a:ext cx="2641600" cy="3759200"/>
          </a:xfrm>
          <a:prstGeom prst="rect">
            <a:avLst/>
          </a:prstGeom>
          <a:solidFill>
            <a:srgbClr val="F7F8F5"/>
          </a:solidFill>
          <a:ln>
            <a:noFill/>
          </a:ln>
        </p:spPr>
      </p:sp>
      <p:sp>
        <p:nvSpPr>
          <p:cNvPr id="11" name="Step timing 2"/>
          <p:cNvSpPr txBox="1"/>
          <p:nvPr/>
        </p:nvSpPr>
        <p:spPr>
          <a:xfrm>
            <a:off x="3530600" y="2362200"/>
            <a:ext cx="2286000" cy="2286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b="1">
                <a:solidFill>
                  <a:srgbClr val="4A4A4C"/>
                </a:solidFill>
                <a:latin typeface="Aptos"/>
                <a:cs typeface="Aptos"/>
              </a:rPr>
              <a:t>Weeks 5 to 8</a:t>
            </a:r>
            <a:endParaRPr lang="en-GB" sz="1200">
              <a:solidFill>
                <a:srgbClr val="4A4A4C"/>
              </a:solidFill>
              <a:latin typeface="Aptos"/>
              <a:cs typeface="Aptos"/>
            </a:endParaRPr>
          </a:p>
        </p:txBody>
      </p:sp>
      <p:sp>
        <p:nvSpPr>
          <p:cNvPr id="12" name="Step text 2"/>
          <p:cNvSpPr txBox="1"/>
          <p:nvPr/>
        </p:nvSpPr>
        <p:spPr>
          <a:xfrm>
            <a:off x="3530600" y="2717800"/>
            <a:ext cx="2286000" cy="2159000"/>
          </a:xfrm>
          <a:prstGeom prst="rect">
            <a:avLst/>
          </a:prstGeom>
          <a:noFill/>
          <a:ln>
            <a:noFill/>
          </a:ln>
        </p:spPr>
        <p:txBody>
          <a:bodyPr wrap="square" lIns="0" tIns="0" rIns="0" bIns="0" rtlCol="0" anchor="t" anchorCtr="0">
            <a:noAutofit/>
          </a:bodyPr>
          <a:lstStyle/>
          <a:p>
            <a:pPr marL="203200" indent="-203200" algn="l">
              <a:spcBef>
                <a:spcPts val="0"/>
              </a:spcBef>
              <a:spcAft>
                <a:spcPts val="600"/>
              </a:spcAft>
              <a:buClr>
                <a:srgbClr val="328840"/>
              </a:buClr>
              <a:buSzPct val="80000"/>
              <a:buFont typeface="Arial" panose="020B0604020202020204" pitchFamily="34" charset="0"/>
              <a:buChar char="■"/>
            </a:pPr>
            <a:r>
              <a:rPr lang="en-GB" sz="1200">
                <a:solidFill>
                  <a:srgbClr val="000000"/>
                </a:solidFill>
                <a:latin typeface="Aptos"/>
                <a:cs typeface="Aptos"/>
              </a:rPr>
              <a:t>Develop the options and test them with the client</a:t>
            </a:r>
            <a:endParaRPr lang="en-GB" sz="1200">
              <a:solidFill>
                <a:srgbClr val="000000"/>
              </a:solidFill>
              <a:latin typeface="Aptos"/>
              <a:cs typeface="Aptos"/>
            </a:endParaRPr>
          </a:p>
          <a:p>
            <a:pPr marL="203200" indent="-203200" algn="l">
              <a:spcBef>
                <a:spcPts val="0"/>
              </a:spcBef>
              <a:spcAft>
                <a:spcPts val="600"/>
              </a:spcAft>
              <a:buClr>
                <a:srgbClr val="328840"/>
              </a:buClr>
              <a:buSzPct val="80000"/>
              <a:buFont typeface="Arial" panose="020B0604020202020204" pitchFamily="34" charset="0"/>
              <a:buChar char="■"/>
            </a:pPr>
            <a:r>
              <a:rPr lang="en-GB" sz="1200">
                <a:solidFill>
                  <a:srgbClr val="000000"/>
                </a:solidFill>
                <a:latin typeface="Aptos"/>
                <a:cs typeface="Aptos"/>
              </a:rPr>
              <a:t>Agree the criteria for choosing between them</a:t>
            </a:r>
            <a:endParaRPr lang="en-GB" sz="1200">
              <a:solidFill>
                <a:srgbClr val="000000"/>
              </a:solidFill>
              <a:latin typeface="Aptos"/>
              <a:cs typeface="Aptos"/>
            </a:endParaRPr>
          </a:p>
          <a:p>
            <a:pPr marL="203200" indent="-203200" algn="l">
              <a:spcBef>
                <a:spcPts val="0"/>
              </a:spcBef>
              <a:spcAft>
                <a:spcPts val="600"/>
              </a:spcAft>
              <a:buClr>
                <a:srgbClr val="328840"/>
              </a:buClr>
              <a:buSzPct val="80000"/>
              <a:buFont typeface="Arial" panose="020B0604020202020204" pitchFamily="34" charset="0"/>
              <a:buChar char="■"/>
            </a:pPr>
            <a:r>
              <a:rPr lang="en-GB" sz="1200">
                <a:solidFill>
                  <a:srgbClr val="000000"/>
                </a:solidFill>
                <a:latin typeface="Aptos"/>
                <a:cs typeface="Aptos"/>
              </a:rPr>
              <a:t>Shortlist two or three options to detail</a:t>
            </a:r>
            <a:endParaRPr lang="en-GB" sz="1200">
              <a:solidFill>
                <a:srgbClr val="000000"/>
              </a:solidFill>
              <a:latin typeface="Aptos"/>
              <a:cs typeface="Aptos"/>
            </a:endParaRPr>
          </a:p>
        </p:txBody>
      </p:sp>
      <p:cxnSp>
        <p:nvCxnSpPr>
          <p:cNvPr id="13" name="Step rule 2"/>
          <p:cNvCxnSpPr/>
          <p:nvPr/>
        </p:nvCxnSpPr>
        <p:spPr>
          <a:xfrm>
            <a:off x="3530600" y="5308600"/>
            <a:ext cx="2286000" cy="0"/>
          </a:xfrm>
          <a:prstGeom prst="line">
            <a:avLst/>
          </a:prstGeom>
          <a:ln w="9525">
            <a:solidFill>
              <a:srgbClr val="D5D5D6"/>
            </a:solidFill>
          </a:ln>
        </p:spPr>
      </p:cxnSp>
      <p:sp>
        <p:nvSpPr>
          <p:cNvPr id="14" name="Step output 2"/>
          <p:cNvSpPr txBox="1"/>
          <p:nvPr/>
        </p:nvSpPr>
        <p:spPr>
          <a:xfrm>
            <a:off x="3530600" y="5435600"/>
            <a:ext cx="2286000" cy="3810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b="1">
                <a:solidFill>
                  <a:srgbClr val="022338"/>
                </a:solidFill>
                <a:latin typeface="Aptos"/>
                <a:cs typeface="Aptos"/>
              </a:rPr>
              <a:t>Output:</a:t>
            </a:r>
            <a:r>
              <a:rPr lang="en-GB" sz="1200">
                <a:solidFill>
                  <a:srgbClr val="022338"/>
                </a:solidFill>
                <a:latin typeface="Aptos"/>
                <a:cs typeface="Aptos"/>
              </a:rPr>
              <a:t> Options paper</a:t>
            </a:r>
            <a:endParaRPr lang="en-GB" sz="1200">
              <a:solidFill>
                <a:srgbClr val="022338"/>
              </a:solidFill>
              <a:latin typeface="Aptos"/>
              <a:cs typeface="Aptos"/>
            </a:endParaRPr>
          </a:p>
        </p:txBody>
      </p:sp>
      <p:sp>
        <p:nvSpPr>
          <p:cNvPr id="15" name="Step 3"/>
          <p:cNvSpPr/>
          <p:nvPr/>
        </p:nvSpPr>
        <p:spPr>
          <a:xfrm>
            <a:off x="6197600" y="1371600"/>
            <a:ext cx="2794000" cy="660400"/>
          </a:xfrm>
          <a:prstGeom prst="chevron">
            <a:avLst>
              <a:gd name="adj" fmla="val 30769"/>
            </a:avLst>
          </a:prstGeom>
          <a:solidFill>
            <a:srgbClr val="022338"/>
          </a:solidFill>
          <a:ln>
            <a:noFill/>
          </a:ln>
        </p:spPr>
        <p:txBody>
          <a:bodyPr wrap="square" lIns="203200" tIns="0" rIns="203200" bIns="0" rtlCol="0" anchor="ctr" anchorCtr="0">
            <a:noAutofit/>
          </a:bodyPr>
          <a:lstStyle/>
          <a:p>
            <a:pPr marL="0" indent="0" algn="ctr">
              <a:buNone/>
            </a:pPr>
            <a:r>
              <a:rPr lang="en-GB" sz="1600" b="1">
                <a:solidFill>
                  <a:srgbClr val="BED62F"/>
                </a:solidFill>
                <a:latin typeface="Aptos"/>
                <a:cs typeface="Aptos"/>
              </a:rPr>
              <a:t>3 </a:t>
            </a:r>
            <a:r>
              <a:rPr lang="en-GB" sz="1600" b="1">
                <a:solidFill>
                  <a:srgbClr val="FFFFFF"/>
                </a:solidFill>
                <a:latin typeface="Aptos"/>
                <a:cs typeface="Aptos"/>
              </a:rPr>
              <a:t>Structure</a:t>
            </a:r>
            <a:endParaRPr lang="en-GB" sz="1600">
              <a:solidFill>
                <a:srgbClr val="FFFFFF"/>
              </a:solidFill>
              <a:latin typeface="Aptos"/>
              <a:cs typeface="Aptos"/>
            </a:endParaRPr>
          </a:p>
        </p:txBody>
      </p:sp>
      <p:sp>
        <p:nvSpPr>
          <p:cNvPr id="16" name="Step panel 3"/>
          <p:cNvSpPr/>
          <p:nvPr/>
        </p:nvSpPr>
        <p:spPr>
          <a:xfrm>
            <a:off x="6197600" y="2184400"/>
            <a:ext cx="2641600" cy="3759200"/>
          </a:xfrm>
          <a:prstGeom prst="rect">
            <a:avLst/>
          </a:prstGeom>
          <a:solidFill>
            <a:srgbClr val="F7F8F5"/>
          </a:solidFill>
          <a:ln>
            <a:noFill/>
          </a:ln>
        </p:spPr>
      </p:sp>
      <p:sp>
        <p:nvSpPr>
          <p:cNvPr id="17" name="Step timing 3"/>
          <p:cNvSpPr txBox="1"/>
          <p:nvPr/>
        </p:nvSpPr>
        <p:spPr>
          <a:xfrm>
            <a:off x="6375400" y="2362200"/>
            <a:ext cx="2286000" cy="2286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b="1">
                <a:solidFill>
                  <a:srgbClr val="4A4A4C"/>
                </a:solidFill>
                <a:latin typeface="Aptos"/>
                <a:cs typeface="Aptos"/>
              </a:rPr>
              <a:t>Weeks 9 to 12</a:t>
            </a:r>
            <a:endParaRPr lang="en-GB" sz="1200">
              <a:solidFill>
                <a:srgbClr val="4A4A4C"/>
              </a:solidFill>
              <a:latin typeface="Aptos"/>
              <a:cs typeface="Aptos"/>
            </a:endParaRPr>
          </a:p>
        </p:txBody>
      </p:sp>
      <p:sp>
        <p:nvSpPr>
          <p:cNvPr id="18" name="Step text 3"/>
          <p:cNvSpPr txBox="1"/>
          <p:nvPr/>
        </p:nvSpPr>
        <p:spPr>
          <a:xfrm>
            <a:off x="6375400" y="2717800"/>
            <a:ext cx="2286000" cy="2159000"/>
          </a:xfrm>
          <a:prstGeom prst="rect">
            <a:avLst/>
          </a:prstGeom>
          <a:noFill/>
          <a:ln>
            <a:noFill/>
          </a:ln>
        </p:spPr>
        <p:txBody>
          <a:bodyPr wrap="square" lIns="0" tIns="0" rIns="0" bIns="0" rtlCol="0" anchor="t" anchorCtr="0">
            <a:noAutofit/>
          </a:bodyPr>
          <a:lstStyle/>
          <a:p>
            <a:pPr marL="203200" indent="-203200" algn="l">
              <a:spcBef>
                <a:spcPts val="0"/>
              </a:spcBef>
              <a:spcAft>
                <a:spcPts val="600"/>
              </a:spcAft>
              <a:buClr>
                <a:srgbClr val="328840"/>
              </a:buClr>
              <a:buSzPct val="80000"/>
              <a:buFont typeface="Arial" panose="020B0604020202020204" pitchFamily="34" charset="0"/>
              <a:buChar char="■"/>
            </a:pPr>
            <a:r>
              <a:rPr lang="en-GB" sz="1200">
                <a:solidFill>
                  <a:srgbClr val="000000"/>
                </a:solidFill>
                <a:latin typeface="Aptos"/>
                <a:cs typeface="Aptos"/>
              </a:rPr>
              <a:t>Detail the preferred option: instruments, terms and risks</a:t>
            </a:r>
            <a:endParaRPr lang="en-GB" sz="1200">
              <a:solidFill>
                <a:srgbClr val="000000"/>
              </a:solidFill>
              <a:latin typeface="Aptos"/>
              <a:cs typeface="Aptos"/>
            </a:endParaRPr>
          </a:p>
          <a:p>
            <a:pPr marL="203200" indent="-203200" algn="l">
              <a:spcBef>
                <a:spcPts val="0"/>
              </a:spcBef>
              <a:spcAft>
                <a:spcPts val="600"/>
              </a:spcAft>
              <a:buClr>
                <a:srgbClr val="328840"/>
              </a:buClr>
              <a:buSzPct val="80000"/>
              <a:buFont typeface="Arial" panose="020B0604020202020204" pitchFamily="34" charset="0"/>
              <a:buChar char="■"/>
            </a:pPr>
            <a:r>
              <a:rPr lang="en-GB" sz="1200">
                <a:solidFill>
                  <a:srgbClr val="000000"/>
                </a:solidFill>
                <a:latin typeface="Aptos"/>
                <a:cs typeface="Aptos"/>
              </a:rPr>
              <a:t>Model the costs and the benefits</a:t>
            </a:r>
            <a:endParaRPr lang="en-GB" sz="1200">
              <a:solidFill>
                <a:srgbClr val="000000"/>
              </a:solidFill>
              <a:latin typeface="Aptos"/>
              <a:cs typeface="Aptos"/>
            </a:endParaRPr>
          </a:p>
          <a:p>
            <a:pPr marL="203200" indent="-203200" algn="l">
              <a:spcBef>
                <a:spcPts val="0"/>
              </a:spcBef>
              <a:spcAft>
                <a:spcPts val="600"/>
              </a:spcAft>
              <a:buClr>
                <a:srgbClr val="328840"/>
              </a:buClr>
              <a:buSzPct val="80000"/>
              <a:buFont typeface="Arial" panose="020B0604020202020204" pitchFamily="34" charset="0"/>
              <a:buChar char="■"/>
            </a:pPr>
            <a:r>
              <a:rPr lang="en-GB" sz="1200">
                <a:solidFill>
                  <a:srgbClr val="000000"/>
                </a:solidFill>
                <a:latin typeface="Aptos"/>
                <a:cs typeface="Aptos"/>
              </a:rPr>
              <a:t>Draft the term sheet for investors</a:t>
            </a:r>
            <a:endParaRPr lang="en-GB" sz="1200">
              <a:solidFill>
                <a:srgbClr val="000000"/>
              </a:solidFill>
              <a:latin typeface="Aptos"/>
              <a:cs typeface="Aptos"/>
            </a:endParaRPr>
          </a:p>
        </p:txBody>
      </p:sp>
      <p:cxnSp>
        <p:nvCxnSpPr>
          <p:cNvPr id="19" name="Step rule 3"/>
          <p:cNvCxnSpPr/>
          <p:nvPr/>
        </p:nvCxnSpPr>
        <p:spPr>
          <a:xfrm>
            <a:off x="6375400" y="5308600"/>
            <a:ext cx="2286000" cy="0"/>
          </a:xfrm>
          <a:prstGeom prst="line">
            <a:avLst/>
          </a:prstGeom>
          <a:ln w="9525">
            <a:solidFill>
              <a:srgbClr val="D5D5D6"/>
            </a:solidFill>
          </a:ln>
        </p:spPr>
      </p:cxnSp>
      <p:sp>
        <p:nvSpPr>
          <p:cNvPr id="20" name="Step output 3"/>
          <p:cNvSpPr txBox="1"/>
          <p:nvPr/>
        </p:nvSpPr>
        <p:spPr>
          <a:xfrm>
            <a:off x="6375400" y="5435600"/>
            <a:ext cx="2286000" cy="3810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b="1">
                <a:solidFill>
                  <a:srgbClr val="022338"/>
                </a:solidFill>
                <a:latin typeface="Aptos"/>
                <a:cs typeface="Aptos"/>
              </a:rPr>
              <a:t>Output:</a:t>
            </a:r>
            <a:r>
              <a:rPr lang="en-GB" sz="1200">
                <a:solidFill>
                  <a:srgbClr val="022338"/>
                </a:solidFill>
                <a:latin typeface="Aptos"/>
                <a:cs typeface="Aptos"/>
              </a:rPr>
              <a:t> Structuring report</a:t>
            </a:r>
            <a:endParaRPr lang="en-GB" sz="1200">
              <a:solidFill>
                <a:srgbClr val="022338"/>
              </a:solidFill>
              <a:latin typeface="Aptos"/>
              <a:cs typeface="Aptos"/>
            </a:endParaRPr>
          </a:p>
        </p:txBody>
      </p:sp>
      <p:sp>
        <p:nvSpPr>
          <p:cNvPr id="21" name="Step 4"/>
          <p:cNvSpPr/>
          <p:nvPr/>
        </p:nvSpPr>
        <p:spPr>
          <a:xfrm>
            <a:off x="9042400" y="1371600"/>
            <a:ext cx="2641600" cy="660400"/>
          </a:xfrm>
          <a:prstGeom prst="chevron">
            <a:avLst>
              <a:gd name="adj" fmla="val 30769"/>
            </a:avLst>
          </a:prstGeom>
          <a:solidFill>
            <a:srgbClr val="022338"/>
          </a:solidFill>
          <a:ln>
            <a:noFill/>
          </a:ln>
        </p:spPr>
        <p:txBody>
          <a:bodyPr wrap="square" lIns="203200" tIns="0" rIns="203200" bIns="0" rtlCol="0" anchor="ctr" anchorCtr="0">
            <a:noAutofit/>
          </a:bodyPr>
          <a:lstStyle/>
          <a:p>
            <a:pPr marL="0" indent="0" algn="ctr">
              <a:buNone/>
            </a:pPr>
            <a:r>
              <a:rPr lang="en-GB" sz="1600" b="1">
                <a:solidFill>
                  <a:srgbClr val="BED62F"/>
                </a:solidFill>
                <a:latin typeface="Aptos"/>
                <a:cs typeface="Aptos"/>
              </a:rPr>
              <a:t>4 </a:t>
            </a:r>
            <a:r>
              <a:rPr lang="en-GB" sz="1600" b="1">
                <a:solidFill>
                  <a:srgbClr val="FFFFFF"/>
                </a:solidFill>
                <a:latin typeface="Aptos"/>
                <a:cs typeface="Aptos"/>
              </a:rPr>
              <a:t>Mobilise</a:t>
            </a:r>
            <a:endParaRPr lang="en-GB" sz="1600">
              <a:solidFill>
                <a:srgbClr val="FFFFFF"/>
              </a:solidFill>
              <a:latin typeface="Aptos"/>
              <a:cs typeface="Aptos"/>
            </a:endParaRPr>
          </a:p>
        </p:txBody>
      </p:sp>
      <p:sp>
        <p:nvSpPr>
          <p:cNvPr id="22" name="Step panel 4"/>
          <p:cNvSpPr/>
          <p:nvPr/>
        </p:nvSpPr>
        <p:spPr>
          <a:xfrm>
            <a:off x="9042400" y="2184400"/>
            <a:ext cx="2641600" cy="3759200"/>
          </a:xfrm>
          <a:prstGeom prst="rect">
            <a:avLst/>
          </a:prstGeom>
          <a:solidFill>
            <a:srgbClr val="F7F8F5"/>
          </a:solidFill>
          <a:ln>
            <a:noFill/>
          </a:ln>
        </p:spPr>
      </p:sp>
      <p:sp>
        <p:nvSpPr>
          <p:cNvPr id="23" name="Step timing 4"/>
          <p:cNvSpPr txBox="1"/>
          <p:nvPr/>
        </p:nvSpPr>
        <p:spPr>
          <a:xfrm>
            <a:off x="9220200" y="2362200"/>
            <a:ext cx="2286000" cy="2286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b="1">
                <a:solidFill>
                  <a:srgbClr val="4A4A4C"/>
                </a:solidFill>
                <a:latin typeface="Aptos"/>
                <a:cs typeface="Aptos"/>
              </a:rPr>
              <a:t>Weeks 13 to 16</a:t>
            </a:r>
            <a:endParaRPr lang="en-GB" sz="1200">
              <a:solidFill>
                <a:srgbClr val="4A4A4C"/>
              </a:solidFill>
              <a:latin typeface="Aptos"/>
              <a:cs typeface="Aptos"/>
            </a:endParaRPr>
          </a:p>
        </p:txBody>
      </p:sp>
      <p:sp>
        <p:nvSpPr>
          <p:cNvPr id="24" name="Step text 4"/>
          <p:cNvSpPr txBox="1"/>
          <p:nvPr/>
        </p:nvSpPr>
        <p:spPr>
          <a:xfrm>
            <a:off x="9220200" y="2717800"/>
            <a:ext cx="2286000" cy="2159000"/>
          </a:xfrm>
          <a:prstGeom prst="rect">
            <a:avLst/>
          </a:prstGeom>
          <a:noFill/>
          <a:ln>
            <a:noFill/>
          </a:ln>
        </p:spPr>
        <p:txBody>
          <a:bodyPr wrap="square" lIns="0" tIns="0" rIns="0" bIns="0" rtlCol="0" anchor="t" anchorCtr="0">
            <a:noAutofit/>
          </a:bodyPr>
          <a:lstStyle/>
          <a:p>
            <a:pPr marL="203200" indent="-203200" algn="l">
              <a:spcBef>
                <a:spcPts val="0"/>
              </a:spcBef>
              <a:spcAft>
                <a:spcPts val="600"/>
              </a:spcAft>
              <a:buClr>
                <a:srgbClr val="328840"/>
              </a:buClr>
              <a:buSzPct val="80000"/>
              <a:buFont typeface="Arial" panose="020B0604020202020204" pitchFamily="34" charset="0"/>
              <a:buChar char="■"/>
            </a:pPr>
            <a:r>
              <a:rPr lang="en-GB" sz="1200">
                <a:solidFill>
                  <a:srgbClr val="000000"/>
                </a:solidFill>
                <a:latin typeface="Aptos"/>
                <a:cs typeface="Aptos"/>
              </a:rPr>
              <a:t>Engage investors and partners</a:t>
            </a:r>
            <a:endParaRPr lang="en-GB" sz="1200">
              <a:solidFill>
                <a:srgbClr val="000000"/>
              </a:solidFill>
              <a:latin typeface="Aptos"/>
              <a:cs typeface="Aptos"/>
            </a:endParaRPr>
          </a:p>
          <a:p>
            <a:pPr marL="203200" indent="-203200" algn="l">
              <a:spcBef>
                <a:spcPts val="0"/>
              </a:spcBef>
              <a:spcAft>
                <a:spcPts val="600"/>
              </a:spcAft>
              <a:buClr>
                <a:srgbClr val="328840"/>
              </a:buClr>
              <a:buSzPct val="80000"/>
              <a:buFont typeface="Arial" panose="020B0604020202020204" pitchFamily="34" charset="0"/>
              <a:buChar char="■"/>
            </a:pPr>
            <a:r>
              <a:rPr lang="en-GB" sz="1200">
                <a:solidFill>
                  <a:srgbClr val="000000"/>
                </a:solidFill>
                <a:latin typeface="Aptos"/>
                <a:cs typeface="Aptos"/>
              </a:rPr>
              <a:t>Plan the launch and the first 100 days</a:t>
            </a:r>
            <a:endParaRPr lang="en-GB" sz="1200">
              <a:solidFill>
                <a:srgbClr val="000000"/>
              </a:solidFill>
              <a:latin typeface="Aptos"/>
              <a:cs typeface="Aptos"/>
            </a:endParaRPr>
          </a:p>
          <a:p>
            <a:pPr marL="203200" indent="-203200" algn="l">
              <a:spcBef>
                <a:spcPts val="0"/>
              </a:spcBef>
              <a:spcAft>
                <a:spcPts val="600"/>
              </a:spcAft>
              <a:buClr>
                <a:srgbClr val="328840"/>
              </a:buClr>
              <a:buSzPct val="80000"/>
              <a:buFont typeface="Arial" panose="020B0604020202020204" pitchFamily="34" charset="0"/>
              <a:buChar char="■"/>
            </a:pPr>
            <a:r>
              <a:rPr lang="en-GB" sz="1200">
                <a:solidFill>
                  <a:srgbClr val="000000"/>
                </a:solidFill>
                <a:latin typeface="Aptos"/>
                <a:cs typeface="Aptos"/>
              </a:rPr>
              <a:t>Set up the reporting on results</a:t>
            </a:r>
            <a:endParaRPr lang="en-GB" sz="1200">
              <a:solidFill>
                <a:srgbClr val="000000"/>
              </a:solidFill>
              <a:latin typeface="Aptos"/>
              <a:cs typeface="Aptos"/>
            </a:endParaRPr>
          </a:p>
        </p:txBody>
      </p:sp>
      <p:cxnSp>
        <p:nvCxnSpPr>
          <p:cNvPr id="25" name="Step rule 4"/>
          <p:cNvCxnSpPr/>
          <p:nvPr/>
        </p:nvCxnSpPr>
        <p:spPr>
          <a:xfrm>
            <a:off x="9220200" y="5308600"/>
            <a:ext cx="2286000" cy="0"/>
          </a:xfrm>
          <a:prstGeom prst="line">
            <a:avLst/>
          </a:prstGeom>
          <a:ln w="9525">
            <a:solidFill>
              <a:srgbClr val="D5D5D6"/>
            </a:solidFill>
          </a:ln>
        </p:spPr>
      </p:cxnSp>
      <p:sp>
        <p:nvSpPr>
          <p:cNvPr id="26" name="Step output 4"/>
          <p:cNvSpPr txBox="1"/>
          <p:nvPr/>
        </p:nvSpPr>
        <p:spPr>
          <a:xfrm>
            <a:off x="9220200" y="5435600"/>
            <a:ext cx="2286000" cy="3810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b="1">
                <a:solidFill>
                  <a:srgbClr val="022338"/>
                </a:solidFill>
                <a:latin typeface="Aptos"/>
                <a:cs typeface="Aptos"/>
              </a:rPr>
              <a:t>Output:</a:t>
            </a:r>
            <a:r>
              <a:rPr lang="en-GB" sz="1200">
                <a:solidFill>
                  <a:srgbClr val="022338"/>
                </a:solidFill>
                <a:latin typeface="Aptos"/>
                <a:cs typeface="Aptos"/>
              </a:rPr>
              <a:t> Implementation plan</a:t>
            </a:r>
            <a:endParaRPr lang="en-GB" sz="1200">
              <a:solidFill>
                <a:srgbClr val="022338"/>
              </a:solidFill>
              <a:latin typeface="Aptos"/>
              <a:cs typeface="Aptos"/>
            </a:endParaRPr>
          </a:p>
        </p:txBody>
      </p:sp>
      <p:sp>
        <p:nvSpPr>
          <p:cNvPr id="27" name="Slide number"/>
          <p:cNvSpPr>
            <a:spLocks noGrp="1"/>
          </p:cNvSpPr>
          <p:nvPr>
            <p:ph type="sldNum" sz="quarter" idx="12"/>
          </p:nvPr>
        </p:nvSpPr>
        <p:spPr/>
        <p:txBody>
          <a:bodyPr/>
          <a:lstStyle/>
          <a:p>
            <a:fld id="{B6F15528-21DE-4FAA-801E-634DDDAF4B2B}" type="slidenum">
              <a:rPr lang="en-GB"/>
              <a:t>10</a:t>
            </a:fld>
            <a:endParaRPr lang="en-GB"/>
          </a:p>
        </p:txBody>
      </p:sp>
    </p:spTree>
    <p:extLst>
      <p:ext uri="{BB962C8B-B14F-4D97-AF65-F5344CB8AC3E}">
        <p14:creationId xmlns:p14="http://schemas.microsoft.com/office/powerpoint/2010/main" val="1315865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Action title: which options to pursue first, by impact and feasibility</a:t>
            </a:r>
            <a:endParaRPr lang="en-GB"/>
          </a:p>
        </p:txBody>
      </p:sp>
      <p:sp>
        <p:nvSpPr>
          <p:cNvPr id="3" name="Quadrant 1"/>
          <p:cNvSpPr/>
          <p:nvPr/>
        </p:nvSpPr>
        <p:spPr>
          <a:xfrm>
            <a:off x="1016000" y="1371600"/>
            <a:ext cx="3386667" cy="1981200"/>
          </a:xfrm>
          <a:prstGeom prst="rect">
            <a:avLst/>
          </a:prstGeom>
          <a:solidFill>
            <a:srgbClr val="F7F8F5"/>
          </a:solidFill>
          <a:ln>
            <a:noFill/>
          </a:ln>
        </p:spPr>
        <p:txBody>
          <a:bodyPr wrap="square" lIns="203200" tIns="177800" rIns="203200" bIns="177800" rtlCol="0" anchor="t" anchorCtr="0">
            <a:noAutofit/>
          </a:bodyPr>
          <a:lstStyle/>
          <a:p>
            <a:pPr marL="0" indent="0" algn="l">
              <a:spcBef>
                <a:spcPts val="0"/>
              </a:spcBef>
              <a:spcAft>
                <a:spcPts val="200"/>
              </a:spcAft>
              <a:buNone/>
            </a:pPr>
            <a:r>
              <a:rPr lang="en-GB" sz="1600" b="1">
                <a:solidFill>
                  <a:srgbClr val="022338"/>
                </a:solidFill>
                <a:latin typeface="Candara"/>
                <a:cs typeface="Candara"/>
              </a:rPr>
              <a:t>Plan carefully</a:t>
            </a:r>
            <a:endParaRPr lang="en-GB" sz="1600">
              <a:solidFill>
                <a:srgbClr val="022338"/>
              </a:solidFill>
              <a:latin typeface="Candara"/>
              <a:cs typeface="Candara"/>
            </a:endParaRPr>
          </a:p>
          <a:p>
            <a:pPr marL="0" indent="0" algn="l">
              <a:spcBef>
                <a:spcPts val="0"/>
              </a:spcBef>
              <a:spcAft>
                <a:spcPts val="0"/>
              </a:spcAft>
              <a:buNone/>
            </a:pPr>
            <a:r>
              <a:rPr lang="en-GB" sz="1200">
                <a:solidFill>
                  <a:srgbClr val="000000"/>
                </a:solidFill>
                <a:latin typeface="Aptos"/>
                <a:cs typeface="Aptos"/>
              </a:rPr>
              <a:t>High impact, but it needs preparation</a:t>
            </a:r>
            <a:endParaRPr lang="en-GB" sz="1200">
              <a:solidFill>
                <a:srgbClr val="000000"/>
              </a:solidFill>
              <a:latin typeface="Aptos"/>
              <a:cs typeface="Aptos"/>
            </a:endParaRPr>
          </a:p>
        </p:txBody>
      </p:sp>
      <p:sp>
        <p:nvSpPr>
          <p:cNvPr id="4" name="Quadrant 2"/>
          <p:cNvSpPr/>
          <p:nvPr/>
        </p:nvSpPr>
        <p:spPr>
          <a:xfrm>
            <a:off x="4504267" y="1371600"/>
            <a:ext cx="3386667" cy="1981200"/>
          </a:xfrm>
          <a:prstGeom prst="rect">
            <a:avLst/>
          </a:prstGeom>
          <a:solidFill>
            <a:srgbClr val="022338"/>
          </a:solidFill>
          <a:ln>
            <a:noFill/>
          </a:ln>
        </p:spPr>
        <p:txBody>
          <a:bodyPr wrap="square" lIns="203200" tIns="177800" rIns="203200" bIns="177800" rtlCol="0" anchor="t" anchorCtr="0">
            <a:noAutofit/>
          </a:bodyPr>
          <a:lstStyle/>
          <a:p>
            <a:pPr marL="0" indent="0" algn="l">
              <a:spcBef>
                <a:spcPts val="0"/>
              </a:spcBef>
              <a:spcAft>
                <a:spcPts val="200"/>
              </a:spcAft>
              <a:buNone/>
            </a:pPr>
            <a:r>
              <a:rPr lang="en-GB" sz="1600" b="1">
                <a:solidFill>
                  <a:srgbClr val="FFFFFF"/>
                </a:solidFill>
                <a:latin typeface="Candara"/>
                <a:cs typeface="Candara"/>
              </a:rPr>
              <a:t>Prioritise</a:t>
            </a:r>
            <a:endParaRPr lang="en-GB" sz="1600">
              <a:solidFill>
                <a:srgbClr val="FFFFFF"/>
              </a:solidFill>
              <a:latin typeface="Candara"/>
              <a:cs typeface="Candara"/>
            </a:endParaRPr>
          </a:p>
          <a:p>
            <a:pPr marL="0" indent="0" algn="l">
              <a:spcBef>
                <a:spcPts val="0"/>
              </a:spcBef>
              <a:spcAft>
                <a:spcPts val="0"/>
              </a:spcAft>
              <a:buNone/>
            </a:pPr>
            <a:r>
              <a:rPr lang="en-GB" sz="1200">
                <a:solidFill>
                  <a:srgbClr val="FFFFFF"/>
                </a:solidFill>
                <a:latin typeface="Aptos"/>
                <a:cs typeface="Aptos"/>
              </a:rPr>
              <a:t>High impact and ready to start</a:t>
            </a:r>
            <a:endParaRPr lang="en-GB" sz="1200">
              <a:solidFill>
                <a:srgbClr val="FFFFFF"/>
              </a:solidFill>
              <a:latin typeface="Aptos"/>
              <a:cs typeface="Aptos"/>
            </a:endParaRPr>
          </a:p>
        </p:txBody>
      </p:sp>
      <p:sp>
        <p:nvSpPr>
          <p:cNvPr id="5" name="Quadrant 3"/>
          <p:cNvSpPr/>
          <p:nvPr/>
        </p:nvSpPr>
        <p:spPr>
          <a:xfrm>
            <a:off x="1016000" y="3454400"/>
            <a:ext cx="3386667" cy="1981200"/>
          </a:xfrm>
          <a:prstGeom prst="rect">
            <a:avLst/>
          </a:prstGeom>
          <a:solidFill>
            <a:srgbClr val="F7F8F5"/>
          </a:solidFill>
          <a:ln>
            <a:noFill/>
          </a:ln>
        </p:spPr>
        <p:txBody>
          <a:bodyPr wrap="square" lIns="203200" tIns="177800" rIns="203200" bIns="177800" rtlCol="0" anchor="t" anchorCtr="0">
            <a:noAutofit/>
          </a:bodyPr>
          <a:lstStyle/>
          <a:p>
            <a:pPr marL="0" indent="0" algn="l">
              <a:spcBef>
                <a:spcPts val="0"/>
              </a:spcBef>
              <a:spcAft>
                <a:spcPts val="200"/>
              </a:spcAft>
              <a:buNone/>
            </a:pPr>
            <a:r>
              <a:rPr lang="en-GB" sz="1600" b="1">
                <a:solidFill>
                  <a:srgbClr val="022338"/>
                </a:solidFill>
                <a:latin typeface="Candara"/>
                <a:cs typeface="Candara"/>
              </a:rPr>
              <a:t>Deprioritise</a:t>
            </a:r>
            <a:endParaRPr lang="en-GB" sz="1600">
              <a:solidFill>
                <a:srgbClr val="022338"/>
              </a:solidFill>
              <a:latin typeface="Candara"/>
              <a:cs typeface="Candara"/>
            </a:endParaRPr>
          </a:p>
          <a:p>
            <a:pPr marL="0" indent="0" algn="l">
              <a:spcBef>
                <a:spcPts val="0"/>
              </a:spcBef>
              <a:spcAft>
                <a:spcPts val="0"/>
              </a:spcAft>
              <a:buNone/>
            </a:pPr>
            <a:r>
              <a:rPr lang="en-GB" sz="1200">
                <a:solidFill>
                  <a:srgbClr val="000000"/>
                </a:solidFill>
                <a:latin typeface="Aptos"/>
                <a:cs typeface="Aptos"/>
              </a:rPr>
              <a:t>Little gain for the effort</a:t>
            </a:r>
            <a:endParaRPr lang="en-GB" sz="1200">
              <a:solidFill>
                <a:srgbClr val="000000"/>
              </a:solidFill>
              <a:latin typeface="Aptos"/>
              <a:cs typeface="Aptos"/>
            </a:endParaRPr>
          </a:p>
        </p:txBody>
      </p:sp>
      <p:sp>
        <p:nvSpPr>
          <p:cNvPr id="6" name="Quadrant 4"/>
          <p:cNvSpPr/>
          <p:nvPr/>
        </p:nvSpPr>
        <p:spPr>
          <a:xfrm>
            <a:off x="4504267" y="3454400"/>
            <a:ext cx="3386667" cy="1981200"/>
          </a:xfrm>
          <a:prstGeom prst="rect">
            <a:avLst/>
          </a:prstGeom>
          <a:solidFill>
            <a:srgbClr val="F7F8F5"/>
          </a:solidFill>
          <a:ln>
            <a:noFill/>
          </a:ln>
        </p:spPr>
        <p:txBody>
          <a:bodyPr wrap="square" lIns="203200" tIns="177800" rIns="203200" bIns="177800" rtlCol="0" anchor="t" anchorCtr="0">
            <a:noAutofit/>
          </a:bodyPr>
          <a:lstStyle/>
          <a:p>
            <a:pPr marL="0" indent="0" algn="l">
              <a:spcBef>
                <a:spcPts val="0"/>
              </a:spcBef>
              <a:spcAft>
                <a:spcPts val="200"/>
              </a:spcAft>
              <a:buNone/>
            </a:pPr>
            <a:r>
              <a:rPr lang="en-GB" sz="1600" b="1">
                <a:solidFill>
                  <a:srgbClr val="022338"/>
                </a:solidFill>
                <a:latin typeface="Candara"/>
                <a:cs typeface="Candara"/>
              </a:rPr>
              <a:t>Quick wins</a:t>
            </a:r>
            <a:endParaRPr lang="en-GB" sz="1600">
              <a:solidFill>
                <a:srgbClr val="022338"/>
              </a:solidFill>
              <a:latin typeface="Candara"/>
              <a:cs typeface="Candara"/>
            </a:endParaRPr>
          </a:p>
          <a:p>
            <a:pPr marL="0" indent="0" algn="l">
              <a:spcBef>
                <a:spcPts val="0"/>
              </a:spcBef>
              <a:spcAft>
                <a:spcPts val="0"/>
              </a:spcAft>
              <a:buNone/>
            </a:pPr>
            <a:r>
              <a:rPr lang="en-GB" sz="1200">
                <a:solidFill>
                  <a:srgbClr val="000000"/>
                </a:solidFill>
                <a:latin typeface="Aptos"/>
                <a:cs typeface="Aptos"/>
              </a:rPr>
              <a:t>Easy to do, with modest gains</a:t>
            </a:r>
            <a:endParaRPr lang="en-GB" sz="1200">
              <a:solidFill>
                <a:srgbClr val="000000"/>
              </a:solidFill>
              <a:latin typeface="Aptos"/>
              <a:cs typeface="Aptos"/>
            </a:endParaRPr>
          </a:p>
        </p:txBody>
      </p:sp>
      <p:cxnSp>
        <p:nvCxnSpPr>
          <p:cNvPr id="7" name="Impact axis"/>
          <p:cNvCxnSpPr/>
          <p:nvPr/>
        </p:nvCxnSpPr>
        <p:spPr>
          <a:xfrm flipV="1">
            <a:off x="863600" y="1371600"/>
            <a:ext cx="0" cy="4064000"/>
          </a:xfrm>
          <a:prstGeom prst="line">
            <a:avLst/>
          </a:prstGeom>
          <a:ln w="12700">
            <a:solidFill>
              <a:srgbClr val="4A4A4C"/>
            </a:solidFill>
            <a:tailEnd type="triangle" w="med" len="med"/>
          </a:ln>
        </p:spPr>
      </p:cxnSp>
      <p:sp>
        <p:nvSpPr>
          <p:cNvPr id="8" name="Impact label"/>
          <p:cNvSpPr txBox="1"/>
          <p:nvPr/>
        </p:nvSpPr>
        <p:spPr>
          <a:xfrm>
            <a:off x="508000" y="1371600"/>
            <a:ext cx="254000" cy="4064000"/>
          </a:xfrm>
          <a:prstGeom prst="rect">
            <a:avLst/>
          </a:prstGeom>
          <a:noFill/>
          <a:ln>
            <a:noFill/>
          </a:ln>
        </p:spPr>
        <p:txBody>
          <a:bodyPr vert="vert270" wrap="square" lIns="0" tIns="0" rIns="0" bIns="0" rtlCol="0" anchor="ctr" anchorCtr="0">
            <a:noAutofit/>
          </a:bodyPr>
          <a:lstStyle/>
          <a:p>
            <a:pPr marL="0" indent="0" algn="ctr">
              <a:spcBef>
                <a:spcPts val="0"/>
              </a:spcBef>
              <a:spcAft>
                <a:spcPts val="0"/>
              </a:spcAft>
              <a:buNone/>
            </a:pPr>
            <a:r>
              <a:rPr lang="en-GB" sz="1200" b="1">
                <a:solidFill>
                  <a:srgbClr val="4A4A4C"/>
                </a:solidFill>
                <a:latin typeface="Aptos"/>
                <a:cs typeface="Aptos"/>
              </a:rPr>
              <a:t>Impact</a:t>
            </a:r>
            <a:endParaRPr lang="en-GB" sz="1200">
              <a:solidFill>
                <a:srgbClr val="4A4A4C"/>
              </a:solidFill>
              <a:latin typeface="Aptos"/>
              <a:cs typeface="Aptos"/>
            </a:endParaRPr>
          </a:p>
        </p:txBody>
      </p:sp>
      <p:cxnSp>
        <p:nvCxnSpPr>
          <p:cNvPr id="9" name="Feasibility axis"/>
          <p:cNvCxnSpPr/>
          <p:nvPr/>
        </p:nvCxnSpPr>
        <p:spPr>
          <a:xfrm>
            <a:off x="1016000" y="5588000"/>
            <a:ext cx="6874933" cy="0"/>
          </a:xfrm>
          <a:prstGeom prst="line">
            <a:avLst/>
          </a:prstGeom>
          <a:ln w="12700">
            <a:solidFill>
              <a:srgbClr val="4A4A4C"/>
            </a:solidFill>
            <a:tailEnd type="triangle" w="med" len="med"/>
          </a:ln>
        </p:spPr>
      </p:cxnSp>
      <p:sp>
        <p:nvSpPr>
          <p:cNvPr id="10" name="Feasibility label"/>
          <p:cNvSpPr txBox="1"/>
          <p:nvPr/>
        </p:nvSpPr>
        <p:spPr>
          <a:xfrm>
            <a:off x="1016000" y="5664200"/>
            <a:ext cx="6874933" cy="254000"/>
          </a:xfrm>
          <a:prstGeom prst="rect">
            <a:avLst/>
          </a:prstGeom>
          <a:noFill/>
          <a:ln>
            <a:noFill/>
          </a:ln>
        </p:spPr>
        <p:txBody>
          <a:bodyPr wrap="square" lIns="0" tIns="0" rIns="0" bIns="0" rtlCol="0" anchor="t" anchorCtr="0">
            <a:noAutofit/>
          </a:bodyPr>
          <a:lstStyle/>
          <a:p>
            <a:pPr marL="0" indent="0" algn="ctr">
              <a:spcBef>
                <a:spcPts val="0"/>
              </a:spcBef>
              <a:spcAft>
                <a:spcPts val="0"/>
              </a:spcAft>
              <a:buNone/>
            </a:pPr>
            <a:r>
              <a:rPr lang="en-GB" sz="1200" b="1">
                <a:solidFill>
                  <a:srgbClr val="4A4A4C"/>
                </a:solidFill>
                <a:latin typeface="Aptos"/>
                <a:cs typeface="Aptos"/>
              </a:rPr>
              <a:t>Feasibility</a:t>
            </a:r>
            <a:endParaRPr lang="en-GB" sz="1200">
              <a:solidFill>
                <a:srgbClr val="4A4A4C"/>
              </a:solidFill>
              <a:latin typeface="Aptos"/>
              <a:cs typeface="Aptos"/>
            </a:endParaRPr>
          </a:p>
        </p:txBody>
      </p:sp>
      <p:sp>
        <p:nvSpPr>
          <p:cNvPr id="11" name="Option A"/>
          <p:cNvSpPr/>
          <p:nvPr/>
        </p:nvSpPr>
        <p:spPr>
          <a:xfrm>
            <a:off x="6776043" y="2560320"/>
            <a:ext cx="304800" cy="304800"/>
          </a:xfrm>
          <a:prstGeom prst="ellipse">
            <a:avLst/>
          </a:prstGeom>
          <a:solidFill>
            <a:srgbClr val="328840"/>
          </a:solidFill>
          <a:ln w="19050">
            <a:solidFill>
              <a:srgbClr val="FFFFFF"/>
            </a:solidFill>
          </a:ln>
        </p:spPr>
        <p:txBody>
          <a:bodyPr wrap="square" lIns="0" tIns="0" rIns="0" bIns="0" rtlCol="0" anchor="ctr" anchorCtr="0">
            <a:noAutofit/>
          </a:bodyPr>
          <a:lstStyle/>
          <a:p>
            <a:pPr marL="0" indent="0" algn="ctr">
              <a:spcBef>
                <a:spcPts val="0"/>
              </a:spcBef>
              <a:spcAft>
                <a:spcPts val="0"/>
              </a:spcAft>
              <a:buNone/>
            </a:pPr>
            <a:r>
              <a:rPr lang="en-GB" sz="1200" b="1">
                <a:solidFill>
                  <a:srgbClr val="FFFFFF"/>
                </a:solidFill>
                <a:latin typeface="Aptos"/>
                <a:cs typeface="Aptos"/>
              </a:rPr>
              <a:t>A</a:t>
            </a:r>
            <a:endParaRPr lang="en-GB" sz="1200">
              <a:solidFill>
                <a:srgbClr val="FFFFFF"/>
              </a:solidFill>
              <a:latin typeface="Aptos"/>
              <a:cs typeface="Aptos"/>
            </a:endParaRPr>
          </a:p>
        </p:txBody>
      </p:sp>
      <p:sp>
        <p:nvSpPr>
          <p:cNvPr id="12" name="Option B"/>
          <p:cNvSpPr/>
          <p:nvPr/>
        </p:nvSpPr>
        <p:spPr>
          <a:xfrm>
            <a:off x="5401056" y="2844800"/>
            <a:ext cx="304800" cy="304800"/>
          </a:xfrm>
          <a:prstGeom prst="ellipse">
            <a:avLst/>
          </a:prstGeom>
          <a:solidFill>
            <a:srgbClr val="328840"/>
          </a:solidFill>
          <a:ln w="19050">
            <a:solidFill>
              <a:srgbClr val="FFFFFF"/>
            </a:solidFill>
          </a:ln>
        </p:spPr>
        <p:txBody>
          <a:bodyPr wrap="square" lIns="0" tIns="0" rIns="0" bIns="0" rtlCol="0" anchor="ctr" anchorCtr="0">
            <a:noAutofit/>
          </a:bodyPr>
          <a:lstStyle/>
          <a:p>
            <a:pPr marL="0" indent="0" algn="ctr">
              <a:spcBef>
                <a:spcPts val="0"/>
              </a:spcBef>
              <a:spcAft>
                <a:spcPts val="0"/>
              </a:spcAft>
              <a:buNone/>
            </a:pPr>
            <a:r>
              <a:rPr lang="en-GB" sz="1200" b="1">
                <a:solidFill>
                  <a:srgbClr val="FFFFFF"/>
                </a:solidFill>
                <a:latin typeface="Aptos"/>
                <a:cs typeface="Aptos"/>
              </a:rPr>
              <a:t>B</a:t>
            </a:r>
            <a:endParaRPr lang="en-GB" sz="1200">
              <a:solidFill>
                <a:srgbClr val="FFFFFF"/>
              </a:solidFill>
              <a:latin typeface="Aptos"/>
              <a:cs typeface="Aptos"/>
            </a:endParaRPr>
          </a:p>
        </p:txBody>
      </p:sp>
      <p:sp>
        <p:nvSpPr>
          <p:cNvPr id="13" name="Option C"/>
          <p:cNvSpPr/>
          <p:nvPr/>
        </p:nvSpPr>
        <p:spPr>
          <a:xfrm>
            <a:off x="2926080" y="2682240"/>
            <a:ext cx="304800" cy="304800"/>
          </a:xfrm>
          <a:prstGeom prst="ellipse">
            <a:avLst/>
          </a:prstGeom>
          <a:solidFill>
            <a:srgbClr val="328840"/>
          </a:solidFill>
          <a:ln w="19050">
            <a:solidFill>
              <a:srgbClr val="FFFFFF"/>
            </a:solidFill>
          </a:ln>
        </p:spPr>
        <p:txBody>
          <a:bodyPr wrap="square" lIns="0" tIns="0" rIns="0" bIns="0" rtlCol="0" anchor="ctr" anchorCtr="0">
            <a:noAutofit/>
          </a:bodyPr>
          <a:lstStyle/>
          <a:p>
            <a:pPr marL="0" indent="0" algn="ctr">
              <a:spcBef>
                <a:spcPts val="0"/>
              </a:spcBef>
              <a:spcAft>
                <a:spcPts val="0"/>
              </a:spcAft>
              <a:buNone/>
            </a:pPr>
            <a:r>
              <a:rPr lang="en-GB" sz="1200" b="1">
                <a:solidFill>
                  <a:srgbClr val="FFFFFF"/>
                </a:solidFill>
                <a:latin typeface="Aptos"/>
                <a:cs typeface="Aptos"/>
              </a:rPr>
              <a:t>C</a:t>
            </a:r>
            <a:endParaRPr lang="en-GB" sz="1200">
              <a:solidFill>
                <a:srgbClr val="FFFFFF"/>
              </a:solidFill>
              <a:latin typeface="Aptos"/>
              <a:cs typeface="Aptos"/>
            </a:endParaRPr>
          </a:p>
        </p:txBody>
      </p:sp>
      <p:sp>
        <p:nvSpPr>
          <p:cNvPr id="14" name="Option D"/>
          <p:cNvSpPr/>
          <p:nvPr/>
        </p:nvSpPr>
        <p:spPr>
          <a:xfrm>
            <a:off x="6501045" y="4551680"/>
            <a:ext cx="304800" cy="304800"/>
          </a:xfrm>
          <a:prstGeom prst="ellipse">
            <a:avLst/>
          </a:prstGeom>
          <a:solidFill>
            <a:srgbClr val="328840"/>
          </a:solidFill>
          <a:ln w="19050">
            <a:solidFill>
              <a:srgbClr val="FFFFFF"/>
            </a:solidFill>
          </a:ln>
        </p:spPr>
        <p:txBody>
          <a:bodyPr wrap="square" lIns="0" tIns="0" rIns="0" bIns="0" rtlCol="0" anchor="ctr" anchorCtr="0">
            <a:noAutofit/>
          </a:bodyPr>
          <a:lstStyle/>
          <a:p>
            <a:pPr marL="0" indent="0" algn="ctr">
              <a:spcBef>
                <a:spcPts val="0"/>
              </a:spcBef>
              <a:spcAft>
                <a:spcPts val="0"/>
              </a:spcAft>
              <a:buNone/>
            </a:pPr>
            <a:r>
              <a:rPr lang="en-GB" sz="1200" b="1">
                <a:solidFill>
                  <a:srgbClr val="FFFFFF"/>
                </a:solidFill>
                <a:latin typeface="Aptos"/>
                <a:cs typeface="Aptos"/>
              </a:rPr>
              <a:t>D</a:t>
            </a:r>
            <a:endParaRPr lang="en-GB" sz="1200">
              <a:solidFill>
                <a:srgbClr val="FFFFFF"/>
              </a:solidFill>
              <a:latin typeface="Aptos"/>
              <a:cs typeface="Aptos"/>
            </a:endParaRPr>
          </a:p>
        </p:txBody>
      </p:sp>
      <p:sp>
        <p:nvSpPr>
          <p:cNvPr id="15" name="Option E"/>
          <p:cNvSpPr/>
          <p:nvPr/>
        </p:nvSpPr>
        <p:spPr>
          <a:xfrm>
            <a:off x="2238587" y="4632960"/>
            <a:ext cx="304800" cy="304800"/>
          </a:xfrm>
          <a:prstGeom prst="ellipse">
            <a:avLst/>
          </a:prstGeom>
          <a:solidFill>
            <a:srgbClr val="328840"/>
          </a:solidFill>
          <a:ln w="19050">
            <a:solidFill>
              <a:srgbClr val="FFFFFF"/>
            </a:solidFill>
          </a:ln>
        </p:spPr>
        <p:txBody>
          <a:bodyPr wrap="square" lIns="0" tIns="0" rIns="0" bIns="0" rtlCol="0" anchor="ctr" anchorCtr="0">
            <a:noAutofit/>
          </a:bodyPr>
          <a:lstStyle/>
          <a:p>
            <a:pPr marL="0" indent="0" algn="ctr">
              <a:spcBef>
                <a:spcPts val="0"/>
              </a:spcBef>
              <a:spcAft>
                <a:spcPts val="0"/>
              </a:spcAft>
              <a:buNone/>
            </a:pPr>
            <a:r>
              <a:rPr lang="en-GB" sz="1200" b="1">
                <a:solidFill>
                  <a:srgbClr val="FFFFFF"/>
                </a:solidFill>
                <a:latin typeface="Aptos"/>
                <a:cs typeface="Aptos"/>
              </a:rPr>
              <a:t>E</a:t>
            </a:r>
            <a:endParaRPr lang="en-GB" sz="1200">
              <a:solidFill>
                <a:srgbClr val="FFFFFF"/>
              </a:solidFill>
              <a:latin typeface="Aptos"/>
              <a:cs typeface="Aptos"/>
            </a:endParaRPr>
          </a:p>
        </p:txBody>
      </p:sp>
      <p:sp>
        <p:nvSpPr>
          <p:cNvPr id="16" name="Options heading"/>
          <p:cNvSpPr txBox="1"/>
          <p:nvPr/>
        </p:nvSpPr>
        <p:spPr>
          <a:xfrm>
            <a:off x="8094133" y="1371600"/>
            <a:ext cx="3589867" cy="3048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600" b="1">
                <a:solidFill>
                  <a:srgbClr val="022338"/>
                </a:solidFill>
                <a:latin typeface="Candara"/>
                <a:cs typeface="Candara"/>
              </a:rPr>
              <a:t>Options assessed</a:t>
            </a:r>
            <a:endParaRPr lang="en-GB" sz="1600">
              <a:solidFill>
                <a:srgbClr val="022338"/>
              </a:solidFill>
              <a:latin typeface="Candara"/>
              <a:cs typeface="Candara"/>
            </a:endParaRPr>
          </a:p>
        </p:txBody>
      </p:sp>
      <p:sp>
        <p:nvSpPr>
          <p:cNvPr id="17" name="Option key A"/>
          <p:cNvSpPr/>
          <p:nvPr/>
        </p:nvSpPr>
        <p:spPr>
          <a:xfrm>
            <a:off x="8094133" y="1981200"/>
            <a:ext cx="304800" cy="304800"/>
          </a:xfrm>
          <a:prstGeom prst="ellipse">
            <a:avLst/>
          </a:prstGeom>
          <a:solidFill>
            <a:srgbClr val="328840"/>
          </a:solidFill>
          <a:ln>
            <a:noFill/>
          </a:ln>
        </p:spPr>
        <p:txBody>
          <a:bodyPr wrap="square" lIns="0" tIns="0" rIns="0" bIns="0" rtlCol="0" anchor="ctr" anchorCtr="0">
            <a:noAutofit/>
          </a:bodyPr>
          <a:lstStyle/>
          <a:p>
            <a:pPr marL="0" indent="0" algn="ctr">
              <a:spcBef>
                <a:spcPts val="0"/>
              </a:spcBef>
              <a:spcAft>
                <a:spcPts val="0"/>
              </a:spcAft>
              <a:buNone/>
            </a:pPr>
            <a:r>
              <a:rPr lang="en-GB" sz="1200" b="1">
                <a:solidFill>
                  <a:srgbClr val="FFFFFF"/>
                </a:solidFill>
                <a:latin typeface="Aptos"/>
                <a:cs typeface="Aptos"/>
              </a:rPr>
              <a:t>A</a:t>
            </a:r>
            <a:endParaRPr lang="en-GB" sz="1200">
              <a:solidFill>
                <a:srgbClr val="FFFFFF"/>
              </a:solidFill>
              <a:latin typeface="Aptos"/>
              <a:cs typeface="Aptos"/>
            </a:endParaRPr>
          </a:p>
        </p:txBody>
      </p:sp>
      <p:sp>
        <p:nvSpPr>
          <p:cNvPr id="18" name="Option text A"/>
          <p:cNvSpPr txBox="1"/>
          <p:nvPr/>
        </p:nvSpPr>
        <p:spPr>
          <a:xfrm>
            <a:off x="8551333" y="2019300"/>
            <a:ext cx="3132667" cy="5588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Option A: name it and say what it involves</a:t>
            </a:r>
            <a:endParaRPr lang="en-GB" sz="1200">
              <a:solidFill>
                <a:srgbClr val="000000"/>
              </a:solidFill>
              <a:latin typeface="Aptos"/>
              <a:cs typeface="Aptos"/>
            </a:endParaRPr>
          </a:p>
        </p:txBody>
      </p:sp>
      <p:sp>
        <p:nvSpPr>
          <p:cNvPr id="19" name="Option key B"/>
          <p:cNvSpPr/>
          <p:nvPr/>
        </p:nvSpPr>
        <p:spPr>
          <a:xfrm>
            <a:off x="8094133" y="2641600"/>
            <a:ext cx="304800" cy="304800"/>
          </a:xfrm>
          <a:prstGeom prst="ellipse">
            <a:avLst/>
          </a:prstGeom>
          <a:solidFill>
            <a:srgbClr val="328840"/>
          </a:solidFill>
          <a:ln>
            <a:noFill/>
          </a:ln>
        </p:spPr>
        <p:txBody>
          <a:bodyPr wrap="square" lIns="0" tIns="0" rIns="0" bIns="0" rtlCol="0" anchor="ctr" anchorCtr="0">
            <a:noAutofit/>
          </a:bodyPr>
          <a:lstStyle/>
          <a:p>
            <a:pPr marL="0" indent="0" algn="ctr">
              <a:spcBef>
                <a:spcPts val="0"/>
              </a:spcBef>
              <a:spcAft>
                <a:spcPts val="0"/>
              </a:spcAft>
              <a:buNone/>
            </a:pPr>
            <a:r>
              <a:rPr lang="en-GB" sz="1200" b="1">
                <a:solidFill>
                  <a:srgbClr val="FFFFFF"/>
                </a:solidFill>
                <a:latin typeface="Aptos"/>
                <a:cs typeface="Aptos"/>
              </a:rPr>
              <a:t>B</a:t>
            </a:r>
            <a:endParaRPr lang="en-GB" sz="1200">
              <a:solidFill>
                <a:srgbClr val="FFFFFF"/>
              </a:solidFill>
              <a:latin typeface="Aptos"/>
              <a:cs typeface="Aptos"/>
            </a:endParaRPr>
          </a:p>
        </p:txBody>
      </p:sp>
      <p:sp>
        <p:nvSpPr>
          <p:cNvPr id="20" name="Option text B"/>
          <p:cNvSpPr txBox="1"/>
          <p:nvPr/>
        </p:nvSpPr>
        <p:spPr>
          <a:xfrm>
            <a:off x="8551333" y="2679700"/>
            <a:ext cx="3132667" cy="5588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Option B: one line each, in the same form</a:t>
            </a:r>
            <a:endParaRPr lang="en-GB" sz="1200">
              <a:solidFill>
                <a:srgbClr val="000000"/>
              </a:solidFill>
              <a:latin typeface="Aptos"/>
              <a:cs typeface="Aptos"/>
            </a:endParaRPr>
          </a:p>
        </p:txBody>
      </p:sp>
      <p:sp>
        <p:nvSpPr>
          <p:cNvPr id="21" name="Option key C"/>
          <p:cNvSpPr/>
          <p:nvPr/>
        </p:nvSpPr>
        <p:spPr>
          <a:xfrm>
            <a:off x="8094133" y="3302000"/>
            <a:ext cx="304800" cy="304800"/>
          </a:xfrm>
          <a:prstGeom prst="ellipse">
            <a:avLst/>
          </a:prstGeom>
          <a:solidFill>
            <a:srgbClr val="328840"/>
          </a:solidFill>
          <a:ln>
            <a:noFill/>
          </a:ln>
        </p:spPr>
        <p:txBody>
          <a:bodyPr wrap="square" lIns="0" tIns="0" rIns="0" bIns="0" rtlCol="0" anchor="ctr" anchorCtr="0">
            <a:noAutofit/>
          </a:bodyPr>
          <a:lstStyle/>
          <a:p>
            <a:pPr marL="0" indent="0" algn="ctr">
              <a:spcBef>
                <a:spcPts val="0"/>
              </a:spcBef>
              <a:spcAft>
                <a:spcPts val="0"/>
              </a:spcAft>
              <a:buNone/>
            </a:pPr>
            <a:r>
              <a:rPr lang="en-GB" sz="1200" b="1">
                <a:solidFill>
                  <a:srgbClr val="FFFFFF"/>
                </a:solidFill>
                <a:latin typeface="Aptos"/>
                <a:cs typeface="Aptos"/>
              </a:rPr>
              <a:t>C</a:t>
            </a:r>
            <a:endParaRPr lang="en-GB" sz="1200">
              <a:solidFill>
                <a:srgbClr val="FFFFFF"/>
              </a:solidFill>
              <a:latin typeface="Aptos"/>
              <a:cs typeface="Aptos"/>
            </a:endParaRPr>
          </a:p>
        </p:txBody>
      </p:sp>
      <p:sp>
        <p:nvSpPr>
          <p:cNvPr id="22" name="Option text C"/>
          <p:cNvSpPr txBox="1"/>
          <p:nvPr/>
        </p:nvSpPr>
        <p:spPr>
          <a:xfrm>
            <a:off x="8551333" y="3340100"/>
            <a:ext cx="3132667" cy="5588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Option C: high impact, but it needs work first</a:t>
            </a:r>
            <a:endParaRPr lang="en-GB" sz="1200">
              <a:solidFill>
                <a:srgbClr val="000000"/>
              </a:solidFill>
              <a:latin typeface="Aptos"/>
              <a:cs typeface="Aptos"/>
            </a:endParaRPr>
          </a:p>
        </p:txBody>
      </p:sp>
      <p:sp>
        <p:nvSpPr>
          <p:cNvPr id="23" name="Option key D"/>
          <p:cNvSpPr/>
          <p:nvPr/>
        </p:nvSpPr>
        <p:spPr>
          <a:xfrm>
            <a:off x="8094133" y="3962400"/>
            <a:ext cx="304800" cy="304800"/>
          </a:xfrm>
          <a:prstGeom prst="ellipse">
            <a:avLst/>
          </a:prstGeom>
          <a:solidFill>
            <a:srgbClr val="328840"/>
          </a:solidFill>
          <a:ln>
            <a:noFill/>
          </a:ln>
        </p:spPr>
        <p:txBody>
          <a:bodyPr wrap="square" lIns="0" tIns="0" rIns="0" bIns="0" rtlCol="0" anchor="ctr" anchorCtr="0">
            <a:noAutofit/>
          </a:bodyPr>
          <a:lstStyle/>
          <a:p>
            <a:pPr marL="0" indent="0" algn="ctr">
              <a:spcBef>
                <a:spcPts val="0"/>
              </a:spcBef>
              <a:spcAft>
                <a:spcPts val="0"/>
              </a:spcAft>
              <a:buNone/>
            </a:pPr>
            <a:r>
              <a:rPr lang="en-GB" sz="1200" b="1">
                <a:solidFill>
                  <a:srgbClr val="FFFFFF"/>
                </a:solidFill>
                <a:latin typeface="Aptos"/>
                <a:cs typeface="Aptos"/>
              </a:rPr>
              <a:t>D</a:t>
            </a:r>
            <a:endParaRPr lang="en-GB" sz="1200">
              <a:solidFill>
                <a:srgbClr val="FFFFFF"/>
              </a:solidFill>
              <a:latin typeface="Aptos"/>
              <a:cs typeface="Aptos"/>
            </a:endParaRPr>
          </a:p>
        </p:txBody>
      </p:sp>
      <p:sp>
        <p:nvSpPr>
          <p:cNvPr id="24" name="Option text D"/>
          <p:cNvSpPr txBox="1"/>
          <p:nvPr/>
        </p:nvSpPr>
        <p:spPr>
          <a:xfrm>
            <a:off x="8551333" y="4000500"/>
            <a:ext cx="3132667" cy="5588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Option D: easy, with a modest gain</a:t>
            </a:r>
            <a:endParaRPr lang="en-GB" sz="1200">
              <a:solidFill>
                <a:srgbClr val="000000"/>
              </a:solidFill>
              <a:latin typeface="Aptos"/>
              <a:cs typeface="Aptos"/>
            </a:endParaRPr>
          </a:p>
        </p:txBody>
      </p:sp>
      <p:sp>
        <p:nvSpPr>
          <p:cNvPr id="25" name="Option key E"/>
          <p:cNvSpPr/>
          <p:nvPr/>
        </p:nvSpPr>
        <p:spPr>
          <a:xfrm>
            <a:off x="8094133" y="4622800"/>
            <a:ext cx="304800" cy="304800"/>
          </a:xfrm>
          <a:prstGeom prst="ellipse">
            <a:avLst/>
          </a:prstGeom>
          <a:solidFill>
            <a:srgbClr val="328840"/>
          </a:solidFill>
          <a:ln>
            <a:noFill/>
          </a:ln>
        </p:spPr>
        <p:txBody>
          <a:bodyPr wrap="square" lIns="0" tIns="0" rIns="0" bIns="0" rtlCol="0" anchor="ctr" anchorCtr="0">
            <a:noAutofit/>
          </a:bodyPr>
          <a:lstStyle/>
          <a:p>
            <a:pPr marL="0" indent="0" algn="ctr">
              <a:spcBef>
                <a:spcPts val="0"/>
              </a:spcBef>
              <a:spcAft>
                <a:spcPts val="0"/>
              </a:spcAft>
              <a:buNone/>
            </a:pPr>
            <a:r>
              <a:rPr lang="en-GB" sz="1200" b="1">
                <a:solidFill>
                  <a:srgbClr val="FFFFFF"/>
                </a:solidFill>
                <a:latin typeface="Aptos"/>
                <a:cs typeface="Aptos"/>
              </a:rPr>
              <a:t>E</a:t>
            </a:r>
            <a:endParaRPr lang="en-GB" sz="1200">
              <a:solidFill>
                <a:srgbClr val="FFFFFF"/>
              </a:solidFill>
              <a:latin typeface="Aptos"/>
              <a:cs typeface="Aptos"/>
            </a:endParaRPr>
          </a:p>
        </p:txBody>
      </p:sp>
      <p:sp>
        <p:nvSpPr>
          <p:cNvPr id="26" name="Option text E"/>
          <p:cNvSpPr txBox="1"/>
          <p:nvPr/>
        </p:nvSpPr>
        <p:spPr>
          <a:xfrm>
            <a:off x="8551333" y="4660900"/>
            <a:ext cx="3132667" cy="5588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Option E: say why it is not worth pursuing</a:t>
            </a:r>
            <a:endParaRPr lang="en-GB" sz="1200">
              <a:solidFill>
                <a:srgbClr val="000000"/>
              </a:solidFill>
              <a:latin typeface="Aptos"/>
              <a:cs typeface="Aptos"/>
            </a:endParaRPr>
          </a:p>
        </p:txBody>
      </p:sp>
      <p:sp>
        <p:nvSpPr>
          <p:cNvPr id="27" name="Slide number"/>
          <p:cNvSpPr>
            <a:spLocks noGrp="1"/>
          </p:cNvSpPr>
          <p:nvPr>
            <p:ph type="sldNum" sz="quarter" idx="12"/>
          </p:nvPr>
        </p:nvSpPr>
        <p:spPr/>
        <p:txBody>
          <a:bodyPr/>
          <a:lstStyle/>
          <a:p>
            <a:fld id="{B6F15528-21DE-4FAA-801E-634DDDAF4B2B}" type="slidenum">
              <a:rPr lang="en-GB"/>
              <a:t>11</a:t>
            </a:fld>
            <a:endParaRPr lang="en-GB"/>
          </a:p>
        </p:txBody>
      </p:sp>
    </p:spTree>
    <p:extLst>
      <p:ext uri="{BB962C8B-B14F-4D97-AF65-F5344CB8AC3E}">
        <p14:creationId xmlns:p14="http://schemas.microsoft.com/office/powerpoint/2010/main" val="1560199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Action title: the milestones that matter between now and completion</a:t>
            </a:r>
            <a:endParaRPr lang="en-GB"/>
          </a:p>
        </p:txBody>
      </p:sp>
      <p:sp>
        <p:nvSpPr>
          <p:cNvPr id="3" name="Phase 1"/>
          <p:cNvSpPr/>
          <p:nvPr/>
        </p:nvSpPr>
        <p:spPr>
          <a:xfrm>
            <a:off x="508000" y="1371600"/>
            <a:ext cx="3589867" cy="355600"/>
          </a:xfrm>
          <a:prstGeom prst="rect">
            <a:avLst/>
          </a:prstGeom>
          <a:solidFill>
            <a:srgbClr val="F7F8F5"/>
          </a:solidFill>
          <a:ln>
            <a:noFill/>
          </a:ln>
        </p:spPr>
        <p:txBody>
          <a:bodyPr wrap="square" lIns="127000" tIns="0" rIns="127000" bIns="0" rtlCol="0" anchor="ctr" anchorCtr="0">
            <a:noAutofit/>
          </a:bodyPr>
          <a:lstStyle/>
          <a:p>
            <a:pPr marL="0" indent="0" algn="l">
              <a:spcBef>
                <a:spcPts val="0"/>
              </a:spcBef>
              <a:spcAft>
                <a:spcPts val="0"/>
              </a:spcAft>
              <a:buNone/>
            </a:pPr>
            <a:r>
              <a:rPr lang="en-GB" sz="1200" b="1">
                <a:solidFill>
                  <a:srgbClr val="022338"/>
                </a:solidFill>
                <a:latin typeface="Aptos"/>
                <a:cs typeface="Aptos"/>
              </a:rPr>
              <a:t>Phase 1: diagnostic</a:t>
            </a:r>
            <a:endParaRPr lang="en-GB" sz="1200">
              <a:solidFill>
                <a:srgbClr val="022338"/>
              </a:solidFill>
              <a:latin typeface="Aptos"/>
              <a:cs typeface="Aptos"/>
            </a:endParaRPr>
          </a:p>
        </p:txBody>
      </p:sp>
      <p:sp>
        <p:nvSpPr>
          <p:cNvPr id="4" name="Phase 2"/>
          <p:cNvSpPr/>
          <p:nvPr/>
        </p:nvSpPr>
        <p:spPr>
          <a:xfrm>
            <a:off x="4301067" y="1371600"/>
            <a:ext cx="3589867" cy="355600"/>
          </a:xfrm>
          <a:prstGeom prst="rect">
            <a:avLst/>
          </a:prstGeom>
          <a:solidFill>
            <a:srgbClr val="F7F8F5"/>
          </a:solidFill>
          <a:ln>
            <a:noFill/>
          </a:ln>
        </p:spPr>
        <p:txBody>
          <a:bodyPr wrap="square" lIns="127000" tIns="0" rIns="127000" bIns="0" rtlCol="0" anchor="ctr" anchorCtr="0">
            <a:noAutofit/>
          </a:bodyPr>
          <a:lstStyle/>
          <a:p>
            <a:pPr marL="0" indent="0" algn="l">
              <a:spcBef>
                <a:spcPts val="0"/>
              </a:spcBef>
              <a:spcAft>
                <a:spcPts val="0"/>
              </a:spcAft>
              <a:buNone/>
            </a:pPr>
            <a:r>
              <a:rPr lang="en-GB" sz="1200" b="1">
                <a:solidFill>
                  <a:srgbClr val="022338"/>
                </a:solidFill>
                <a:latin typeface="Aptos"/>
                <a:cs typeface="Aptos"/>
              </a:rPr>
              <a:t>Phase 2: design</a:t>
            </a:r>
            <a:endParaRPr lang="en-GB" sz="1200">
              <a:solidFill>
                <a:srgbClr val="022338"/>
              </a:solidFill>
              <a:latin typeface="Aptos"/>
              <a:cs typeface="Aptos"/>
            </a:endParaRPr>
          </a:p>
        </p:txBody>
      </p:sp>
      <p:sp>
        <p:nvSpPr>
          <p:cNvPr id="5" name="Phase 3"/>
          <p:cNvSpPr/>
          <p:nvPr/>
        </p:nvSpPr>
        <p:spPr>
          <a:xfrm>
            <a:off x="8094133" y="1371600"/>
            <a:ext cx="3589867" cy="355600"/>
          </a:xfrm>
          <a:prstGeom prst="rect">
            <a:avLst/>
          </a:prstGeom>
          <a:solidFill>
            <a:srgbClr val="F7F8F5"/>
          </a:solidFill>
          <a:ln>
            <a:noFill/>
          </a:ln>
        </p:spPr>
        <p:txBody>
          <a:bodyPr wrap="square" lIns="127000" tIns="0" rIns="127000" bIns="0" rtlCol="0" anchor="ctr" anchorCtr="0">
            <a:noAutofit/>
          </a:bodyPr>
          <a:lstStyle/>
          <a:p>
            <a:pPr marL="0" indent="0" algn="l">
              <a:spcBef>
                <a:spcPts val="0"/>
              </a:spcBef>
              <a:spcAft>
                <a:spcPts val="0"/>
              </a:spcAft>
              <a:buNone/>
            </a:pPr>
            <a:r>
              <a:rPr lang="en-GB" sz="1200" b="1">
                <a:solidFill>
                  <a:srgbClr val="022338"/>
                </a:solidFill>
                <a:latin typeface="Aptos"/>
                <a:cs typeface="Aptos"/>
              </a:rPr>
              <a:t>Phase 3: delivery</a:t>
            </a:r>
            <a:endParaRPr lang="en-GB" sz="1200">
              <a:solidFill>
                <a:srgbClr val="022338"/>
              </a:solidFill>
              <a:latin typeface="Aptos"/>
              <a:cs typeface="Aptos"/>
            </a:endParaRPr>
          </a:p>
        </p:txBody>
      </p:sp>
      <p:cxnSp>
        <p:nvCxnSpPr>
          <p:cNvPr id="6" name="Timeline"/>
          <p:cNvCxnSpPr/>
          <p:nvPr/>
        </p:nvCxnSpPr>
        <p:spPr>
          <a:xfrm>
            <a:off x="508000" y="2844800"/>
            <a:ext cx="11176000" cy="0"/>
          </a:xfrm>
          <a:prstGeom prst="line">
            <a:avLst/>
          </a:prstGeom>
          <a:ln w="19050">
            <a:solidFill>
              <a:srgbClr val="022338"/>
            </a:solidFill>
          </a:ln>
        </p:spPr>
      </p:cxnSp>
      <p:sp>
        <p:nvSpPr>
          <p:cNvPr id="7" name="Milestone date 1"/>
          <p:cNvSpPr txBox="1"/>
          <p:nvPr/>
        </p:nvSpPr>
        <p:spPr>
          <a:xfrm>
            <a:off x="508000" y="2336800"/>
            <a:ext cx="1693333" cy="279400"/>
          </a:xfrm>
          <a:prstGeom prst="rect">
            <a:avLst/>
          </a:prstGeom>
          <a:noFill/>
          <a:ln>
            <a:noFill/>
          </a:ln>
        </p:spPr>
        <p:txBody>
          <a:bodyPr wrap="square" lIns="0" tIns="0" rIns="0" bIns="0" rtlCol="0" anchor="b" anchorCtr="0">
            <a:noAutofit/>
          </a:bodyPr>
          <a:lstStyle/>
          <a:p>
            <a:pPr marL="0" indent="0" algn="l">
              <a:spcBef>
                <a:spcPts val="0"/>
              </a:spcBef>
              <a:spcAft>
                <a:spcPts val="0"/>
              </a:spcAft>
              <a:buNone/>
            </a:pPr>
            <a:r>
              <a:rPr lang="en-GB" sz="1200" b="1">
                <a:solidFill>
                  <a:srgbClr val="4A4A4C"/>
                </a:solidFill>
                <a:latin typeface="Aptos"/>
                <a:cs typeface="Aptos"/>
              </a:rPr>
              <a:t>January 2027</a:t>
            </a:r>
            <a:endParaRPr lang="en-GB" sz="1200">
              <a:solidFill>
                <a:srgbClr val="4A4A4C"/>
              </a:solidFill>
              <a:latin typeface="Aptos"/>
              <a:cs typeface="Aptos"/>
            </a:endParaRPr>
          </a:p>
        </p:txBody>
      </p:sp>
      <p:sp>
        <p:nvSpPr>
          <p:cNvPr id="8" name="Milestone 1"/>
          <p:cNvSpPr/>
          <p:nvPr/>
        </p:nvSpPr>
        <p:spPr>
          <a:xfrm>
            <a:off x="508000" y="2755900"/>
            <a:ext cx="177800" cy="177800"/>
          </a:xfrm>
          <a:prstGeom prst="ellipse">
            <a:avLst/>
          </a:prstGeom>
          <a:solidFill>
            <a:srgbClr val="328840"/>
          </a:solidFill>
          <a:ln w="25400">
            <a:solidFill>
              <a:srgbClr val="328840"/>
            </a:solidFill>
          </a:ln>
        </p:spPr>
      </p:sp>
      <p:sp>
        <p:nvSpPr>
          <p:cNvPr id="9" name="Milestone title 1"/>
          <p:cNvSpPr txBox="1"/>
          <p:nvPr/>
        </p:nvSpPr>
        <p:spPr>
          <a:xfrm>
            <a:off x="508000" y="3124200"/>
            <a:ext cx="1693333" cy="2540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400" b="1">
                <a:solidFill>
                  <a:srgbClr val="022338"/>
                </a:solidFill>
                <a:latin typeface="Aptos"/>
                <a:cs typeface="Aptos"/>
              </a:rPr>
              <a:t>Kick-off</a:t>
            </a:r>
            <a:endParaRPr lang="en-GB" sz="1400">
              <a:solidFill>
                <a:srgbClr val="022338"/>
              </a:solidFill>
              <a:latin typeface="Aptos"/>
              <a:cs typeface="Aptos"/>
            </a:endParaRPr>
          </a:p>
        </p:txBody>
      </p:sp>
      <p:sp>
        <p:nvSpPr>
          <p:cNvPr id="10" name="Milestone text 1"/>
          <p:cNvSpPr txBox="1"/>
          <p:nvPr/>
        </p:nvSpPr>
        <p:spPr>
          <a:xfrm>
            <a:off x="508000" y="3429000"/>
            <a:ext cx="1693333" cy="7620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Inception meeting and data request</a:t>
            </a:r>
            <a:endParaRPr lang="en-GB" sz="1200">
              <a:solidFill>
                <a:srgbClr val="000000"/>
              </a:solidFill>
              <a:latin typeface="Aptos"/>
              <a:cs typeface="Aptos"/>
            </a:endParaRPr>
          </a:p>
        </p:txBody>
      </p:sp>
      <p:sp>
        <p:nvSpPr>
          <p:cNvPr id="11" name="Milestone date 2"/>
          <p:cNvSpPr txBox="1"/>
          <p:nvPr/>
        </p:nvSpPr>
        <p:spPr>
          <a:xfrm>
            <a:off x="2404533" y="2336800"/>
            <a:ext cx="1693333" cy="279400"/>
          </a:xfrm>
          <a:prstGeom prst="rect">
            <a:avLst/>
          </a:prstGeom>
          <a:noFill/>
          <a:ln>
            <a:noFill/>
          </a:ln>
        </p:spPr>
        <p:txBody>
          <a:bodyPr wrap="square" lIns="0" tIns="0" rIns="0" bIns="0" rtlCol="0" anchor="b" anchorCtr="0">
            <a:noAutofit/>
          </a:bodyPr>
          <a:lstStyle/>
          <a:p>
            <a:pPr marL="0" indent="0" algn="l">
              <a:spcBef>
                <a:spcPts val="0"/>
              </a:spcBef>
              <a:spcAft>
                <a:spcPts val="0"/>
              </a:spcAft>
              <a:buNone/>
            </a:pPr>
            <a:r>
              <a:rPr lang="en-GB" sz="1200" b="1">
                <a:solidFill>
                  <a:srgbClr val="4A4A4C"/>
                </a:solidFill>
                <a:latin typeface="Aptos"/>
                <a:cs typeface="Aptos"/>
              </a:rPr>
              <a:t>February 2027</a:t>
            </a:r>
            <a:endParaRPr lang="en-GB" sz="1200">
              <a:solidFill>
                <a:srgbClr val="4A4A4C"/>
              </a:solidFill>
              <a:latin typeface="Aptos"/>
              <a:cs typeface="Aptos"/>
            </a:endParaRPr>
          </a:p>
        </p:txBody>
      </p:sp>
      <p:sp>
        <p:nvSpPr>
          <p:cNvPr id="12" name="Milestone 2"/>
          <p:cNvSpPr/>
          <p:nvPr/>
        </p:nvSpPr>
        <p:spPr>
          <a:xfrm>
            <a:off x="2404533" y="2755900"/>
            <a:ext cx="177800" cy="177800"/>
          </a:xfrm>
          <a:prstGeom prst="ellipse">
            <a:avLst/>
          </a:prstGeom>
          <a:solidFill>
            <a:srgbClr val="328840"/>
          </a:solidFill>
          <a:ln w="25400">
            <a:solidFill>
              <a:srgbClr val="328840"/>
            </a:solidFill>
          </a:ln>
        </p:spPr>
      </p:sp>
      <p:sp>
        <p:nvSpPr>
          <p:cNvPr id="13" name="Milestone title 2"/>
          <p:cNvSpPr txBox="1"/>
          <p:nvPr/>
        </p:nvSpPr>
        <p:spPr>
          <a:xfrm>
            <a:off x="2404533" y="3124200"/>
            <a:ext cx="1693333" cy="2540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400" b="1">
                <a:solidFill>
                  <a:srgbClr val="022338"/>
                </a:solidFill>
                <a:latin typeface="Aptos"/>
                <a:cs typeface="Aptos"/>
              </a:rPr>
              <a:t>Inception report</a:t>
            </a:r>
            <a:endParaRPr lang="en-GB" sz="1400">
              <a:solidFill>
                <a:srgbClr val="022338"/>
              </a:solidFill>
              <a:latin typeface="Aptos"/>
              <a:cs typeface="Aptos"/>
            </a:endParaRPr>
          </a:p>
        </p:txBody>
      </p:sp>
      <p:sp>
        <p:nvSpPr>
          <p:cNvPr id="14" name="Milestone text 2"/>
          <p:cNvSpPr txBox="1"/>
          <p:nvPr/>
        </p:nvSpPr>
        <p:spPr>
          <a:xfrm>
            <a:off x="2404533" y="3429000"/>
            <a:ext cx="1693333" cy="7620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Approach, workplan and risks agreed</a:t>
            </a:r>
            <a:endParaRPr lang="en-GB" sz="1200">
              <a:solidFill>
                <a:srgbClr val="000000"/>
              </a:solidFill>
              <a:latin typeface="Aptos"/>
              <a:cs typeface="Aptos"/>
            </a:endParaRPr>
          </a:p>
        </p:txBody>
      </p:sp>
      <p:sp>
        <p:nvSpPr>
          <p:cNvPr id="15" name="Milestone date 3"/>
          <p:cNvSpPr txBox="1"/>
          <p:nvPr/>
        </p:nvSpPr>
        <p:spPr>
          <a:xfrm>
            <a:off x="4301067" y="2336800"/>
            <a:ext cx="1693333" cy="279400"/>
          </a:xfrm>
          <a:prstGeom prst="rect">
            <a:avLst/>
          </a:prstGeom>
          <a:noFill/>
          <a:ln>
            <a:noFill/>
          </a:ln>
        </p:spPr>
        <p:txBody>
          <a:bodyPr wrap="square" lIns="0" tIns="0" rIns="0" bIns="0" rtlCol="0" anchor="b" anchorCtr="0">
            <a:noAutofit/>
          </a:bodyPr>
          <a:lstStyle/>
          <a:p>
            <a:pPr marL="0" indent="0" algn="l">
              <a:spcBef>
                <a:spcPts val="0"/>
              </a:spcBef>
              <a:spcAft>
                <a:spcPts val="0"/>
              </a:spcAft>
              <a:buNone/>
            </a:pPr>
            <a:r>
              <a:rPr lang="en-GB" sz="1200" b="1">
                <a:solidFill>
                  <a:srgbClr val="4A4A4C"/>
                </a:solidFill>
                <a:latin typeface="Aptos"/>
                <a:cs typeface="Aptos"/>
              </a:rPr>
              <a:t>April 2027</a:t>
            </a:r>
            <a:endParaRPr lang="en-GB" sz="1200">
              <a:solidFill>
                <a:srgbClr val="4A4A4C"/>
              </a:solidFill>
              <a:latin typeface="Aptos"/>
              <a:cs typeface="Aptos"/>
            </a:endParaRPr>
          </a:p>
        </p:txBody>
      </p:sp>
      <p:sp>
        <p:nvSpPr>
          <p:cNvPr id="16" name="Milestone 3"/>
          <p:cNvSpPr/>
          <p:nvPr/>
        </p:nvSpPr>
        <p:spPr>
          <a:xfrm>
            <a:off x="4301067" y="2755900"/>
            <a:ext cx="177800" cy="177800"/>
          </a:xfrm>
          <a:prstGeom prst="ellipse">
            <a:avLst/>
          </a:prstGeom>
          <a:solidFill>
            <a:srgbClr val="FFFFFF"/>
          </a:solidFill>
          <a:ln w="25400">
            <a:solidFill>
              <a:srgbClr val="328840"/>
            </a:solidFill>
          </a:ln>
        </p:spPr>
      </p:sp>
      <p:sp>
        <p:nvSpPr>
          <p:cNvPr id="17" name="Milestone title 3"/>
          <p:cNvSpPr txBox="1"/>
          <p:nvPr/>
        </p:nvSpPr>
        <p:spPr>
          <a:xfrm>
            <a:off x="4301067" y="3124200"/>
            <a:ext cx="1693333" cy="2540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400" b="1">
                <a:solidFill>
                  <a:srgbClr val="022338"/>
                </a:solidFill>
                <a:latin typeface="Aptos"/>
                <a:cs typeface="Aptos"/>
              </a:rPr>
              <a:t>Diagnostic note</a:t>
            </a:r>
            <a:endParaRPr lang="en-GB" sz="1400">
              <a:solidFill>
                <a:srgbClr val="022338"/>
              </a:solidFill>
              <a:latin typeface="Aptos"/>
              <a:cs typeface="Aptos"/>
            </a:endParaRPr>
          </a:p>
        </p:txBody>
      </p:sp>
      <p:sp>
        <p:nvSpPr>
          <p:cNvPr id="18" name="Milestone text 3"/>
          <p:cNvSpPr txBox="1"/>
          <p:nvPr/>
        </p:nvSpPr>
        <p:spPr>
          <a:xfrm>
            <a:off x="4301067" y="3429000"/>
            <a:ext cx="1693333" cy="7620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Findings shared with the steering group</a:t>
            </a:r>
            <a:endParaRPr lang="en-GB" sz="1200">
              <a:solidFill>
                <a:srgbClr val="000000"/>
              </a:solidFill>
              <a:latin typeface="Aptos"/>
              <a:cs typeface="Aptos"/>
            </a:endParaRPr>
          </a:p>
        </p:txBody>
      </p:sp>
      <p:sp>
        <p:nvSpPr>
          <p:cNvPr id="19" name="Milestone date 4"/>
          <p:cNvSpPr txBox="1"/>
          <p:nvPr/>
        </p:nvSpPr>
        <p:spPr>
          <a:xfrm>
            <a:off x="6197600" y="2336800"/>
            <a:ext cx="1693333" cy="279400"/>
          </a:xfrm>
          <a:prstGeom prst="rect">
            <a:avLst/>
          </a:prstGeom>
          <a:noFill/>
          <a:ln>
            <a:noFill/>
          </a:ln>
        </p:spPr>
        <p:txBody>
          <a:bodyPr wrap="square" lIns="0" tIns="0" rIns="0" bIns="0" rtlCol="0" anchor="b" anchorCtr="0">
            <a:noAutofit/>
          </a:bodyPr>
          <a:lstStyle/>
          <a:p>
            <a:pPr marL="0" indent="0" algn="l">
              <a:spcBef>
                <a:spcPts val="0"/>
              </a:spcBef>
              <a:spcAft>
                <a:spcPts val="0"/>
              </a:spcAft>
              <a:buNone/>
            </a:pPr>
            <a:r>
              <a:rPr lang="en-GB" sz="1200" b="1">
                <a:solidFill>
                  <a:srgbClr val="4A4A4C"/>
                </a:solidFill>
                <a:latin typeface="Aptos"/>
                <a:cs typeface="Aptos"/>
              </a:rPr>
              <a:t>June 2027</a:t>
            </a:r>
            <a:endParaRPr lang="en-GB" sz="1200">
              <a:solidFill>
                <a:srgbClr val="4A4A4C"/>
              </a:solidFill>
              <a:latin typeface="Aptos"/>
              <a:cs typeface="Aptos"/>
            </a:endParaRPr>
          </a:p>
        </p:txBody>
      </p:sp>
      <p:sp>
        <p:nvSpPr>
          <p:cNvPr id="20" name="Milestone 4"/>
          <p:cNvSpPr/>
          <p:nvPr/>
        </p:nvSpPr>
        <p:spPr>
          <a:xfrm>
            <a:off x="6197600" y="2755900"/>
            <a:ext cx="177800" cy="177800"/>
          </a:xfrm>
          <a:prstGeom prst="ellipse">
            <a:avLst/>
          </a:prstGeom>
          <a:solidFill>
            <a:srgbClr val="FFFFFF"/>
          </a:solidFill>
          <a:ln w="25400">
            <a:solidFill>
              <a:srgbClr val="328840"/>
            </a:solidFill>
          </a:ln>
        </p:spPr>
      </p:sp>
      <p:sp>
        <p:nvSpPr>
          <p:cNvPr id="21" name="Milestone title 4"/>
          <p:cNvSpPr txBox="1"/>
          <p:nvPr/>
        </p:nvSpPr>
        <p:spPr>
          <a:xfrm>
            <a:off x="6197600" y="3124200"/>
            <a:ext cx="1693333" cy="2540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400" b="1">
                <a:solidFill>
                  <a:srgbClr val="022338"/>
                </a:solidFill>
                <a:latin typeface="Aptos"/>
                <a:cs typeface="Aptos"/>
              </a:rPr>
              <a:t>Options workshop</a:t>
            </a:r>
            <a:endParaRPr lang="en-GB" sz="1400">
              <a:solidFill>
                <a:srgbClr val="022338"/>
              </a:solidFill>
              <a:latin typeface="Aptos"/>
              <a:cs typeface="Aptos"/>
            </a:endParaRPr>
          </a:p>
        </p:txBody>
      </p:sp>
      <p:sp>
        <p:nvSpPr>
          <p:cNvPr id="22" name="Milestone text 4"/>
          <p:cNvSpPr txBox="1"/>
          <p:nvPr/>
        </p:nvSpPr>
        <p:spPr>
          <a:xfrm>
            <a:off x="6197600" y="3429000"/>
            <a:ext cx="1693333" cy="7620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Options tested with stakeholders</a:t>
            </a:r>
            <a:endParaRPr lang="en-GB" sz="1200">
              <a:solidFill>
                <a:srgbClr val="000000"/>
              </a:solidFill>
              <a:latin typeface="Aptos"/>
              <a:cs typeface="Aptos"/>
            </a:endParaRPr>
          </a:p>
        </p:txBody>
      </p:sp>
      <p:sp>
        <p:nvSpPr>
          <p:cNvPr id="23" name="Milestone date 5"/>
          <p:cNvSpPr txBox="1"/>
          <p:nvPr/>
        </p:nvSpPr>
        <p:spPr>
          <a:xfrm>
            <a:off x="8094133" y="2336800"/>
            <a:ext cx="1693333" cy="279400"/>
          </a:xfrm>
          <a:prstGeom prst="rect">
            <a:avLst/>
          </a:prstGeom>
          <a:noFill/>
          <a:ln>
            <a:noFill/>
          </a:ln>
        </p:spPr>
        <p:txBody>
          <a:bodyPr wrap="square" lIns="0" tIns="0" rIns="0" bIns="0" rtlCol="0" anchor="b" anchorCtr="0">
            <a:noAutofit/>
          </a:bodyPr>
          <a:lstStyle/>
          <a:p>
            <a:pPr marL="0" indent="0" algn="l">
              <a:spcBef>
                <a:spcPts val="0"/>
              </a:spcBef>
              <a:spcAft>
                <a:spcPts val="0"/>
              </a:spcAft>
              <a:buNone/>
            </a:pPr>
            <a:r>
              <a:rPr lang="en-GB" sz="1200" b="1">
                <a:solidFill>
                  <a:srgbClr val="4A4A4C"/>
                </a:solidFill>
                <a:latin typeface="Aptos"/>
                <a:cs typeface="Aptos"/>
              </a:rPr>
              <a:t>August 2027</a:t>
            </a:r>
            <a:endParaRPr lang="en-GB" sz="1200">
              <a:solidFill>
                <a:srgbClr val="4A4A4C"/>
              </a:solidFill>
              <a:latin typeface="Aptos"/>
              <a:cs typeface="Aptos"/>
            </a:endParaRPr>
          </a:p>
        </p:txBody>
      </p:sp>
      <p:sp>
        <p:nvSpPr>
          <p:cNvPr id="24" name="Milestone 5"/>
          <p:cNvSpPr/>
          <p:nvPr/>
        </p:nvSpPr>
        <p:spPr>
          <a:xfrm>
            <a:off x="8094133" y="2755900"/>
            <a:ext cx="177800" cy="177800"/>
          </a:xfrm>
          <a:prstGeom prst="ellipse">
            <a:avLst/>
          </a:prstGeom>
          <a:solidFill>
            <a:srgbClr val="FFFFFF"/>
          </a:solidFill>
          <a:ln w="25400">
            <a:solidFill>
              <a:srgbClr val="328840"/>
            </a:solidFill>
          </a:ln>
        </p:spPr>
      </p:sp>
      <p:sp>
        <p:nvSpPr>
          <p:cNvPr id="25" name="Milestone title 5"/>
          <p:cNvSpPr txBox="1"/>
          <p:nvPr/>
        </p:nvSpPr>
        <p:spPr>
          <a:xfrm>
            <a:off x="8094133" y="3124200"/>
            <a:ext cx="1693333" cy="2540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400" b="1">
                <a:solidFill>
                  <a:srgbClr val="022338"/>
                </a:solidFill>
                <a:latin typeface="Aptos"/>
                <a:cs typeface="Aptos"/>
              </a:rPr>
              <a:t>Draft report</a:t>
            </a:r>
            <a:endParaRPr lang="en-GB" sz="1400">
              <a:solidFill>
                <a:srgbClr val="022338"/>
              </a:solidFill>
              <a:latin typeface="Aptos"/>
              <a:cs typeface="Aptos"/>
            </a:endParaRPr>
          </a:p>
        </p:txBody>
      </p:sp>
      <p:sp>
        <p:nvSpPr>
          <p:cNvPr id="26" name="Milestone text 5"/>
          <p:cNvSpPr txBox="1"/>
          <p:nvPr/>
        </p:nvSpPr>
        <p:spPr>
          <a:xfrm>
            <a:off x="8094133" y="3429000"/>
            <a:ext cx="1693333" cy="7620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Recommendations shared for comment</a:t>
            </a:r>
            <a:endParaRPr lang="en-GB" sz="1200">
              <a:solidFill>
                <a:srgbClr val="000000"/>
              </a:solidFill>
              <a:latin typeface="Aptos"/>
              <a:cs typeface="Aptos"/>
            </a:endParaRPr>
          </a:p>
        </p:txBody>
      </p:sp>
      <p:sp>
        <p:nvSpPr>
          <p:cNvPr id="27" name="Milestone date 6"/>
          <p:cNvSpPr txBox="1"/>
          <p:nvPr/>
        </p:nvSpPr>
        <p:spPr>
          <a:xfrm>
            <a:off x="9990667" y="2336800"/>
            <a:ext cx="1693333" cy="279400"/>
          </a:xfrm>
          <a:prstGeom prst="rect">
            <a:avLst/>
          </a:prstGeom>
          <a:noFill/>
          <a:ln>
            <a:noFill/>
          </a:ln>
        </p:spPr>
        <p:txBody>
          <a:bodyPr wrap="square" lIns="0" tIns="0" rIns="0" bIns="0" rtlCol="0" anchor="b" anchorCtr="0">
            <a:noAutofit/>
          </a:bodyPr>
          <a:lstStyle/>
          <a:p>
            <a:pPr marL="0" indent="0" algn="l">
              <a:spcBef>
                <a:spcPts val="0"/>
              </a:spcBef>
              <a:spcAft>
                <a:spcPts val="0"/>
              </a:spcAft>
              <a:buNone/>
            </a:pPr>
            <a:r>
              <a:rPr lang="en-GB" sz="1200" b="1">
                <a:solidFill>
                  <a:srgbClr val="4A4A4C"/>
                </a:solidFill>
                <a:latin typeface="Aptos"/>
                <a:cs typeface="Aptos"/>
              </a:rPr>
              <a:t>October 2027</a:t>
            </a:r>
            <a:endParaRPr lang="en-GB" sz="1200">
              <a:solidFill>
                <a:srgbClr val="4A4A4C"/>
              </a:solidFill>
              <a:latin typeface="Aptos"/>
              <a:cs typeface="Aptos"/>
            </a:endParaRPr>
          </a:p>
        </p:txBody>
      </p:sp>
      <p:sp>
        <p:nvSpPr>
          <p:cNvPr id="28" name="Milestone 6"/>
          <p:cNvSpPr/>
          <p:nvPr/>
        </p:nvSpPr>
        <p:spPr>
          <a:xfrm>
            <a:off x="9990667" y="2755900"/>
            <a:ext cx="177800" cy="177800"/>
          </a:xfrm>
          <a:prstGeom prst="ellipse">
            <a:avLst/>
          </a:prstGeom>
          <a:solidFill>
            <a:srgbClr val="FFFFFF"/>
          </a:solidFill>
          <a:ln w="25400">
            <a:solidFill>
              <a:srgbClr val="328840"/>
            </a:solidFill>
          </a:ln>
        </p:spPr>
      </p:sp>
      <p:sp>
        <p:nvSpPr>
          <p:cNvPr id="29" name="Milestone title 6"/>
          <p:cNvSpPr txBox="1"/>
          <p:nvPr/>
        </p:nvSpPr>
        <p:spPr>
          <a:xfrm>
            <a:off x="9990667" y="3124200"/>
            <a:ext cx="1693333" cy="2540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400" b="1">
                <a:solidFill>
                  <a:srgbClr val="022338"/>
                </a:solidFill>
                <a:latin typeface="Aptos"/>
                <a:cs typeface="Aptos"/>
              </a:rPr>
              <a:t>Final report</a:t>
            </a:r>
            <a:endParaRPr lang="en-GB" sz="1400">
              <a:solidFill>
                <a:srgbClr val="022338"/>
              </a:solidFill>
              <a:latin typeface="Aptos"/>
              <a:cs typeface="Aptos"/>
            </a:endParaRPr>
          </a:p>
        </p:txBody>
      </p:sp>
      <p:sp>
        <p:nvSpPr>
          <p:cNvPr id="30" name="Milestone text 6"/>
          <p:cNvSpPr txBox="1"/>
          <p:nvPr/>
        </p:nvSpPr>
        <p:spPr>
          <a:xfrm>
            <a:off x="9990667" y="3429000"/>
            <a:ext cx="1693333" cy="7620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Final version and handover</a:t>
            </a:r>
            <a:endParaRPr lang="en-GB" sz="1200">
              <a:solidFill>
                <a:srgbClr val="000000"/>
              </a:solidFill>
              <a:latin typeface="Aptos"/>
              <a:cs typeface="Aptos"/>
            </a:endParaRPr>
          </a:p>
        </p:txBody>
      </p:sp>
      <p:sp>
        <p:nvSpPr>
          <p:cNvPr id="31" name="Legend completed"/>
          <p:cNvSpPr/>
          <p:nvPr/>
        </p:nvSpPr>
        <p:spPr>
          <a:xfrm>
            <a:off x="508000" y="4470400"/>
            <a:ext cx="127000" cy="127000"/>
          </a:xfrm>
          <a:prstGeom prst="ellipse">
            <a:avLst/>
          </a:prstGeom>
          <a:solidFill>
            <a:srgbClr val="328840"/>
          </a:solidFill>
          <a:ln w="19050">
            <a:solidFill>
              <a:srgbClr val="328840"/>
            </a:solidFill>
          </a:ln>
        </p:spPr>
      </p:sp>
      <p:sp>
        <p:nvSpPr>
          <p:cNvPr id="32" name="Legend completed text"/>
          <p:cNvSpPr txBox="1"/>
          <p:nvPr/>
        </p:nvSpPr>
        <p:spPr>
          <a:xfrm>
            <a:off x="711200" y="4432300"/>
            <a:ext cx="1016000" cy="2032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000">
                <a:solidFill>
                  <a:srgbClr val="4A4A4C"/>
                </a:solidFill>
                <a:latin typeface="Aptos"/>
                <a:cs typeface="Aptos"/>
              </a:rPr>
              <a:t>Completed</a:t>
            </a:r>
            <a:endParaRPr lang="en-GB" sz="1000">
              <a:solidFill>
                <a:srgbClr val="4A4A4C"/>
              </a:solidFill>
              <a:latin typeface="Aptos"/>
              <a:cs typeface="Aptos"/>
            </a:endParaRPr>
          </a:p>
        </p:txBody>
      </p:sp>
      <p:sp>
        <p:nvSpPr>
          <p:cNvPr id="33" name="Legend planned"/>
          <p:cNvSpPr/>
          <p:nvPr/>
        </p:nvSpPr>
        <p:spPr>
          <a:xfrm>
            <a:off x="1778000" y="4470400"/>
            <a:ext cx="127000" cy="127000"/>
          </a:xfrm>
          <a:prstGeom prst="ellipse">
            <a:avLst/>
          </a:prstGeom>
          <a:solidFill>
            <a:srgbClr val="FFFFFF"/>
          </a:solidFill>
          <a:ln w="19050">
            <a:solidFill>
              <a:srgbClr val="328840"/>
            </a:solidFill>
          </a:ln>
        </p:spPr>
      </p:sp>
      <p:sp>
        <p:nvSpPr>
          <p:cNvPr id="34" name="Legend planned text"/>
          <p:cNvSpPr txBox="1"/>
          <p:nvPr/>
        </p:nvSpPr>
        <p:spPr>
          <a:xfrm>
            <a:off x="1981200" y="4432300"/>
            <a:ext cx="1016000" cy="2032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000">
                <a:solidFill>
                  <a:srgbClr val="4A4A4C"/>
                </a:solidFill>
                <a:latin typeface="Aptos"/>
                <a:cs typeface="Aptos"/>
              </a:rPr>
              <a:t>Planned</a:t>
            </a:r>
            <a:endParaRPr lang="en-GB" sz="1000">
              <a:solidFill>
                <a:srgbClr val="4A4A4C"/>
              </a:solidFill>
              <a:latin typeface="Aptos"/>
              <a:cs typeface="Aptos"/>
            </a:endParaRPr>
          </a:p>
        </p:txBody>
      </p:sp>
      <p:sp>
        <p:nvSpPr>
          <p:cNvPr id="35" name="Callout"/>
          <p:cNvSpPr/>
          <p:nvPr/>
        </p:nvSpPr>
        <p:spPr>
          <a:xfrm>
            <a:off x="508000" y="5130800"/>
            <a:ext cx="11176000" cy="812800"/>
          </a:xfrm>
          <a:prstGeom prst="rect">
            <a:avLst/>
          </a:prstGeom>
          <a:solidFill>
            <a:srgbClr val="F7F8F5"/>
          </a:solidFill>
          <a:ln>
            <a:noFill/>
          </a:ln>
        </p:spPr>
        <p:txBody>
          <a:bodyPr wrap="square" lIns="254000" tIns="152400" rIns="203200" bIns="152400" rtlCol="0" anchor="t" anchorCtr="0">
            <a:noAutofit/>
          </a:bodyPr>
          <a:lstStyle/>
          <a:p>
            <a:pPr marL="0" indent="0" algn="l">
              <a:spcBef>
                <a:spcPts val="0"/>
              </a:spcBef>
              <a:spcAft>
                <a:spcPts val="400"/>
              </a:spcAft>
              <a:buNone/>
            </a:pPr>
            <a:r>
              <a:rPr lang="en-GB" sz="1400" b="1">
                <a:solidFill>
                  <a:srgbClr val="022338"/>
                </a:solidFill>
                <a:latin typeface="Aptos"/>
                <a:cs typeface="Aptos"/>
              </a:rPr>
              <a:t>Critical path</a:t>
            </a:r>
            <a:endParaRPr lang="en-GB" sz="1400">
              <a:solidFill>
                <a:srgbClr val="022338"/>
              </a:solidFill>
              <a:latin typeface="Aptos"/>
              <a:cs typeface="Aptos"/>
            </a:endParaRPr>
          </a:p>
          <a:p>
            <a:pPr marL="0" indent="0" algn="l">
              <a:spcBef>
                <a:spcPts val="0"/>
              </a:spcBef>
              <a:spcAft>
                <a:spcPts val="0"/>
              </a:spcAft>
              <a:buNone/>
            </a:pPr>
            <a:r>
              <a:rPr lang="en-GB" sz="1200">
                <a:solidFill>
                  <a:srgbClr val="000000"/>
                </a:solidFill>
                <a:latin typeface="Aptos"/>
                <a:cs typeface="Aptos"/>
              </a:rPr>
              <a:t>Name the dependency that would delay the final milestone, who owns it and when it must be resolved.</a:t>
            </a:r>
            <a:endParaRPr lang="en-GB" sz="1200">
              <a:solidFill>
                <a:srgbClr val="000000"/>
              </a:solidFill>
              <a:latin typeface="Aptos"/>
              <a:cs typeface="Aptos"/>
            </a:endParaRPr>
          </a:p>
        </p:txBody>
      </p:sp>
      <p:sp>
        <p:nvSpPr>
          <p:cNvPr id="36" name="Callout bar"/>
          <p:cNvSpPr/>
          <p:nvPr/>
        </p:nvSpPr>
        <p:spPr>
          <a:xfrm>
            <a:off x="508000" y="5130800"/>
            <a:ext cx="50800" cy="812800"/>
          </a:xfrm>
          <a:prstGeom prst="rect">
            <a:avLst/>
          </a:prstGeom>
          <a:solidFill>
            <a:srgbClr val="328840"/>
          </a:solidFill>
          <a:ln>
            <a:noFill/>
          </a:ln>
        </p:spPr>
      </p:sp>
      <p:sp>
        <p:nvSpPr>
          <p:cNvPr id="37" name="Slide number"/>
          <p:cNvSpPr>
            <a:spLocks noGrp="1"/>
          </p:cNvSpPr>
          <p:nvPr>
            <p:ph type="sldNum" sz="quarter" idx="12"/>
          </p:nvPr>
        </p:nvSpPr>
        <p:spPr/>
        <p:txBody>
          <a:bodyPr/>
          <a:lstStyle/>
          <a:p>
            <a:fld id="{B6F15528-21DE-4FAA-801E-634DDDAF4B2B}" type="slidenum">
              <a:rPr lang="en-GB"/>
              <a:t>12</a:t>
            </a:fld>
            <a:endParaRPr lang="en-GB"/>
          </a:p>
        </p:txBody>
      </p:sp>
    </p:spTree>
    <p:extLst>
      <p:ext uri="{BB962C8B-B14F-4D97-AF65-F5344CB8AC3E}">
        <p14:creationId xmlns:p14="http://schemas.microsoft.com/office/powerpoint/2010/main" val="825329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Action title: the workplan delivers the final report in week 12</a:t>
            </a:r>
            <a:endParaRPr lang="en-GB"/>
          </a:p>
        </p:txBody>
      </p:sp>
      <p:graphicFrame>
        <p:nvGraphicFramePr>
          <p:cNvPr id="3" name="Workplan"/>
          <p:cNvGraphicFramePr>
            <a:graphicFrameLocks noGrp="1"/>
          </p:cNvGraphicFramePr>
          <p:nvPr/>
        </p:nvGraphicFramePr>
        <p:xfrm>
          <a:off x="508000" y="1371600"/>
          <a:ext cx="11176000" cy="4140200"/>
        </p:xfrm>
        <a:graphic>
          <a:graphicData uri="http://schemas.openxmlformats.org/drawingml/2006/table">
            <a:tbl>
              <a:tblPr firstRow="1" bandRow="0">
                <a:tableStyleId>{2D5ABB26-0587-4C30-8999-92F81FD0307C}</a:tableStyleId>
              </a:tblPr>
              <a:tblGrid>
                <a:gridCol w="3793067"/>
                <a:gridCol w="615244"/>
                <a:gridCol w="615244"/>
                <a:gridCol w="615244"/>
                <a:gridCol w="615244"/>
                <a:gridCol w="615244"/>
                <a:gridCol w="615244"/>
                <a:gridCol w="615244"/>
                <a:gridCol w="615244"/>
                <a:gridCol w="615244"/>
                <a:gridCol w="615244"/>
                <a:gridCol w="615244"/>
                <a:gridCol w="615244"/>
              </a:tblGrid>
              <a:tr h="304800">
                <a:tc rowSpan="2">
                  <a:txBody>
                    <a:bodyPr/>
                    <a:lstStyle/>
                    <a:p>
                      <a:pPr marL="0" indent="0" algn="l">
                        <a:spcBef>
                          <a:spcPts val="0"/>
                        </a:spcBef>
                        <a:spcAft>
                          <a:spcPts val="0"/>
                        </a:spcAft>
                        <a:buNone/>
                      </a:pPr>
                      <a:r>
                        <a:rPr lang="en-GB" sz="1100" b="1">
                          <a:solidFill>
                            <a:srgbClr val="FFFFFF"/>
                          </a:solidFill>
                          <a:latin typeface="Aptos"/>
                          <a:cs typeface="Aptos"/>
                        </a:rPr>
                        <a:t>Workstream and activity</a:t>
                      </a:r>
                      <a:endParaRPr lang="en-GB" sz="1100">
                        <a:solidFill>
                          <a:srgbClr val="FFFFFF"/>
                        </a:solidFill>
                        <a:latin typeface="Aptos"/>
                        <a:cs typeface="Aptos"/>
                      </a:endParaRPr>
                    </a:p>
                  </a:txBody>
                  <a:tcPr marL="101600" marR="101600" marT="50800" marB="76200" anchor="b">
                    <a:lnL w="0">
                      <a:noFill/>
                    </a:lnL>
                    <a:lnR w="0">
                      <a:noFill/>
                    </a:lnR>
                    <a:lnT w="0">
                      <a:noFill/>
                    </a:lnT>
                    <a:lnB w="12700" cap="flat" cmpd="sng" algn="ctr">
                      <a:solidFill>
                        <a:srgbClr val="FFFFFF"/>
                      </a:solidFill>
                      <a:prstDash val="solid"/>
                    </a:lnB>
                    <a:solidFill>
                      <a:srgbClr val="022338"/>
                    </a:solidFill>
                  </a:tcPr>
                </a:tc>
                <a:tc gridSpan="4">
                  <a:txBody>
                    <a:bodyPr/>
                    <a:lstStyle/>
                    <a:p>
                      <a:pPr marL="0" indent="0" algn="ctr">
                        <a:spcBef>
                          <a:spcPts val="0"/>
                        </a:spcBef>
                        <a:spcAft>
                          <a:spcPts val="0"/>
                        </a:spcAft>
                        <a:buNone/>
                      </a:pPr>
                      <a:r>
                        <a:rPr lang="en-GB" sz="1100" b="1">
                          <a:solidFill>
                            <a:srgbClr val="FFFFFF"/>
                          </a:solidFill>
                          <a:latin typeface="Aptos"/>
                          <a:cs typeface="Aptos"/>
                        </a:rPr>
                        <a:t>Month 1</a:t>
                      </a:r>
                      <a:endParaRPr lang="en-GB" sz="1100">
                        <a:solidFill>
                          <a:srgbClr val="FFFFFF"/>
                        </a:solidFill>
                        <a:latin typeface="Aptos"/>
                        <a:cs typeface="Aptos"/>
                      </a:endParaRPr>
                    </a:p>
                  </a:txBody>
                  <a:tcPr marL="76200" marR="76200" marT="50800" marB="50800" anchor="ctr">
                    <a:lnL w="12700" cap="flat" cmpd="sng" algn="ctr">
                      <a:solidFill>
                        <a:srgbClr val="FFFFFF"/>
                      </a:solidFill>
                      <a:prstDash val="solid"/>
                    </a:lnL>
                    <a:lnR w="0">
                      <a:noFill/>
                    </a:lnR>
                    <a:lnT w="0">
                      <a:noFill/>
                    </a:lnT>
                    <a:lnB w="12700" cap="flat" cmpd="sng" algn="ctr">
                      <a:solidFill>
                        <a:srgbClr val="FFFFFF"/>
                      </a:solidFill>
                      <a:prstDash val="solid"/>
                    </a:lnB>
                    <a:solidFill>
                      <a:srgbClr val="022338"/>
                    </a:solidFill>
                  </a:tcPr>
                </a:tc>
                <a:tc hMerge="1">
                  <a:txBody>
                    <a:bodyPr/>
                    <a:lstStyle/>
                    <a:p>
                      <a:pPr marL="0" indent="0" algn="l">
                        <a:spcBef>
                          <a:spcPts val="0"/>
                        </a:spcBef>
                        <a:spcAft>
                          <a:spcPts val="0"/>
                        </a:spcAft>
                        <a:buNone/>
                      </a:pPr>
                      <a:endParaRPr lang="en-GB" sz="1400">
                        <a:solidFill>
                          <a:srgbClr val="000000"/>
                        </a:solidFill>
                        <a:latin typeface="Aptos"/>
                        <a:cs typeface="Aptos"/>
                      </a:endParaRPr>
                    </a:p>
                  </a:txBody>
                  <a:tcPr marL="76200" marR="76200" marT="50800" marB="50800" anchor="ctr">
                    <a:lnL w="0">
                      <a:noFill/>
                    </a:lnL>
                    <a:lnR w="0">
                      <a:noFill/>
                    </a:lnR>
                    <a:lnT w="0">
                      <a:noFill/>
                    </a:lnT>
                    <a:lnB w="0">
                      <a:noFill/>
                    </a:lnB>
                    <a:solidFill>
                      <a:srgbClr val="022338"/>
                    </a:solidFill>
                  </a:tcPr>
                </a:tc>
                <a:tc hMerge="1">
                  <a:txBody>
                    <a:bodyPr/>
                    <a:lstStyle/>
                    <a:p>
                      <a:pPr marL="0" indent="0" algn="l">
                        <a:spcBef>
                          <a:spcPts val="0"/>
                        </a:spcBef>
                        <a:spcAft>
                          <a:spcPts val="0"/>
                        </a:spcAft>
                        <a:buNone/>
                      </a:pPr>
                      <a:endParaRPr lang="en-GB" sz="1400">
                        <a:solidFill>
                          <a:srgbClr val="000000"/>
                        </a:solidFill>
                        <a:latin typeface="Aptos"/>
                        <a:cs typeface="Aptos"/>
                      </a:endParaRPr>
                    </a:p>
                  </a:txBody>
                  <a:tcPr marL="76200" marR="76200" marT="50800" marB="50800" anchor="ctr">
                    <a:lnL w="0">
                      <a:noFill/>
                    </a:lnL>
                    <a:lnR w="0">
                      <a:noFill/>
                    </a:lnR>
                    <a:lnT w="0">
                      <a:noFill/>
                    </a:lnT>
                    <a:lnB w="0">
                      <a:noFill/>
                    </a:lnB>
                    <a:solidFill>
                      <a:srgbClr val="022338"/>
                    </a:solidFill>
                  </a:tcPr>
                </a:tc>
                <a:tc hMerge="1">
                  <a:txBody>
                    <a:bodyPr/>
                    <a:lstStyle/>
                    <a:p>
                      <a:pPr marL="0" indent="0" algn="l">
                        <a:spcBef>
                          <a:spcPts val="0"/>
                        </a:spcBef>
                        <a:spcAft>
                          <a:spcPts val="0"/>
                        </a:spcAft>
                        <a:buNone/>
                      </a:pPr>
                      <a:endParaRPr lang="en-GB" sz="1400">
                        <a:solidFill>
                          <a:srgbClr val="000000"/>
                        </a:solidFill>
                        <a:latin typeface="Aptos"/>
                        <a:cs typeface="Aptos"/>
                      </a:endParaRPr>
                    </a:p>
                  </a:txBody>
                  <a:tcPr marL="76200" marR="76200" marT="50800" marB="50800" anchor="ctr">
                    <a:lnL w="0">
                      <a:noFill/>
                    </a:lnL>
                    <a:lnR w="0">
                      <a:noFill/>
                    </a:lnR>
                    <a:lnT w="0">
                      <a:noFill/>
                    </a:lnT>
                    <a:lnB w="0">
                      <a:noFill/>
                    </a:lnB>
                    <a:solidFill>
                      <a:srgbClr val="022338"/>
                    </a:solidFill>
                  </a:tcPr>
                </a:tc>
                <a:tc gridSpan="4">
                  <a:txBody>
                    <a:bodyPr/>
                    <a:lstStyle/>
                    <a:p>
                      <a:pPr marL="0" indent="0" algn="ctr">
                        <a:spcBef>
                          <a:spcPts val="0"/>
                        </a:spcBef>
                        <a:spcAft>
                          <a:spcPts val="0"/>
                        </a:spcAft>
                        <a:buNone/>
                      </a:pPr>
                      <a:r>
                        <a:rPr lang="en-GB" sz="1100" b="1">
                          <a:solidFill>
                            <a:srgbClr val="FFFFFF"/>
                          </a:solidFill>
                          <a:latin typeface="Aptos"/>
                          <a:cs typeface="Aptos"/>
                        </a:rPr>
                        <a:t>Month 2</a:t>
                      </a:r>
                      <a:endParaRPr lang="en-GB" sz="1100">
                        <a:solidFill>
                          <a:srgbClr val="FFFFFF"/>
                        </a:solidFill>
                        <a:latin typeface="Aptos"/>
                        <a:cs typeface="Aptos"/>
                      </a:endParaRPr>
                    </a:p>
                  </a:txBody>
                  <a:tcPr marL="76200" marR="76200" marT="50800" marB="50800" anchor="ctr">
                    <a:lnL w="12700" cap="flat" cmpd="sng" algn="ctr">
                      <a:solidFill>
                        <a:srgbClr val="FFFFFF"/>
                      </a:solidFill>
                      <a:prstDash val="solid"/>
                    </a:lnL>
                    <a:lnR w="0">
                      <a:noFill/>
                    </a:lnR>
                    <a:lnT w="0">
                      <a:noFill/>
                    </a:lnT>
                    <a:lnB w="12700" cap="flat" cmpd="sng" algn="ctr">
                      <a:solidFill>
                        <a:srgbClr val="FFFFFF"/>
                      </a:solidFill>
                      <a:prstDash val="solid"/>
                    </a:lnB>
                    <a:solidFill>
                      <a:srgbClr val="022338"/>
                    </a:solidFill>
                  </a:tcPr>
                </a:tc>
                <a:tc hMerge="1">
                  <a:txBody>
                    <a:bodyPr/>
                    <a:lstStyle/>
                    <a:p>
                      <a:pPr marL="0" indent="0" algn="l">
                        <a:spcBef>
                          <a:spcPts val="0"/>
                        </a:spcBef>
                        <a:spcAft>
                          <a:spcPts val="0"/>
                        </a:spcAft>
                        <a:buNone/>
                      </a:pPr>
                      <a:endParaRPr lang="en-GB" sz="1400">
                        <a:solidFill>
                          <a:srgbClr val="000000"/>
                        </a:solidFill>
                        <a:latin typeface="Aptos"/>
                        <a:cs typeface="Aptos"/>
                      </a:endParaRPr>
                    </a:p>
                  </a:txBody>
                  <a:tcPr marL="76200" marR="76200" marT="50800" marB="50800" anchor="ctr">
                    <a:lnL w="0">
                      <a:noFill/>
                    </a:lnL>
                    <a:lnR w="0">
                      <a:noFill/>
                    </a:lnR>
                    <a:lnT w="0">
                      <a:noFill/>
                    </a:lnT>
                    <a:lnB w="0">
                      <a:noFill/>
                    </a:lnB>
                    <a:solidFill>
                      <a:srgbClr val="022338"/>
                    </a:solidFill>
                  </a:tcPr>
                </a:tc>
                <a:tc hMerge="1">
                  <a:txBody>
                    <a:bodyPr/>
                    <a:lstStyle/>
                    <a:p>
                      <a:pPr marL="0" indent="0" algn="l">
                        <a:spcBef>
                          <a:spcPts val="0"/>
                        </a:spcBef>
                        <a:spcAft>
                          <a:spcPts val="0"/>
                        </a:spcAft>
                        <a:buNone/>
                      </a:pPr>
                      <a:endParaRPr lang="en-GB" sz="1400">
                        <a:solidFill>
                          <a:srgbClr val="000000"/>
                        </a:solidFill>
                        <a:latin typeface="Aptos"/>
                        <a:cs typeface="Aptos"/>
                      </a:endParaRPr>
                    </a:p>
                  </a:txBody>
                  <a:tcPr marL="76200" marR="76200" marT="50800" marB="50800" anchor="ctr">
                    <a:lnL w="0">
                      <a:noFill/>
                    </a:lnL>
                    <a:lnR w="0">
                      <a:noFill/>
                    </a:lnR>
                    <a:lnT w="0">
                      <a:noFill/>
                    </a:lnT>
                    <a:lnB w="0">
                      <a:noFill/>
                    </a:lnB>
                    <a:solidFill>
                      <a:srgbClr val="022338"/>
                    </a:solidFill>
                  </a:tcPr>
                </a:tc>
                <a:tc hMerge="1">
                  <a:txBody>
                    <a:bodyPr/>
                    <a:lstStyle/>
                    <a:p>
                      <a:pPr marL="0" indent="0" algn="l">
                        <a:spcBef>
                          <a:spcPts val="0"/>
                        </a:spcBef>
                        <a:spcAft>
                          <a:spcPts val="0"/>
                        </a:spcAft>
                        <a:buNone/>
                      </a:pPr>
                      <a:endParaRPr lang="en-GB" sz="1400">
                        <a:solidFill>
                          <a:srgbClr val="000000"/>
                        </a:solidFill>
                        <a:latin typeface="Aptos"/>
                        <a:cs typeface="Aptos"/>
                      </a:endParaRPr>
                    </a:p>
                  </a:txBody>
                  <a:tcPr marL="76200" marR="76200" marT="50800" marB="50800" anchor="ctr">
                    <a:lnL w="0">
                      <a:noFill/>
                    </a:lnL>
                    <a:lnR w="0">
                      <a:noFill/>
                    </a:lnR>
                    <a:lnT w="0">
                      <a:noFill/>
                    </a:lnT>
                    <a:lnB w="0">
                      <a:noFill/>
                    </a:lnB>
                    <a:solidFill>
                      <a:srgbClr val="022338"/>
                    </a:solidFill>
                  </a:tcPr>
                </a:tc>
                <a:tc gridSpan="4">
                  <a:txBody>
                    <a:bodyPr/>
                    <a:lstStyle/>
                    <a:p>
                      <a:pPr marL="0" indent="0" algn="ctr">
                        <a:spcBef>
                          <a:spcPts val="0"/>
                        </a:spcBef>
                        <a:spcAft>
                          <a:spcPts val="0"/>
                        </a:spcAft>
                        <a:buNone/>
                      </a:pPr>
                      <a:r>
                        <a:rPr lang="en-GB" sz="1100" b="1">
                          <a:solidFill>
                            <a:srgbClr val="FFFFFF"/>
                          </a:solidFill>
                          <a:latin typeface="Aptos"/>
                          <a:cs typeface="Aptos"/>
                        </a:rPr>
                        <a:t>Month 3</a:t>
                      </a:r>
                      <a:endParaRPr lang="en-GB" sz="1100">
                        <a:solidFill>
                          <a:srgbClr val="FFFFFF"/>
                        </a:solidFill>
                        <a:latin typeface="Aptos"/>
                        <a:cs typeface="Aptos"/>
                      </a:endParaRPr>
                    </a:p>
                  </a:txBody>
                  <a:tcPr marL="76200" marR="76200" marT="50800" marB="50800" anchor="ctr">
                    <a:lnL w="12700" cap="flat" cmpd="sng" algn="ctr">
                      <a:solidFill>
                        <a:srgbClr val="FFFFFF"/>
                      </a:solidFill>
                      <a:prstDash val="solid"/>
                    </a:lnL>
                    <a:lnR w="0">
                      <a:noFill/>
                    </a:lnR>
                    <a:lnT w="0">
                      <a:noFill/>
                    </a:lnT>
                    <a:lnB w="12700" cap="flat" cmpd="sng" algn="ctr">
                      <a:solidFill>
                        <a:srgbClr val="FFFFFF"/>
                      </a:solidFill>
                      <a:prstDash val="solid"/>
                    </a:lnB>
                    <a:solidFill>
                      <a:srgbClr val="022338"/>
                    </a:solidFill>
                  </a:tcPr>
                </a:tc>
                <a:tc hMerge="1">
                  <a:txBody>
                    <a:bodyPr/>
                    <a:lstStyle/>
                    <a:p>
                      <a:pPr marL="0" indent="0" algn="l">
                        <a:spcBef>
                          <a:spcPts val="0"/>
                        </a:spcBef>
                        <a:spcAft>
                          <a:spcPts val="0"/>
                        </a:spcAft>
                        <a:buNone/>
                      </a:pPr>
                      <a:endParaRPr lang="en-GB" sz="1400">
                        <a:solidFill>
                          <a:srgbClr val="000000"/>
                        </a:solidFill>
                        <a:latin typeface="Aptos"/>
                        <a:cs typeface="Aptos"/>
                      </a:endParaRPr>
                    </a:p>
                  </a:txBody>
                  <a:tcPr marL="76200" marR="76200" marT="50800" marB="50800" anchor="ctr">
                    <a:lnL w="0">
                      <a:noFill/>
                    </a:lnL>
                    <a:lnR w="0">
                      <a:noFill/>
                    </a:lnR>
                    <a:lnT w="0">
                      <a:noFill/>
                    </a:lnT>
                    <a:lnB w="0">
                      <a:noFill/>
                    </a:lnB>
                    <a:solidFill>
                      <a:srgbClr val="022338"/>
                    </a:solidFill>
                  </a:tcPr>
                </a:tc>
                <a:tc hMerge="1">
                  <a:txBody>
                    <a:bodyPr/>
                    <a:lstStyle/>
                    <a:p>
                      <a:pPr marL="0" indent="0" algn="l">
                        <a:spcBef>
                          <a:spcPts val="0"/>
                        </a:spcBef>
                        <a:spcAft>
                          <a:spcPts val="0"/>
                        </a:spcAft>
                        <a:buNone/>
                      </a:pPr>
                      <a:endParaRPr lang="en-GB" sz="1400">
                        <a:solidFill>
                          <a:srgbClr val="000000"/>
                        </a:solidFill>
                        <a:latin typeface="Aptos"/>
                        <a:cs typeface="Aptos"/>
                      </a:endParaRPr>
                    </a:p>
                  </a:txBody>
                  <a:tcPr marL="76200" marR="76200" marT="50800" marB="50800" anchor="ctr">
                    <a:lnL w="0">
                      <a:noFill/>
                    </a:lnL>
                    <a:lnR w="0">
                      <a:noFill/>
                    </a:lnR>
                    <a:lnT w="0">
                      <a:noFill/>
                    </a:lnT>
                    <a:lnB w="0">
                      <a:noFill/>
                    </a:lnB>
                    <a:solidFill>
                      <a:srgbClr val="022338"/>
                    </a:solidFill>
                  </a:tcPr>
                </a:tc>
                <a:tc hMerge="1">
                  <a:txBody>
                    <a:bodyPr/>
                    <a:lstStyle/>
                    <a:p>
                      <a:pPr marL="0" indent="0" algn="l">
                        <a:spcBef>
                          <a:spcPts val="0"/>
                        </a:spcBef>
                        <a:spcAft>
                          <a:spcPts val="0"/>
                        </a:spcAft>
                        <a:buNone/>
                      </a:pPr>
                      <a:endParaRPr lang="en-GB" sz="1400">
                        <a:solidFill>
                          <a:srgbClr val="000000"/>
                        </a:solidFill>
                        <a:latin typeface="Aptos"/>
                        <a:cs typeface="Aptos"/>
                      </a:endParaRPr>
                    </a:p>
                  </a:txBody>
                  <a:tcPr marL="76200" marR="76200" marT="50800" marB="50800" anchor="ctr">
                    <a:lnL w="0">
                      <a:noFill/>
                    </a:lnL>
                    <a:lnR w="0">
                      <a:noFill/>
                    </a:lnR>
                    <a:lnT w="0">
                      <a:noFill/>
                    </a:lnT>
                    <a:lnB w="0">
                      <a:noFill/>
                    </a:lnB>
                    <a:solidFill>
                      <a:srgbClr val="022338"/>
                    </a:solidFill>
                  </a:tcPr>
                </a:tc>
              </a:tr>
              <a:tr h="279400">
                <a:tc vMerge="1">
                  <a:txBody>
                    <a:bodyPr/>
                    <a:lstStyle/>
                    <a:p>
                      <a:pPr marL="0" indent="0" algn="l">
                        <a:spcBef>
                          <a:spcPts val="0"/>
                        </a:spcBef>
                        <a:spcAft>
                          <a:spcPts val="0"/>
                        </a:spcAft>
                        <a:buNone/>
                      </a:pPr>
                      <a:endParaRPr lang="en-GB" sz="1400">
                        <a:solidFill>
                          <a:srgbClr val="000000"/>
                        </a:solidFill>
                        <a:latin typeface="Aptos"/>
                        <a:cs typeface="Aptos"/>
                      </a:endParaRPr>
                    </a:p>
                  </a:txBody>
                  <a:tcPr marL="76200" marR="76200" marT="50800" marB="50800" anchor="ctr">
                    <a:lnL w="0">
                      <a:noFill/>
                    </a:lnL>
                    <a:lnR w="0">
                      <a:noFill/>
                    </a:lnR>
                    <a:lnT w="0">
                      <a:noFill/>
                    </a:lnT>
                    <a:lnB w="0">
                      <a:noFill/>
                    </a:lnB>
                    <a:solidFill>
                      <a:srgbClr val="022338"/>
                    </a:solidFill>
                  </a:tcPr>
                </a:tc>
                <a:tc>
                  <a:txBody>
                    <a:bodyPr/>
                    <a:lstStyle/>
                    <a:p>
                      <a:pPr marL="0" indent="0" algn="ctr">
                        <a:spcBef>
                          <a:spcPts val="0"/>
                        </a:spcBef>
                        <a:spcAft>
                          <a:spcPts val="0"/>
                        </a:spcAft>
                        <a:buNone/>
                      </a:pPr>
                      <a:r>
                        <a:rPr lang="en-GB" sz="1000">
                          <a:solidFill>
                            <a:srgbClr val="FFFFFF"/>
                          </a:solidFill>
                          <a:latin typeface="Aptos"/>
                          <a:cs typeface="Aptos"/>
                        </a:rPr>
                        <a:t>1</a:t>
                      </a:r>
                      <a:endParaRPr lang="en-GB" sz="1000">
                        <a:solidFill>
                          <a:srgbClr val="FFFFFF"/>
                        </a:solidFill>
                        <a:latin typeface="Aptos"/>
                        <a:cs typeface="Aptos"/>
                      </a:endParaRPr>
                    </a:p>
                  </a:txBody>
                  <a:tcPr marL="0" marR="0" marT="25400" marB="25400" anchor="ctr">
                    <a:lnL w="12700" cap="flat" cmpd="sng" algn="ctr">
                      <a:solidFill>
                        <a:srgbClr val="FFFFFF"/>
                      </a:solidFill>
                      <a:prstDash val="solid"/>
                    </a:lnL>
                    <a:lnR w="0">
                      <a:noFill/>
                    </a:lnR>
                    <a:lnT w="0">
                      <a:noFill/>
                    </a:lnT>
                    <a:lnB w="0">
                      <a:noFill/>
                    </a:lnB>
                    <a:solidFill>
                      <a:srgbClr val="022338"/>
                    </a:solidFill>
                  </a:tcPr>
                </a:tc>
                <a:tc>
                  <a:txBody>
                    <a:bodyPr/>
                    <a:lstStyle/>
                    <a:p>
                      <a:pPr marL="0" indent="0" algn="ctr">
                        <a:spcBef>
                          <a:spcPts val="0"/>
                        </a:spcBef>
                        <a:spcAft>
                          <a:spcPts val="0"/>
                        </a:spcAft>
                        <a:buNone/>
                      </a:pPr>
                      <a:r>
                        <a:rPr lang="en-GB" sz="1000">
                          <a:solidFill>
                            <a:srgbClr val="FFFFFF"/>
                          </a:solidFill>
                          <a:latin typeface="Aptos"/>
                          <a:cs typeface="Aptos"/>
                        </a:rPr>
                        <a:t>2</a:t>
                      </a:r>
                      <a:endParaRPr lang="en-GB" sz="1000">
                        <a:solidFill>
                          <a:srgbClr val="FFFFFF"/>
                        </a:solidFill>
                        <a:latin typeface="Aptos"/>
                        <a:cs typeface="Aptos"/>
                      </a:endParaRPr>
                    </a:p>
                  </a:txBody>
                  <a:tcPr marL="0" marR="0" marT="25400" marB="25400" anchor="ctr">
                    <a:lnL w="0">
                      <a:noFill/>
                    </a:lnL>
                    <a:lnR w="0">
                      <a:noFill/>
                    </a:lnR>
                    <a:lnT w="0">
                      <a:noFill/>
                    </a:lnT>
                    <a:lnB w="0">
                      <a:noFill/>
                    </a:lnB>
                    <a:solidFill>
                      <a:srgbClr val="022338"/>
                    </a:solidFill>
                  </a:tcPr>
                </a:tc>
                <a:tc>
                  <a:txBody>
                    <a:bodyPr/>
                    <a:lstStyle/>
                    <a:p>
                      <a:pPr marL="0" indent="0" algn="ctr">
                        <a:spcBef>
                          <a:spcPts val="0"/>
                        </a:spcBef>
                        <a:spcAft>
                          <a:spcPts val="0"/>
                        </a:spcAft>
                        <a:buNone/>
                      </a:pPr>
                      <a:r>
                        <a:rPr lang="en-GB" sz="1000">
                          <a:solidFill>
                            <a:srgbClr val="FFFFFF"/>
                          </a:solidFill>
                          <a:latin typeface="Aptos"/>
                          <a:cs typeface="Aptos"/>
                        </a:rPr>
                        <a:t>3</a:t>
                      </a:r>
                      <a:endParaRPr lang="en-GB" sz="1000">
                        <a:solidFill>
                          <a:srgbClr val="FFFFFF"/>
                        </a:solidFill>
                        <a:latin typeface="Aptos"/>
                        <a:cs typeface="Aptos"/>
                      </a:endParaRPr>
                    </a:p>
                  </a:txBody>
                  <a:tcPr marL="0" marR="0" marT="25400" marB="25400" anchor="ctr">
                    <a:lnL w="0">
                      <a:noFill/>
                    </a:lnL>
                    <a:lnR w="0">
                      <a:noFill/>
                    </a:lnR>
                    <a:lnT w="0">
                      <a:noFill/>
                    </a:lnT>
                    <a:lnB w="0">
                      <a:noFill/>
                    </a:lnB>
                    <a:solidFill>
                      <a:srgbClr val="022338"/>
                    </a:solidFill>
                  </a:tcPr>
                </a:tc>
                <a:tc>
                  <a:txBody>
                    <a:bodyPr/>
                    <a:lstStyle/>
                    <a:p>
                      <a:pPr marL="0" indent="0" algn="ctr">
                        <a:spcBef>
                          <a:spcPts val="0"/>
                        </a:spcBef>
                        <a:spcAft>
                          <a:spcPts val="0"/>
                        </a:spcAft>
                        <a:buNone/>
                      </a:pPr>
                      <a:r>
                        <a:rPr lang="en-GB" sz="1000">
                          <a:solidFill>
                            <a:srgbClr val="FFFFFF"/>
                          </a:solidFill>
                          <a:latin typeface="Aptos"/>
                          <a:cs typeface="Aptos"/>
                        </a:rPr>
                        <a:t>4</a:t>
                      </a:r>
                      <a:endParaRPr lang="en-GB" sz="1000">
                        <a:solidFill>
                          <a:srgbClr val="FFFFFF"/>
                        </a:solidFill>
                        <a:latin typeface="Aptos"/>
                        <a:cs typeface="Aptos"/>
                      </a:endParaRPr>
                    </a:p>
                  </a:txBody>
                  <a:tcPr marL="0" marR="0" marT="25400" marB="25400" anchor="ctr">
                    <a:lnL w="0">
                      <a:noFill/>
                    </a:lnL>
                    <a:lnR w="0">
                      <a:noFill/>
                    </a:lnR>
                    <a:lnT w="0">
                      <a:noFill/>
                    </a:lnT>
                    <a:lnB w="0">
                      <a:noFill/>
                    </a:lnB>
                    <a:solidFill>
                      <a:srgbClr val="022338"/>
                    </a:solidFill>
                  </a:tcPr>
                </a:tc>
                <a:tc>
                  <a:txBody>
                    <a:bodyPr/>
                    <a:lstStyle/>
                    <a:p>
                      <a:pPr marL="0" indent="0" algn="ctr">
                        <a:spcBef>
                          <a:spcPts val="0"/>
                        </a:spcBef>
                        <a:spcAft>
                          <a:spcPts val="0"/>
                        </a:spcAft>
                        <a:buNone/>
                      </a:pPr>
                      <a:r>
                        <a:rPr lang="en-GB" sz="1000">
                          <a:solidFill>
                            <a:srgbClr val="FFFFFF"/>
                          </a:solidFill>
                          <a:latin typeface="Aptos"/>
                          <a:cs typeface="Aptos"/>
                        </a:rPr>
                        <a:t>5</a:t>
                      </a:r>
                      <a:endParaRPr lang="en-GB" sz="1000">
                        <a:solidFill>
                          <a:srgbClr val="FFFFFF"/>
                        </a:solidFill>
                        <a:latin typeface="Aptos"/>
                        <a:cs typeface="Aptos"/>
                      </a:endParaRPr>
                    </a:p>
                  </a:txBody>
                  <a:tcPr marL="0" marR="0" marT="25400" marB="25400" anchor="ctr">
                    <a:lnL w="12700" cap="flat" cmpd="sng" algn="ctr">
                      <a:solidFill>
                        <a:srgbClr val="FFFFFF"/>
                      </a:solidFill>
                      <a:prstDash val="solid"/>
                    </a:lnL>
                    <a:lnR w="0">
                      <a:noFill/>
                    </a:lnR>
                    <a:lnT w="0">
                      <a:noFill/>
                    </a:lnT>
                    <a:lnB w="0">
                      <a:noFill/>
                    </a:lnB>
                    <a:solidFill>
                      <a:srgbClr val="022338"/>
                    </a:solidFill>
                  </a:tcPr>
                </a:tc>
                <a:tc>
                  <a:txBody>
                    <a:bodyPr/>
                    <a:lstStyle/>
                    <a:p>
                      <a:pPr marL="0" indent="0" algn="ctr">
                        <a:spcBef>
                          <a:spcPts val="0"/>
                        </a:spcBef>
                        <a:spcAft>
                          <a:spcPts val="0"/>
                        </a:spcAft>
                        <a:buNone/>
                      </a:pPr>
                      <a:r>
                        <a:rPr lang="en-GB" sz="1000">
                          <a:solidFill>
                            <a:srgbClr val="FFFFFF"/>
                          </a:solidFill>
                          <a:latin typeface="Aptos"/>
                          <a:cs typeface="Aptos"/>
                        </a:rPr>
                        <a:t>6</a:t>
                      </a:r>
                      <a:endParaRPr lang="en-GB" sz="1000">
                        <a:solidFill>
                          <a:srgbClr val="FFFFFF"/>
                        </a:solidFill>
                        <a:latin typeface="Aptos"/>
                        <a:cs typeface="Aptos"/>
                      </a:endParaRPr>
                    </a:p>
                  </a:txBody>
                  <a:tcPr marL="0" marR="0" marT="25400" marB="25400" anchor="ctr">
                    <a:lnL w="0">
                      <a:noFill/>
                    </a:lnL>
                    <a:lnR w="0">
                      <a:noFill/>
                    </a:lnR>
                    <a:lnT w="0">
                      <a:noFill/>
                    </a:lnT>
                    <a:lnB w="0">
                      <a:noFill/>
                    </a:lnB>
                    <a:solidFill>
                      <a:srgbClr val="022338"/>
                    </a:solidFill>
                  </a:tcPr>
                </a:tc>
                <a:tc>
                  <a:txBody>
                    <a:bodyPr/>
                    <a:lstStyle/>
                    <a:p>
                      <a:pPr marL="0" indent="0" algn="ctr">
                        <a:spcBef>
                          <a:spcPts val="0"/>
                        </a:spcBef>
                        <a:spcAft>
                          <a:spcPts val="0"/>
                        </a:spcAft>
                        <a:buNone/>
                      </a:pPr>
                      <a:r>
                        <a:rPr lang="en-GB" sz="1000">
                          <a:solidFill>
                            <a:srgbClr val="FFFFFF"/>
                          </a:solidFill>
                          <a:latin typeface="Aptos"/>
                          <a:cs typeface="Aptos"/>
                        </a:rPr>
                        <a:t>7</a:t>
                      </a:r>
                      <a:endParaRPr lang="en-GB" sz="1000">
                        <a:solidFill>
                          <a:srgbClr val="FFFFFF"/>
                        </a:solidFill>
                        <a:latin typeface="Aptos"/>
                        <a:cs typeface="Aptos"/>
                      </a:endParaRPr>
                    </a:p>
                  </a:txBody>
                  <a:tcPr marL="0" marR="0" marT="25400" marB="25400" anchor="ctr">
                    <a:lnL w="0">
                      <a:noFill/>
                    </a:lnL>
                    <a:lnR w="0">
                      <a:noFill/>
                    </a:lnR>
                    <a:lnT w="0">
                      <a:noFill/>
                    </a:lnT>
                    <a:lnB w="0">
                      <a:noFill/>
                    </a:lnB>
                    <a:solidFill>
                      <a:srgbClr val="022338"/>
                    </a:solidFill>
                  </a:tcPr>
                </a:tc>
                <a:tc>
                  <a:txBody>
                    <a:bodyPr/>
                    <a:lstStyle/>
                    <a:p>
                      <a:pPr marL="0" indent="0" algn="ctr">
                        <a:spcBef>
                          <a:spcPts val="0"/>
                        </a:spcBef>
                        <a:spcAft>
                          <a:spcPts val="0"/>
                        </a:spcAft>
                        <a:buNone/>
                      </a:pPr>
                      <a:r>
                        <a:rPr lang="en-GB" sz="1000">
                          <a:solidFill>
                            <a:srgbClr val="FFFFFF"/>
                          </a:solidFill>
                          <a:latin typeface="Aptos"/>
                          <a:cs typeface="Aptos"/>
                        </a:rPr>
                        <a:t>8</a:t>
                      </a:r>
                      <a:endParaRPr lang="en-GB" sz="1000">
                        <a:solidFill>
                          <a:srgbClr val="FFFFFF"/>
                        </a:solidFill>
                        <a:latin typeface="Aptos"/>
                        <a:cs typeface="Aptos"/>
                      </a:endParaRPr>
                    </a:p>
                  </a:txBody>
                  <a:tcPr marL="0" marR="0" marT="25400" marB="25400" anchor="ctr">
                    <a:lnL w="0">
                      <a:noFill/>
                    </a:lnL>
                    <a:lnR w="0">
                      <a:noFill/>
                    </a:lnR>
                    <a:lnT w="0">
                      <a:noFill/>
                    </a:lnT>
                    <a:lnB w="0">
                      <a:noFill/>
                    </a:lnB>
                    <a:solidFill>
                      <a:srgbClr val="022338"/>
                    </a:solidFill>
                  </a:tcPr>
                </a:tc>
                <a:tc>
                  <a:txBody>
                    <a:bodyPr/>
                    <a:lstStyle/>
                    <a:p>
                      <a:pPr marL="0" indent="0" algn="ctr">
                        <a:spcBef>
                          <a:spcPts val="0"/>
                        </a:spcBef>
                        <a:spcAft>
                          <a:spcPts val="0"/>
                        </a:spcAft>
                        <a:buNone/>
                      </a:pPr>
                      <a:r>
                        <a:rPr lang="en-GB" sz="1000">
                          <a:solidFill>
                            <a:srgbClr val="FFFFFF"/>
                          </a:solidFill>
                          <a:latin typeface="Aptos"/>
                          <a:cs typeface="Aptos"/>
                        </a:rPr>
                        <a:t>9</a:t>
                      </a:r>
                      <a:endParaRPr lang="en-GB" sz="1000">
                        <a:solidFill>
                          <a:srgbClr val="FFFFFF"/>
                        </a:solidFill>
                        <a:latin typeface="Aptos"/>
                        <a:cs typeface="Aptos"/>
                      </a:endParaRPr>
                    </a:p>
                  </a:txBody>
                  <a:tcPr marL="0" marR="0" marT="25400" marB="25400" anchor="ctr">
                    <a:lnL w="12700" cap="flat" cmpd="sng" algn="ctr">
                      <a:solidFill>
                        <a:srgbClr val="FFFFFF"/>
                      </a:solidFill>
                      <a:prstDash val="solid"/>
                    </a:lnL>
                    <a:lnR w="0">
                      <a:noFill/>
                    </a:lnR>
                    <a:lnT w="0">
                      <a:noFill/>
                    </a:lnT>
                    <a:lnB w="0">
                      <a:noFill/>
                    </a:lnB>
                    <a:solidFill>
                      <a:srgbClr val="022338"/>
                    </a:solidFill>
                  </a:tcPr>
                </a:tc>
                <a:tc>
                  <a:txBody>
                    <a:bodyPr/>
                    <a:lstStyle/>
                    <a:p>
                      <a:pPr marL="0" indent="0" algn="ctr">
                        <a:spcBef>
                          <a:spcPts val="0"/>
                        </a:spcBef>
                        <a:spcAft>
                          <a:spcPts val="0"/>
                        </a:spcAft>
                        <a:buNone/>
                      </a:pPr>
                      <a:r>
                        <a:rPr lang="en-GB" sz="1000">
                          <a:solidFill>
                            <a:srgbClr val="FFFFFF"/>
                          </a:solidFill>
                          <a:latin typeface="Aptos"/>
                          <a:cs typeface="Aptos"/>
                        </a:rPr>
                        <a:t>10</a:t>
                      </a:r>
                      <a:endParaRPr lang="en-GB" sz="1000">
                        <a:solidFill>
                          <a:srgbClr val="FFFFFF"/>
                        </a:solidFill>
                        <a:latin typeface="Aptos"/>
                        <a:cs typeface="Aptos"/>
                      </a:endParaRPr>
                    </a:p>
                  </a:txBody>
                  <a:tcPr marL="0" marR="0" marT="25400" marB="25400" anchor="ctr">
                    <a:lnL w="0">
                      <a:noFill/>
                    </a:lnL>
                    <a:lnR w="0">
                      <a:noFill/>
                    </a:lnR>
                    <a:lnT w="0">
                      <a:noFill/>
                    </a:lnT>
                    <a:lnB w="0">
                      <a:noFill/>
                    </a:lnB>
                    <a:solidFill>
                      <a:srgbClr val="022338"/>
                    </a:solidFill>
                  </a:tcPr>
                </a:tc>
                <a:tc>
                  <a:txBody>
                    <a:bodyPr/>
                    <a:lstStyle/>
                    <a:p>
                      <a:pPr marL="0" indent="0" algn="ctr">
                        <a:spcBef>
                          <a:spcPts val="0"/>
                        </a:spcBef>
                        <a:spcAft>
                          <a:spcPts val="0"/>
                        </a:spcAft>
                        <a:buNone/>
                      </a:pPr>
                      <a:r>
                        <a:rPr lang="en-GB" sz="1000">
                          <a:solidFill>
                            <a:srgbClr val="FFFFFF"/>
                          </a:solidFill>
                          <a:latin typeface="Aptos"/>
                          <a:cs typeface="Aptos"/>
                        </a:rPr>
                        <a:t>11</a:t>
                      </a:r>
                      <a:endParaRPr lang="en-GB" sz="1000">
                        <a:solidFill>
                          <a:srgbClr val="FFFFFF"/>
                        </a:solidFill>
                        <a:latin typeface="Aptos"/>
                        <a:cs typeface="Aptos"/>
                      </a:endParaRPr>
                    </a:p>
                  </a:txBody>
                  <a:tcPr marL="0" marR="0" marT="25400" marB="25400" anchor="ctr">
                    <a:lnL w="0">
                      <a:noFill/>
                    </a:lnL>
                    <a:lnR w="0">
                      <a:noFill/>
                    </a:lnR>
                    <a:lnT w="0">
                      <a:noFill/>
                    </a:lnT>
                    <a:lnB w="0">
                      <a:noFill/>
                    </a:lnB>
                    <a:solidFill>
                      <a:srgbClr val="022338"/>
                    </a:solidFill>
                  </a:tcPr>
                </a:tc>
                <a:tc>
                  <a:txBody>
                    <a:bodyPr/>
                    <a:lstStyle/>
                    <a:p>
                      <a:pPr marL="0" indent="0" algn="ctr">
                        <a:spcBef>
                          <a:spcPts val="0"/>
                        </a:spcBef>
                        <a:spcAft>
                          <a:spcPts val="0"/>
                        </a:spcAft>
                        <a:buNone/>
                      </a:pPr>
                      <a:r>
                        <a:rPr lang="en-GB" sz="1000">
                          <a:solidFill>
                            <a:srgbClr val="FFFFFF"/>
                          </a:solidFill>
                          <a:latin typeface="Aptos"/>
                          <a:cs typeface="Aptos"/>
                        </a:rPr>
                        <a:t>12</a:t>
                      </a:r>
                      <a:endParaRPr lang="en-GB" sz="1000">
                        <a:solidFill>
                          <a:srgbClr val="FFFFFF"/>
                        </a:solidFill>
                        <a:latin typeface="Aptos"/>
                        <a:cs typeface="Aptos"/>
                      </a:endParaRPr>
                    </a:p>
                  </a:txBody>
                  <a:tcPr marL="0" marR="0" marT="25400" marB="25400" anchor="ctr">
                    <a:lnL w="0">
                      <a:noFill/>
                    </a:lnL>
                    <a:lnR w="0">
                      <a:noFill/>
                    </a:lnR>
                    <a:lnT w="0">
                      <a:noFill/>
                    </a:lnT>
                    <a:lnB w="0">
                      <a:noFill/>
                    </a:lnB>
                    <a:solidFill>
                      <a:srgbClr val="022338"/>
                    </a:solidFill>
                  </a:tcPr>
                </a:tc>
              </a:tr>
              <a:tr h="355600">
                <a:tc>
                  <a:txBody>
                    <a:bodyPr/>
                    <a:lstStyle/>
                    <a:p>
                      <a:pPr marL="0" indent="0" algn="l">
                        <a:spcBef>
                          <a:spcPts val="0"/>
                        </a:spcBef>
                        <a:spcAft>
                          <a:spcPts val="0"/>
                        </a:spcAft>
                        <a:buNone/>
                      </a:pPr>
                      <a:r>
                        <a:rPr lang="en-GB" sz="1100" b="1">
                          <a:solidFill>
                            <a:srgbClr val="022338"/>
                          </a:solidFill>
                          <a:latin typeface="Aptos"/>
                          <a:cs typeface="Aptos"/>
                        </a:rPr>
                        <a:t>1 Inception</a:t>
                      </a:r>
                      <a:endParaRPr lang="en-GB" sz="1100">
                        <a:solidFill>
                          <a:srgbClr val="022338"/>
                        </a:solidFill>
                        <a:latin typeface="Aptos"/>
                        <a:cs typeface="Aptos"/>
                      </a:endParaRPr>
                    </a:p>
                  </a:txBody>
                  <a:tcPr marL="101600" marR="10160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9525" cap="flat" cmpd="sng" algn="ctr">
                      <a:solidFill>
                        <a:srgbClr val="E8E9E6"/>
                      </a:solidFill>
                      <a:prstDash val="solid"/>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9525" cap="flat" cmpd="sng" algn="ctr">
                      <a:solidFill>
                        <a:srgbClr val="E8E9E6"/>
                      </a:solidFill>
                      <a:prstDash val="solid"/>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r>
              <a:tr h="355600">
                <a:tc>
                  <a:txBody>
                    <a:bodyPr/>
                    <a:lstStyle/>
                    <a:p>
                      <a:pPr marL="0" indent="0" algn="l">
                        <a:spcBef>
                          <a:spcPts val="0"/>
                        </a:spcBef>
                        <a:spcAft>
                          <a:spcPts val="0"/>
                        </a:spcAft>
                        <a:buNone/>
                      </a:pPr>
                      <a:r>
                        <a:rPr lang="en-GB" sz="1100">
                          <a:solidFill>
                            <a:srgbClr val="000000"/>
                          </a:solidFill>
                          <a:latin typeface="Aptos"/>
                          <a:cs typeface="Aptos"/>
                        </a:rPr>
                        <a:t>Kick-off meeting and data request</a:t>
                      </a:r>
                      <a:endParaRPr lang="en-GB" sz="1100">
                        <a:solidFill>
                          <a:srgbClr val="000000"/>
                        </a:solidFill>
                        <a:latin typeface="Aptos"/>
                        <a:cs typeface="Aptos"/>
                      </a:endParaRPr>
                    </a:p>
                  </a:txBody>
                  <a:tcPr marL="279400" marR="10160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328840"/>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9525" cap="flat" cmpd="sng" algn="ctr">
                      <a:solidFill>
                        <a:srgbClr val="E8E9E6"/>
                      </a:solidFill>
                      <a:prstDash val="solid"/>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9525" cap="flat" cmpd="sng" algn="ctr">
                      <a:solidFill>
                        <a:srgbClr val="E8E9E6"/>
                      </a:solidFill>
                      <a:prstDash val="solid"/>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r>
              <a:tr h="355600">
                <a:tc>
                  <a:txBody>
                    <a:bodyPr/>
                    <a:lstStyle/>
                    <a:p>
                      <a:pPr marL="0" indent="0" algn="l">
                        <a:spcBef>
                          <a:spcPts val="0"/>
                        </a:spcBef>
                        <a:spcAft>
                          <a:spcPts val="0"/>
                        </a:spcAft>
                        <a:buNone/>
                      </a:pPr>
                      <a:r>
                        <a:rPr lang="en-GB" sz="1100">
                          <a:solidFill>
                            <a:srgbClr val="000000"/>
                          </a:solidFill>
                          <a:latin typeface="Aptos"/>
                          <a:cs typeface="Aptos"/>
                        </a:rPr>
                        <a:t>Inception report</a:t>
                      </a:r>
                      <a:endParaRPr lang="en-GB" sz="1100">
                        <a:solidFill>
                          <a:srgbClr val="000000"/>
                        </a:solidFill>
                        <a:latin typeface="Aptos"/>
                        <a:cs typeface="Aptos"/>
                      </a:endParaRPr>
                    </a:p>
                  </a:txBody>
                  <a:tcPr marL="279400" marR="10160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328840"/>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022338"/>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9525" cap="flat" cmpd="sng" algn="ctr">
                      <a:solidFill>
                        <a:srgbClr val="E8E9E6"/>
                      </a:solidFill>
                      <a:prstDash val="solid"/>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9525" cap="flat" cmpd="sng" algn="ctr">
                      <a:solidFill>
                        <a:srgbClr val="E8E9E6"/>
                      </a:solidFill>
                      <a:prstDash val="solid"/>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r>
              <a:tr h="355600">
                <a:tc>
                  <a:txBody>
                    <a:bodyPr/>
                    <a:lstStyle/>
                    <a:p>
                      <a:pPr marL="0" indent="0" algn="l">
                        <a:spcBef>
                          <a:spcPts val="0"/>
                        </a:spcBef>
                        <a:spcAft>
                          <a:spcPts val="0"/>
                        </a:spcAft>
                        <a:buNone/>
                      </a:pPr>
                      <a:r>
                        <a:rPr lang="en-GB" sz="1100" b="1">
                          <a:solidFill>
                            <a:srgbClr val="022338"/>
                          </a:solidFill>
                          <a:latin typeface="Aptos"/>
                          <a:cs typeface="Aptos"/>
                        </a:rPr>
                        <a:t>2 Diagnostic</a:t>
                      </a:r>
                      <a:endParaRPr lang="en-GB" sz="1100">
                        <a:solidFill>
                          <a:srgbClr val="022338"/>
                        </a:solidFill>
                        <a:latin typeface="Aptos"/>
                        <a:cs typeface="Aptos"/>
                      </a:endParaRPr>
                    </a:p>
                  </a:txBody>
                  <a:tcPr marL="101600" marR="10160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9525" cap="flat" cmpd="sng" algn="ctr">
                      <a:solidFill>
                        <a:srgbClr val="E8E9E6"/>
                      </a:solidFill>
                      <a:prstDash val="solid"/>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9525" cap="flat" cmpd="sng" algn="ctr">
                      <a:solidFill>
                        <a:srgbClr val="E8E9E6"/>
                      </a:solidFill>
                      <a:prstDash val="solid"/>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r>
              <a:tr h="355600">
                <a:tc>
                  <a:txBody>
                    <a:bodyPr/>
                    <a:lstStyle/>
                    <a:p>
                      <a:pPr marL="0" indent="0" algn="l">
                        <a:spcBef>
                          <a:spcPts val="0"/>
                        </a:spcBef>
                        <a:spcAft>
                          <a:spcPts val="0"/>
                        </a:spcAft>
                        <a:buNone/>
                      </a:pPr>
                      <a:r>
                        <a:rPr lang="en-GB" sz="1100">
                          <a:solidFill>
                            <a:srgbClr val="000000"/>
                          </a:solidFill>
                          <a:latin typeface="Aptos"/>
                          <a:cs typeface="Aptos"/>
                        </a:rPr>
                        <a:t>Desk review and stakeholder interviews</a:t>
                      </a:r>
                      <a:endParaRPr lang="en-GB" sz="1100">
                        <a:solidFill>
                          <a:srgbClr val="000000"/>
                        </a:solidFill>
                        <a:latin typeface="Aptos"/>
                        <a:cs typeface="Aptos"/>
                      </a:endParaRPr>
                    </a:p>
                  </a:txBody>
                  <a:tcPr marL="279400" marR="10160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328840"/>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328840"/>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328840"/>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328840"/>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328840"/>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9525" cap="flat" cmpd="sng" algn="ctr">
                      <a:solidFill>
                        <a:srgbClr val="E8E9E6"/>
                      </a:solidFill>
                      <a:prstDash val="solid"/>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r>
              <a:tr h="355600">
                <a:tc>
                  <a:txBody>
                    <a:bodyPr/>
                    <a:lstStyle/>
                    <a:p>
                      <a:pPr marL="0" indent="0" algn="l">
                        <a:spcBef>
                          <a:spcPts val="0"/>
                        </a:spcBef>
                        <a:spcAft>
                          <a:spcPts val="0"/>
                        </a:spcAft>
                        <a:buNone/>
                      </a:pPr>
                      <a:r>
                        <a:rPr lang="en-GB" sz="1100">
                          <a:solidFill>
                            <a:srgbClr val="000000"/>
                          </a:solidFill>
                          <a:latin typeface="Aptos"/>
                          <a:cs typeface="Aptos"/>
                        </a:rPr>
                        <a:t>Diagnostic note</a:t>
                      </a:r>
                      <a:endParaRPr lang="en-GB" sz="1100">
                        <a:solidFill>
                          <a:srgbClr val="000000"/>
                        </a:solidFill>
                        <a:latin typeface="Aptos"/>
                        <a:cs typeface="Aptos"/>
                      </a:endParaRPr>
                    </a:p>
                  </a:txBody>
                  <a:tcPr marL="279400" marR="10160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9525" cap="flat" cmpd="sng" algn="ctr">
                      <a:solidFill>
                        <a:srgbClr val="E8E9E6"/>
                      </a:solidFill>
                      <a:prstDash val="solid"/>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328840"/>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022338"/>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9525" cap="flat" cmpd="sng" algn="ctr">
                      <a:solidFill>
                        <a:srgbClr val="E8E9E6"/>
                      </a:solidFill>
                      <a:prstDash val="solid"/>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r>
              <a:tr h="355600">
                <a:tc>
                  <a:txBody>
                    <a:bodyPr/>
                    <a:lstStyle/>
                    <a:p>
                      <a:pPr marL="0" indent="0" algn="l">
                        <a:spcBef>
                          <a:spcPts val="0"/>
                        </a:spcBef>
                        <a:spcAft>
                          <a:spcPts val="0"/>
                        </a:spcAft>
                        <a:buNone/>
                      </a:pPr>
                      <a:r>
                        <a:rPr lang="en-GB" sz="1100" b="1">
                          <a:solidFill>
                            <a:srgbClr val="022338"/>
                          </a:solidFill>
                          <a:latin typeface="Aptos"/>
                          <a:cs typeface="Aptos"/>
                        </a:rPr>
                        <a:t>3 Options and recommendations</a:t>
                      </a:r>
                      <a:endParaRPr lang="en-GB" sz="1100">
                        <a:solidFill>
                          <a:srgbClr val="022338"/>
                        </a:solidFill>
                        <a:latin typeface="Aptos"/>
                        <a:cs typeface="Aptos"/>
                      </a:endParaRPr>
                    </a:p>
                  </a:txBody>
                  <a:tcPr marL="101600" marR="10160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9525" cap="flat" cmpd="sng" algn="ctr">
                      <a:solidFill>
                        <a:srgbClr val="E8E9E6"/>
                      </a:solidFill>
                      <a:prstDash val="solid"/>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9525" cap="flat" cmpd="sng" algn="ctr">
                      <a:solidFill>
                        <a:srgbClr val="E8E9E6"/>
                      </a:solidFill>
                      <a:prstDash val="solid"/>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F7F8F5"/>
                    </a:solidFill>
                  </a:tcPr>
                </a:tc>
              </a:tr>
              <a:tr h="355600">
                <a:tc>
                  <a:txBody>
                    <a:bodyPr/>
                    <a:lstStyle/>
                    <a:p>
                      <a:pPr marL="0" indent="0" algn="l">
                        <a:spcBef>
                          <a:spcPts val="0"/>
                        </a:spcBef>
                        <a:spcAft>
                          <a:spcPts val="0"/>
                        </a:spcAft>
                        <a:buNone/>
                      </a:pPr>
                      <a:r>
                        <a:rPr lang="en-GB" sz="1100">
                          <a:solidFill>
                            <a:srgbClr val="000000"/>
                          </a:solidFill>
                          <a:latin typeface="Aptos"/>
                          <a:cs typeface="Aptos"/>
                        </a:rPr>
                        <a:t>Options analysis and financial modelling</a:t>
                      </a:r>
                      <a:endParaRPr lang="en-GB" sz="1100">
                        <a:solidFill>
                          <a:srgbClr val="000000"/>
                        </a:solidFill>
                        <a:latin typeface="Aptos"/>
                        <a:cs typeface="Aptos"/>
                      </a:endParaRPr>
                    </a:p>
                  </a:txBody>
                  <a:tcPr marL="279400" marR="10160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9525" cap="flat" cmpd="sng" algn="ctr">
                      <a:solidFill>
                        <a:srgbClr val="E8E9E6"/>
                      </a:solidFill>
                      <a:prstDash val="solid"/>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328840"/>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328840"/>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328840"/>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r>
              <a:tr h="355600">
                <a:tc>
                  <a:txBody>
                    <a:bodyPr/>
                    <a:lstStyle/>
                    <a:p>
                      <a:pPr marL="0" indent="0" algn="l">
                        <a:spcBef>
                          <a:spcPts val="0"/>
                        </a:spcBef>
                        <a:spcAft>
                          <a:spcPts val="0"/>
                        </a:spcAft>
                        <a:buNone/>
                      </a:pPr>
                      <a:r>
                        <a:rPr lang="en-GB" sz="1100">
                          <a:solidFill>
                            <a:srgbClr val="000000"/>
                          </a:solidFill>
                          <a:latin typeface="Aptos"/>
                          <a:cs typeface="Aptos"/>
                        </a:rPr>
                        <a:t>Validation workshop</a:t>
                      </a:r>
                      <a:endParaRPr lang="en-GB" sz="1100">
                        <a:solidFill>
                          <a:srgbClr val="000000"/>
                        </a:solidFill>
                        <a:latin typeface="Aptos"/>
                        <a:cs typeface="Aptos"/>
                      </a:endParaRPr>
                    </a:p>
                  </a:txBody>
                  <a:tcPr marL="279400" marR="10160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9525" cap="flat" cmpd="sng" algn="ctr">
                      <a:solidFill>
                        <a:srgbClr val="E8E9E6"/>
                      </a:solidFill>
                      <a:prstDash val="solid"/>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9525" cap="flat" cmpd="sng" algn="ctr">
                      <a:solidFill>
                        <a:srgbClr val="E8E9E6"/>
                      </a:solidFill>
                      <a:prstDash val="solid"/>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022338"/>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r>
              <a:tr h="355600">
                <a:tc>
                  <a:txBody>
                    <a:bodyPr/>
                    <a:lstStyle/>
                    <a:p>
                      <a:pPr marL="0" indent="0" algn="l">
                        <a:spcBef>
                          <a:spcPts val="0"/>
                        </a:spcBef>
                        <a:spcAft>
                          <a:spcPts val="0"/>
                        </a:spcAft>
                        <a:buNone/>
                      </a:pPr>
                      <a:r>
                        <a:rPr lang="en-GB" sz="1100">
                          <a:solidFill>
                            <a:srgbClr val="000000"/>
                          </a:solidFill>
                          <a:latin typeface="Aptos"/>
                          <a:cs typeface="Aptos"/>
                        </a:rPr>
                        <a:t>Final report</a:t>
                      </a:r>
                      <a:endParaRPr lang="en-GB" sz="1100">
                        <a:solidFill>
                          <a:srgbClr val="000000"/>
                        </a:solidFill>
                        <a:latin typeface="Aptos"/>
                        <a:cs typeface="Aptos"/>
                      </a:endParaRPr>
                    </a:p>
                  </a:txBody>
                  <a:tcPr marL="279400" marR="10160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9525" cap="flat" cmpd="sng" algn="ctr">
                      <a:solidFill>
                        <a:srgbClr val="E8E9E6"/>
                      </a:solidFill>
                      <a:prstDash val="solid"/>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9525" cap="flat" cmpd="sng" algn="ctr">
                      <a:solidFill>
                        <a:srgbClr val="E8E9E6"/>
                      </a:solidFill>
                      <a:prstDash val="solid"/>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no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328840"/>
                    </a:solidFill>
                  </a:tcPr>
                </a:tc>
                <a:tc>
                  <a:txBody>
                    <a:bodyPr/>
                    <a:lstStyle/>
                    <a:p>
                      <a:pPr marL="0" indent="0" algn="l">
                        <a:spcBef>
                          <a:spcPts val="0"/>
                        </a:spcBef>
                        <a:spcAft>
                          <a:spcPts val="0"/>
                        </a:spcAft>
                        <a:buNone/>
                      </a:pPr>
                      <a:endParaRPr lang="en-GB" sz="1400">
                        <a:solidFill>
                          <a:srgbClr val="000000"/>
                        </a:solidFill>
                        <a:latin typeface="Aptos"/>
                        <a:cs typeface="Aptos"/>
                      </a:endParaRPr>
                    </a:p>
                  </a:txBody>
                  <a:tcPr marL="0" marR="0" marT="38100" marB="38100" anchor="ctr">
                    <a:lnL w="0">
                      <a:noFill/>
                    </a:lnL>
                    <a:lnR w="0">
                      <a:noFill/>
                    </a:lnR>
                    <a:lnT w="0">
                      <a:noFill/>
                    </a:lnT>
                    <a:lnB w="9525" cap="flat" cmpd="sng" algn="ctr">
                      <a:solidFill>
                        <a:srgbClr val="E8E9E6"/>
                      </a:solidFill>
                      <a:prstDash val="solid"/>
                    </a:lnB>
                    <a:solidFill>
                      <a:srgbClr val="022338"/>
                    </a:solidFill>
                  </a:tcPr>
                </a:tc>
              </a:tr>
            </a:tbl>
          </a:graphicData>
        </a:graphic>
      </p:graphicFrame>
      <p:sp>
        <p:nvSpPr>
          <p:cNvPr id="4" name="Legend activity"/>
          <p:cNvSpPr/>
          <p:nvPr/>
        </p:nvSpPr>
        <p:spPr>
          <a:xfrm>
            <a:off x="508000" y="5689600"/>
            <a:ext cx="203200" cy="127000"/>
          </a:xfrm>
          <a:prstGeom prst="rect">
            <a:avLst/>
          </a:prstGeom>
          <a:solidFill>
            <a:srgbClr val="328840"/>
          </a:solidFill>
          <a:ln>
            <a:noFill/>
          </a:ln>
        </p:spPr>
      </p:sp>
      <p:sp>
        <p:nvSpPr>
          <p:cNvPr id="5" name="Legend activity text"/>
          <p:cNvSpPr txBox="1"/>
          <p:nvPr/>
        </p:nvSpPr>
        <p:spPr>
          <a:xfrm>
            <a:off x="787400" y="5651500"/>
            <a:ext cx="1016000" cy="2032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000">
                <a:solidFill>
                  <a:srgbClr val="4A4A4C"/>
                </a:solidFill>
                <a:latin typeface="Aptos"/>
                <a:cs typeface="Aptos"/>
              </a:rPr>
              <a:t>Activity</a:t>
            </a:r>
            <a:endParaRPr lang="en-GB" sz="1000">
              <a:solidFill>
                <a:srgbClr val="4A4A4C"/>
              </a:solidFill>
              <a:latin typeface="Aptos"/>
              <a:cs typeface="Aptos"/>
            </a:endParaRPr>
          </a:p>
        </p:txBody>
      </p:sp>
      <p:sp>
        <p:nvSpPr>
          <p:cNvPr id="6" name="Legend deliverable"/>
          <p:cNvSpPr/>
          <p:nvPr/>
        </p:nvSpPr>
        <p:spPr>
          <a:xfrm>
            <a:off x="1778000" y="5689600"/>
            <a:ext cx="203200" cy="127000"/>
          </a:xfrm>
          <a:prstGeom prst="rect">
            <a:avLst/>
          </a:prstGeom>
          <a:solidFill>
            <a:srgbClr val="022338"/>
          </a:solidFill>
          <a:ln>
            <a:noFill/>
          </a:ln>
        </p:spPr>
      </p:sp>
      <p:sp>
        <p:nvSpPr>
          <p:cNvPr id="7" name="Legend deliverable text"/>
          <p:cNvSpPr txBox="1"/>
          <p:nvPr/>
        </p:nvSpPr>
        <p:spPr>
          <a:xfrm>
            <a:off x="2057400" y="5651500"/>
            <a:ext cx="1524000" cy="2032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000">
                <a:solidFill>
                  <a:srgbClr val="4A4A4C"/>
                </a:solidFill>
                <a:latin typeface="Aptos"/>
                <a:cs typeface="Aptos"/>
              </a:rPr>
              <a:t>Deliverable due</a:t>
            </a:r>
            <a:endParaRPr lang="en-GB" sz="1000">
              <a:solidFill>
                <a:srgbClr val="4A4A4C"/>
              </a:solidFill>
              <a:latin typeface="Aptos"/>
              <a:cs typeface="Aptos"/>
            </a:endParaRPr>
          </a:p>
        </p:txBody>
      </p:sp>
      <p:sp>
        <p:nvSpPr>
          <p:cNvPr id="8" name="Slide number"/>
          <p:cNvSpPr>
            <a:spLocks noGrp="1"/>
          </p:cNvSpPr>
          <p:nvPr>
            <p:ph type="sldNum" sz="quarter" idx="12"/>
          </p:nvPr>
        </p:nvSpPr>
        <p:spPr/>
        <p:txBody>
          <a:bodyPr/>
          <a:lstStyle/>
          <a:p>
            <a:fld id="{B6F15528-21DE-4FAA-801E-634DDDAF4B2B}" type="slidenum">
              <a:rPr lang="en-GB"/>
              <a:t>13</a:t>
            </a:fld>
            <a:endParaRPr lang="en-GB"/>
          </a:p>
        </p:txBody>
      </p:sp>
    </p:spTree>
    <p:extLst>
      <p:ext uri="{BB962C8B-B14F-4D97-AF65-F5344CB8AC3E}">
        <p14:creationId xmlns:p14="http://schemas.microsoft.com/office/powerpoint/2010/main" val="4959984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Action title: six capabilities that cover the client’s needs end to end</a:t>
            </a:r>
            <a:endParaRPr lang="en-GB"/>
          </a:p>
        </p:txBody>
      </p:sp>
      <p:cxnSp>
        <p:nvCxnSpPr>
          <p:cNvPr id="3" name="Item rule 1"/>
          <p:cNvCxnSpPr/>
          <p:nvPr/>
        </p:nvCxnSpPr>
        <p:spPr>
          <a:xfrm>
            <a:off x="508000" y="1371600"/>
            <a:ext cx="3589867" cy="0"/>
          </a:xfrm>
          <a:prstGeom prst="line">
            <a:avLst/>
          </a:prstGeom>
          <a:ln w="9525">
            <a:solidFill>
              <a:srgbClr val="E8E9E6"/>
            </a:solidFill>
          </a:ln>
        </p:spPr>
      </p:cxnSp>
      <p:pic>
        <p:nvPicPr>
          <p:cNvPr id="4" name="Icon 1" descr="Public finance ic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8000" y="1625600"/>
            <a:ext cx="508000" cy="508000"/>
          </a:xfrm>
          <a:prstGeom prst="rect">
            <a:avLst/>
          </a:prstGeom>
        </p:spPr>
      </p:pic>
      <p:sp>
        <p:nvSpPr>
          <p:cNvPr id="5" name="Item title 1"/>
          <p:cNvSpPr txBox="1"/>
          <p:nvPr/>
        </p:nvSpPr>
        <p:spPr>
          <a:xfrm>
            <a:off x="508000" y="2336800"/>
            <a:ext cx="3589867" cy="2794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600" b="1">
                <a:solidFill>
                  <a:srgbClr val="022338"/>
                </a:solidFill>
                <a:latin typeface="Candara"/>
                <a:cs typeface="Candara"/>
              </a:rPr>
              <a:t>Public finance</a:t>
            </a:r>
            <a:endParaRPr lang="en-GB" sz="1600">
              <a:solidFill>
                <a:srgbClr val="022338"/>
              </a:solidFill>
              <a:latin typeface="Candara"/>
              <a:cs typeface="Candara"/>
            </a:endParaRPr>
          </a:p>
        </p:txBody>
      </p:sp>
      <p:sp>
        <p:nvSpPr>
          <p:cNvPr id="6" name="Item text 1"/>
          <p:cNvSpPr txBox="1"/>
          <p:nvPr/>
        </p:nvSpPr>
        <p:spPr>
          <a:xfrm>
            <a:off x="508000" y="2692400"/>
            <a:ext cx="3589867" cy="8128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One sentence on what the capability covers and who it serves.</a:t>
            </a:r>
            <a:endParaRPr lang="en-GB" sz="1200">
              <a:solidFill>
                <a:srgbClr val="000000"/>
              </a:solidFill>
              <a:latin typeface="Aptos"/>
              <a:cs typeface="Aptos"/>
            </a:endParaRPr>
          </a:p>
        </p:txBody>
      </p:sp>
      <p:cxnSp>
        <p:nvCxnSpPr>
          <p:cNvPr id="7" name="Item rule 2"/>
          <p:cNvCxnSpPr/>
          <p:nvPr/>
        </p:nvCxnSpPr>
        <p:spPr>
          <a:xfrm>
            <a:off x="4301067" y="1371600"/>
            <a:ext cx="3589867" cy="0"/>
          </a:xfrm>
          <a:prstGeom prst="line">
            <a:avLst/>
          </a:prstGeom>
          <a:ln w="9525">
            <a:solidFill>
              <a:srgbClr val="E8E9E6"/>
            </a:solidFill>
          </a:ln>
        </p:spPr>
      </p:cxnSp>
      <p:pic>
        <p:nvPicPr>
          <p:cNvPr id="8" name="Icon 2" descr="Nature and climate ico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01067" y="1625600"/>
            <a:ext cx="508000" cy="508000"/>
          </a:xfrm>
          <a:prstGeom prst="rect">
            <a:avLst/>
          </a:prstGeom>
        </p:spPr>
      </p:pic>
      <p:sp>
        <p:nvSpPr>
          <p:cNvPr id="9" name="Item title 2"/>
          <p:cNvSpPr txBox="1"/>
          <p:nvPr/>
        </p:nvSpPr>
        <p:spPr>
          <a:xfrm>
            <a:off x="4301067" y="2336800"/>
            <a:ext cx="3589867" cy="2794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600" b="1">
                <a:solidFill>
                  <a:srgbClr val="022338"/>
                </a:solidFill>
                <a:latin typeface="Candara"/>
                <a:cs typeface="Candara"/>
              </a:rPr>
              <a:t>Nature and climate</a:t>
            </a:r>
            <a:endParaRPr lang="en-GB" sz="1600">
              <a:solidFill>
                <a:srgbClr val="022338"/>
              </a:solidFill>
              <a:latin typeface="Candara"/>
              <a:cs typeface="Candara"/>
            </a:endParaRPr>
          </a:p>
        </p:txBody>
      </p:sp>
      <p:sp>
        <p:nvSpPr>
          <p:cNvPr id="10" name="Item text 2"/>
          <p:cNvSpPr txBox="1"/>
          <p:nvPr/>
        </p:nvSpPr>
        <p:spPr>
          <a:xfrm>
            <a:off x="4301067" y="2692400"/>
            <a:ext cx="3589867" cy="8128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Choose each icon to name the topic: icons are never decoration.</a:t>
            </a:r>
            <a:endParaRPr lang="en-GB" sz="1200">
              <a:solidFill>
                <a:srgbClr val="000000"/>
              </a:solidFill>
              <a:latin typeface="Aptos"/>
              <a:cs typeface="Aptos"/>
            </a:endParaRPr>
          </a:p>
        </p:txBody>
      </p:sp>
      <p:cxnSp>
        <p:nvCxnSpPr>
          <p:cNvPr id="11" name="Item rule 3"/>
          <p:cNvCxnSpPr/>
          <p:nvPr/>
        </p:nvCxnSpPr>
        <p:spPr>
          <a:xfrm>
            <a:off x="8094133" y="1371600"/>
            <a:ext cx="3589867" cy="0"/>
          </a:xfrm>
          <a:prstGeom prst="line">
            <a:avLst/>
          </a:prstGeom>
          <a:ln w="9525">
            <a:solidFill>
              <a:srgbClr val="E8E9E6"/>
            </a:solidFill>
          </a:ln>
        </p:spPr>
      </p:cxnSp>
      <p:pic>
        <p:nvPicPr>
          <p:cNvPr id="12" name="Icon 3" descr="Partnerships icon"/>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094133" y="1625600"/>
            <a:ext cx="508000" cy="508000"/>
          </a:xfrm>
          <a:prstGeom prst="rect">
            <a:avLst/>
          </a:prstGeom>
        </p:spPr>
      </p:pic>
      <p:sp>
        <p:nvSpPr>
          <p:cNvPr id="13" name="Item title 3"/>
          <p:cNvSpPr txBox="1"/>
          <p:nvPr/>
        </p:nvSpPr>
        <p:spPr>
          <a:xfrm>
            <a:off x="8094133" y="2336800"/>
            <a:ext cx="3589867" cy="2794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600" b="1">
                <a:solidFill>
                  <a:srgbClr val="022338"/>
                </a:solidFill>
                <a:latin typeface="Candara"/>
                <a:cs typeface="Candara"/>
              </a:rPr>
              <a:t>Partnerships</a:t>
            </a:r>
            <a:endParaRPr lang="en-GB" sz="1600">
              <a:solidFill>
                <a:srgbClr val="022338"/>
              </a:solidFill>
              <a:latin typeface="Candara"/>
              <a:cs typeface="Candara"/>
            </a:endParaRPr>
          </a:p>
        </p:txBody>
      </p:sp>
      <p:sp>
        <p:nvSpPr>
          <p:cNvPr id="14" name="Item text 3"/>
          <p:cNvSpPr txBox="1"/>
          <p:nvPr/>
        </p:nvSpPr>
        <p:spPr>
          <a:xfrm>
            <a:off x="8094133" y="2692400"/>
            <a:ext cx="3589867" cy="8128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Use Lucide icons in green on white, all at the same size.</a:t>
            </a:r>
            <a:endParaRPr lang="en-GB" sz="1200">
              <a:solidFill>
                <a:srgbClr val="000000"/>
              </a:solidFill>
              <a:latin typeface="Aptos"/>
              <a:cs typeface="Aptos"/>
            </a:endParaRPr>
          </a:p>
        </p:txBody>
      </p:sp>
      <p:cxnSp>
        <p:nvCxnSpPr>
          <p:cNvPr id="15" name="Item rule 4"/>
          <p:cNvCxnSpPr/>
          <p:nvPr/>
        </p:nvCxnSpPr>
        <p:spPr>
          <a:xfrm>
            <a:off x="508000" y="3759200"/>
            <a:ext cx="3589867" cy="0"/>
          </a:xfrm>
          <a:prstGeom prst="line">
            <a:avLst/>
          </a:prstGeom>
          <a:ln w="9525">
            <a:solidFill>
              <a:srgbClr val="E8E9E6"/>
            </a:solidFill>
          </a:ln>
        </p:spPr>
      </p:cxnSp>
      <p:pic>
        <p:nvPicPr>
          <p:cNvPr id="16" name="Icon 4" descr="Capital markets icon"/>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08000" y="4013200"/>
            <a:ext cx="508000" cy="508000"/>
          </a:xfrm>
          <a:prstGeom prst="rect">
            <a:avLst/>
          </a:prstGeom>
        </p:spPr>
      </p:pic>
      <p:sp>
        <p:nvSpPr>
          <p:cNvPr id="17" name="Item title 4"/>
          <p:cNvSpPr txBox="1"/>
          <p:nvPr/>
        </p:nvSpPr>
        <p:spPr>
          <a:xfrm>
            <a:off x="508000" y="4724400"/>
            <a:ext cx="3589867" cy="2794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600" b="1">
                <a:solidFill>
                  <a:srgbClr val="022338"/>
                </a:solidFill>
                <a:latin typeface="Candara"/>
                <a:cs typeface="Candara"/>
              </a:rPr>
              <a:t>Capital markets</a:t>
            </a:r>
            <a:endParaRPr lang="en-GB" sz="1600">
              <a:solidFill>
                <a:srgbClr val="022338"/>
              </a:solidFill>
              <a:latin typeface="Candara"/>
              <a:cs typeface="Candara"/>
            </a:endParaRPr>
          </a:p>
        </p:txBody>
      </p:sp>
      <p:sp>
        <p:nvSpPr>
          <p:cNvPr id="18" name="Item text 4"/>
          <p:cNvSpPr txBox="1"/>
          <p:nvPr/>
        </p:nvSpPr>
        <p:spPr>
          <a:xfrm>
            <a:off x="508000" y="5080000"/>
            <a:ext cx="3589867" cy="8128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Keep titles to two or three words, in sentence case.</a:t>
            </a:r>
            <a:endParaRPr lang="en-GB" sz="1200">
              <a:solidFill>
                <a:srgbClr val="000000"/>
              </a:solidFill>
              <a:latin typeface="Aptos"/>
              <a:cs typeface="Aptos"/>
            </a:endParaRPr>
          </a:p>
        </p:txBody>
      </p:sp>
      <p:cxnSp>
        <p:nvCxnSpPr>
          <p:cNvPr id="19" name="Item rule 5"/>
          <p:cNvCxnSpPr/>
          <p:nvPr/>
        </p:nvCxnSpPr>
        <p:spPr>
          <a:xfrm>
            <a:off x="4301067" y="3759200"/>
            <a:ext cx="3589867" cy="0"/>
          </a:xfrm>
          <a:prstGeom prst="line">
            <a:avLst/>
          </a:prstGeom>
          <a:ln w="9525">
            <a:solidFill>
              <a:srgbClr val="E8E9E6"/>
            </a:solidFill>
          </a:ln>
        </p:spPr>
      </p:cxnSp>
      <p:pic>
        <p:nvPicPr>
          <p:cNvPr id="20" name="Icon 5" descr="Risk and safeguards icon"/>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301067" y="4013200"/>
            <a:ext cx="508000" cy="508000"/>
          </a:xfrm>
          <a:prstGeom prst="rect">
            <a:avLst/>
          </a:prstGeom>
        </p:spPr>
      </p:pic>
      <p:sp>
        <p:nvSpPr>
          <p:cNvPr id="21" name="Item title 5"/>
          <p:cNvSpPr txBox="1"/>
          <p:nvPr/>
        </p:nvSpPr>
        <p:spPr>
          <a:xfrm>
            <a:off x="4301067" y="4724400"/>
            <a:ext cx="3589867" cy="2794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600" b="1">
                <a:solidFill>
                  <a:srgbClr val="022338"/>
                </a:solidFill>
                <a:latin typeface="Candara"/>
                <a:cs typeface="Candara"/>
              </a:rPr>
              <a:t>Risk and safeguards</a:t>
            </a:r>
            <a:endParaRPr lang="en-GB" sz="1600">
              <a:solidFill>
                <a:srgbClr val="022338"/>
              </a:solidFill>
              <a:latin typeface="Candara"/>
              <a:cs typeface="Candara"/>
            </a:endParaRPr>
          </a:p>
        </p:txBody>
      </p:sp>
      <p:sp>
        <p:nvSpPr>
          <p:cNvPr id="22" name="Item text 5"/>
          <p:cNvSpPr txBox="1"/>
          <p:nvPr/>
        </p:nvSpPr>
        <p:spPr>
          <a:xfrm>
            <a:off x="4301067" y="5080000"/>
            <a:ext cx="3589867" cy="8128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Keep the sentences parallel and about the same length.</a:t>
            </a:r>
            <a:endParaRPr lang="en-GB" sz="1200">
              <a:solidFill>
                <a:srgbClr val="000000"/>
              </a:solidFill>
              <a:latin typeface="Aptos"/>
              <a:cs typeface="Aptos"/>
            </a:endParaRPr>
          </a:p>
        </p:txBody>
      </p:sp>
      <p:cxnSp>
        <p:nvCxnSpPr>
          <p:cNvPr id="23" name="Item rule 6"/>
          <p:cNvCxnSpPr/>
          <p:nvPr/>
        </p:nvCxnSpPr>
        <p:spPr>
          <a:xfrm>
            <a:off x="8094133" y="3759200"/>
            <a:ext cx="3589867" cy="0"/>
          </a:xfrm>
          <a:prstGeom prst="line">
            <a:avLst/>
          </a:prstGeom>
          <a:ln w="9525">
            <a:solidFill>
              <a:srgbClr val="E8E9E6"/>
            </a:solidFill>
          </a:ln>
        </p:spPr>
      </p:cxnSp>
      <p:pic>
        <p:nvPicPr>
          <p:cNvPr id="24" name="Icon 6" descr="Capacity building icon"/>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094133" y="4013200"/>
            <a:ext cx="508000" cy="508000"/>
          </a:xfrm>
          <a:prstGeom prst="rect">
            <a:avLst/>
          </a:prstGeom>
        </p:spPr>
      </p:pic>
      <p:sp>
        <p:nvSpPr>
          <p:cNvPr id="25" name="Item title 6"/>
          <p:cNvSpPr txBox="1"/>
          <p:nvPr/>
        </p:nvSpPr>
        <p:spPr>
          <a:xfrm>
            <a:off x="8094133" y="4724400"/>
            <a:ext cx="3589867" cy="2794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600" b="1">
                <a:solidFill>
                  <a:srgbClr val="022338"/>
                </a:solidFill>
                <a:latin typeface="Candara"/>
                <a:cs typeface="Candara"/>
              </a:rPr>
              <a:t>Capacity building</a:t>
            </a:r>
            <a:endParaRPr lang="en-GB" sz="1600">
              <a:solidFill>
                <a:srgbClr val="022338"/>
              </a:solidFill>
              <a:latin typeface="Candara"/>
              <a:cs typeface="Candara"/>
            </a:endParaRPr>
          </a:p>
        </p:txBody>
      </p:sp>
      <p:sp>
        <p:nvSpPr>
          <p:cNvPr id="26" name="Item text 6"/>
          <p:cNvSpPr txBox="1"/>
          <p:nvPr/>
        </p:nvSpPr>
        <p:spPr>
          <a:xfrm>
            <a:off x="8094133" y="5080000"/>
            <a:ext cx="3589867" cy="8128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Six items at most; use three or four when each needs more text.</a:t>
            </a:r>
            <a:endParaRPr lang="en-GB" sz="1200">
              <a:solidFill>
                <a:srgbClr val="000000"/>
              </a:solidFill>
              <a:latin typeface="Aptos"/>
              <a:cs typeface="Aptos"/>
            </a:endParaRPr>
          </a:p>
        </p:txBody>
      </p:sp>
      <p:sp>
        <p:nvSpPr>
          <p:cNvPr id="27" name="Slide number"/>
          <p:cNvSpPr>
            <a:spLocks noGrp="1"/>
          </p:cNvSpPr>
          <p:nvPr>
            <p:ph type="sldNum" sz="quarter" idx="12"/>
          </p:nvPr>
        </p:nvSpPr>
        <p:spPr/>
        <p:txBody>
          <a:bodyPr/>
          <a:lstStyle/>
          <a:p>
            <a:fld id="{B6F15528-21DE-4FAA-801E-634DDDAF4B2B}" type="slidenum">
              <a:rPr lang="en-GB"/>
              <a:t>14</a:t>
            </a:fld>
            <a:endParaRPr lang="en-GB"/>
          </a:p>
        </p:txBody>
      </p:sp>
    </p:spTree>
    <p:extLst>
      <p:ext uri="{BB962C8B-B14F-4D97-AF65-F5344CB8AC3E}">
        <p14:creationId xmlns:p14="http://schemas.microsoft.com/office/powerpoint/2010/main" val="1362763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Action title: one message, with a photo that shows its subject</a:t>
            </a:r>
            <a:endParaRPr lang="en-GB"/>
          </a:p>
        </p:txBody>
      </p:sp>
      <p:sp>
        <p:nvSpPr>
          <p:cNvPr id="3" name="Subheading"/>
          <p:cNvSpPr txBox="1"/>
          <p:nvPr/>
        </p:nvSpPr>
        <p:spPr>
          <a:xfrm>
            <a:off x="508000" y="1371600"/>
            <a:ext cx="5486400" cy="660400"/>
          </a:xfrm>
          <a:prstGeom prst="rect">
            <a:avLst/>
          </a:prstGeom>
          <a:noFill/>
          <a:ln>
            <a:noFill/>
          </a:ln>
        </p:spPr>
        <p:txBody>
          <a:bodyPr wrap="square" lIns="0" tIns="0" rIns="0" bIns="0" rtlCol="0" anchor="t" anchorCtr="0">
            <a:noAutofit/>
          </a:bodyPr>
          <a:lstStyle/>
          <a:p>
            <a:pPr marL="0" indent="0" algn="l">
              <a:lnSpc>
                <a:spcPct val="95000"/>
              </a:lnSpc>
              <a:spcBef>
                <a:spcPts val="0"/>
              </a:spcBef>
              <a:spcAft>
                <a:spcPts val="0"/>
              </a:spcAft>
              <a:buNone/>
            </a:pPr>
            <a:r>
              <a:rPr lang="en-GB" sz="1800" b="1">
                <a:solidFill>
                  <a:srgbClr val="022338"/>
                </a:solidFill>
                <a:latin typeface="Candara"/>
                <a:cs typeface="Candara"/>
              </a:rPr>
              <a:t>Use a photo that shows the place, the people or the asset in question</a:t>
            </a:r>
            <a:endParaRPr lang="en-GB" sz="1800">
              <a:solidFill>
                <a:srgbClr val="022338"/>
              </a:solidFill>
              <a:latin typeface="Candara"/>
              <a:cs typeface="Candara"/>
            </a:endParaRPr>
          </a:p>
        </p:txBody>
      </p:sp>
      <p:sp>
        <p:nvSpPr>
          <p:cNvPr id="4" name="Text"/>
          <p:cNvSpPr txBox="1"/>
          <p:nvPr/>
        </p:nvSpPr>
        <p:spPr>
          <a:xfrm>
            <a:off x="508000" y="2286000"/>
            <a:ext cx="5486400" cy="2286000"/>
          </a:xfrm>
          <a:prstGeom prst="rect">
            <a:avLst/>
          </a:prstGeom>
          <a:noFill/>
          <a:ln>
            <a:noFill/>
          </a:ln>
        </p:spPr>
        <p:txBody>
          <a:bodyPr wrap="square" lIns="0" tIns="0" rIns="0" bIns="0" rtlCol="0" anchor="t" anchorCtr="0">
            <a:noAutofit/>
          </a:bodyPr>
          <a:lstStyle/>
          <a:p>
            <a:pPr marL="203200" indent="-203200" algn="l">
              <a:spcBef>
                <a:spcPts val="0"/>
              </a:spcBef>
              <a:spcAft>
                <a:spcPts val="800"/>
              </a:spcAft>
              <a:buClr>
                <a:srgbClr val="328840"/>
              </a:buClr>
              <a:buSzPct val="80000"/>
              <a:buFont typeface="Arial" panose="020B0604020202020204" pitchFamily="34" charset="0"/>
              <a:buChar char="■"/>
            </a:pPr>
            <a:r>
              <a:rPr lang="en-GB" sz="1400">
                <a:solidFill>
                  <a:srgbClr val="000000"/>
                </a:solidFill>
                <a:latin typeface="Aptos"/>
                <a:cs typeface="Aptos"/>
              </a:rPr>
              <a:t>Choose from the BwB photo library: Photos in the BwB tab</a:t>
            </a:r>
            <a:endParaRPr lang="en-GB" sz="1400">
              <a:solidFill>
                <a:srgbClr val="000000"/>
              </a:solidFill>
              <a:latin typeface="Aptos"/>
              <a:cs typeface="Aptos"/>
            </a:endParaRPr>
          </a:p>
          <a:p>
            <a:pPr marL="203200" indent="-203200" algn="l">
              <a:spcBef>
                <a:spcPts val="0"/>
              </a:spcBef>
              <a:spcAft>
                <a:spcPts val="800"/>
              </a:spcAft>
              <a:buClr>
                <a:srgbClr val="328840"/>
              </a:buClr>
              <a:buSzPct val="80000"/>
              <a:buFont typeface="Arial" panose="020B0604020202020204" pitchFamily="34" charset="0"/>
              <a:buChar char="■"/>
            </a:pPr>
            <a:r>
              <a:rPr lang="en-GB" sz="1400">
                <a:solidFill>
                  <a:srgbClr val="000000"/>
                </a:solidFill>
                <a:latin typeface="Aptos"/>
                <a:cs typeface="Aptos"/>
              </a:rPr>
              <a:t>Crop the photo to its frame; never stretch it</a:t>
            </a:r>
            <a:endParaRPr lang="en-GB" sz="1400">
              <a:solidFill>
                <a:srgbClr val="000000"/>
              </a:solidFill>
              <a:latin typeface="Aptos"/>
              <a:cs typeface="Aptos"/>
            </a:endParaRPr>
          </a:p>
          <a:p>
            <a:pPr marL="203200" indent="-203200" algn="l">
              <a:spcBef>
                <a:spcPts val="0"/>
              </a:spcBef>
              <a:spcAft>
                <a:spcPts val="800"/>
              </a:spcAft>
              <a:buClr>
                <a:srgbClr val="328840"/>
              </a:buClr>
              <a:buSzPct val="80000"/>
              <a:buFont typeface="Arial" panose="020B0604020202020204" pitchFamily="34" charset="0"/>
              <a:buChar char="■"/>
            </a:pPr>
            <a:r>
              <a:rPr lang="en-GB" sz="1400">
                <a:solidFill>
                  <a:srgbClr val="000000"/>
                </a:solidFill>
                <a:latin typeface="Aptos"/>
                <a:cs typeface="Aptos"/>
              </a:rPr>
              <a:t>Keep text off the photo and credit it in the source line</a:t>
            </a:r>
            <a:endParaRPr lang="en-GB" sz="1400">
              <a:solidFill>
                <a:srgbClr val="000000"/>
              </a:solidFill>
              <a:latin typeface="Aptos"/>
              <a:cs typeface="Aptos"/>
            </a:endParaRPr>
          </a:p>
          <a:p>
            <a:pPr marL="203200" indent="-203200" algn="l">
              <a:spcBef>
                <a:spcPts val="0"/>
              </a:spcBef>
              <a:spcAft>
                <a:spcPts val="800"/>
              </a:spcAft>
              <a:buClr>
                <a:srgbClr val="328840"/>
              </a:buClr>
              <a:buSzPct val="80000"/>
              <a:buFont typeface="Arial" panose="020B0604020202020204" pitchFamily="34" charset="0"/>
              <a:buChar char="■"/>
            </a:pPr>
            <a:r>
              <a:rPr lang="en-GB" sz="1400">
                <a:solidFill>
                  <a:srgbClr val="000000"/>
                </a:solidFill>
                <a:latin typeface="Aptos"/>
                <a:cs typeface="Aptos"/>
              </a:rPr>
              <a:t>Add alt text that says what the photo shows</a:t>
            </a:r>
            <a:endParaRPr lang="en-GB" sz="1400">
              <a:solidFill>
                <a:srgbClr val="000000"/>
              </a:solidFill>
              <a:latin typeface="Aptos"/>
              <a:cs typeface="Aptos"/>
            </a:endParaRPr>
          </a:p>
        </p:txBody>
      </p:sp>
      <p:sp>
        <p:nvSpPr>
          <p:cNvPr id="5" name="Callout"/>
          <p:cNvSpPr/>
          <p:nvPr/>
        </p:nvSpPr>
        <p:spPr>
          <a:xfrm>
            <a:off x="508000" y="5130800"/>
            <a:ext cx="5486400" cy="812800"/>
          </a:xfrm>
          <a:prstGeom prst="rect">
            <a:avLst/>
          </a:prstGeom>
          <a:solidFill>
            <a:srgbClr val="F7F8F5"/>
          </a:solidFill>
          <a:ln>
            <a:noFill/>
          </a:ln>
        </p:spPr>
        <p:txBody>
          <a:bodyPr wrap="square" lIns="254000" tIns="152400" rIns="203200" bIns="152400" rtlCol="0" anchor="t" anchorCtr="0">
            <a:noAutofit/>
          </a:bodyPr>
          <a:lstStyle/>
          <a:p>
            <a:pPr marL="0" indent="0" algn="l">
              <a:spcBef>
                <a:spcPts val="0"/>
              </a:spcBef>
              <a:spcAft>
                <a:spcPts val="400"/>
              </a:spcAft>
              <a:buNone/>
            </a:pPr>
            <a:r>
              <a:rPr lang="en-GB" sz="1400" b="1">
                <a:solidFill>
                  <a:srgbClr val="022338"/>
                </a:solidFill>
                <a:latin typeface="Aptos"/>
                <a:cs typeface="Aptos"/>
              </a:rPr>
              <a:t>Key point</a:t>
            </a:r>
            <a:endParaRPr lang="en-GB" sz="1400">
              <a:solidFill>
                <a:srgbClr val="022338"/>
              </a:solidFill>
              <a:latin typeface="Aptos"/>
              <a:cs typeface="Aptos"/>
            </a:endParaRPr>
          </a:p>
          <a:p>
            <a:pPr marL="0" indent="0" algn="l">
              <a:spcBef>
                <a:spcPts val="0"/>
              </a:spcBef>
              <a:spcAft>
                <a:spcPts val="0"/>
              </a:spcAft>
              <a:buNone/>
            </a:pPr>
            <a:r>
              <a:rPr lang="en-GB" sz="1200">
                <a:solidFill>
                  <a:srgbClr val="000000"/>
                </a:solidFill>
                <a:latin typeface="Aptos"/>
                <a:cs typeface="Aptos"/>
              </a:rPr>
              <a:t>What the reader should take from the photo and the text, in a line or two.</a:t>
            </a:r>
            <a:endParaRPr lang="en-GB" sz="1200">
              <a:solidFill>
                <a:srgbClr val="000000"/>
              </a:solidFill>
              <a:latin typeface="Aptos"/>
              <a:cs typeface="Aptos"/>
            </a:endParaRPr>
          </a:p>
        </p:txBody>
      </p:sp>
      <p:sp>
        <p:nvSpPr>
          <p:cNvPr id="6" name="Callout bar"/>
          <p:cNvSpPr/>
          <p:nvPr/>
        </p:nvSpPr>
        <p:spPr>
          <a:xfrm>
            <a:off x="508000" y="5130800"/>
            <a:ext cx="50800" cy="812800"/>
          </a:xfrm>
          <a:prstGeom prst="rect">
            <a:avLst/>
          </a:prstGeom>
          <a:solidFill>
            <a:srgbClr val="328840"/>
          </a:solidFill>
          <a:ln>
            <a:noFill/>
          </a:ln>
        </p:spPr>
      </p:sp>
      <p:pic>
        <p:nvPicPr>
          <p:cNvPr id="7" name="Photo" descr="A person standing beside a solar farm at dusk"/>
          <p:cNvPicPr>
            <a:picLocks noChangeAspect="1"/>
          </p:cNvPicPr>
          <p:nvPr/>
        </p:nvPicPr>
        <p:blipFill>
          <a:blip r:embed="rId2"/>
          <a:stretch>
            <a:fillRect/>
          </a:stretch>
        </p:blipFill>
        <p:spPr>
          <a:xfrm>
            <a:off x="6197600" y="1371600"/>
            <a:ext cx="5486400" cy="4572000"/>
          </a:xfrm>
          <a:prstGeom prst="rect">
            <a:avLst/>
          </a:prstGeom>
        </p:spPr>
      </p:pic>
      <p:sp>
        <p:nvSpPr>
          <p:cNvPr id="8" name="Source"/>
          <p:cNvSpPr txBox="1"/>
          <p:nvPr/>
        </p:nvSpPr>
        <p:spPr>
          <a:xfrm>
            <a:off x="508000" y="6045200"/>
            <a:ext cx="8890000" cy="304800"/>
          </a:xfrm>
          <a:prstGeom prst="rect">
            <a:avLst/>
          </a:prstGeom>
          <a:noFill/>
          <a:ln>
            <a:noFill/>
          </a:ln>
        </p:spPr>
        <p:txBody>
          <a:bodyPr wrap="square" lIns="0" tIns="0" rIns="0" bIns="0" rtlCol="0" anchor="b" anchorCtr="0">
            <a:noAutofit/>
          </a:bodyPr>
          <a:lstStyle/>
          <a:p>
            <a:pPr marL="0" indent="0" algn="l">
              <a:spcBef>
                <a:spcPts val="0"/>
              </a:spcBef>
              <a:spcAft>
                <a:spcPts val="0"/>
              </a:spcAft>
              <a:buNone/>
            </a:pPr>
            <a:r>
              <a:rPr lang="en-GB" sz="800">
                <a:solidFill>
                  <a:srgbClr val="4A4A4C"/>
                </a:solidFill>
                <a:latin typeface="Aptos"/>
                <a:cs typeface="Aptos"/>
              </a:rPr>
              <a:t>Photo: solar farm at dusk, BwB image library. Credit every photo that is not BwB’s own.</a:t>
            </a:r>
            <a:endParaRPr lang="en-GB" sz="800">
              <a:solidFill>
                <a:srgbClr val="4A4A4C"/>
              </a:solidFill>
              <a:latin typeface="Aptos"/>
              <a:cs typeface="Aptos"/>
            </a:endParaRPr>
          </a:p>
        </p:txBody>
      </p:sp>
      <p:sp>
        <p:nvSpPr>
          <p:cNvPr id="9" name="Slide number"/>
          <p:cNvSpPr>
            <a:spLocks noGrp="1"/>
          </p:cNvSpPr>
          <p:nvPr>
            <p:ph type="sldNum" sz="quarter" idx="12"/>
          </p:nvPr>
        </p:nvSpPr>
        <p:spPr/>
        <p:txBody>
          <a:bodyPr/>
          <a:lstStyle/>
          <a:p>
            <a:fld id="{B6F15528-21DE-4FAA-801E-634DDDAF4B2B}" type="slidenum">
              <a:rPr lang="en-GB"/>
              <a:t>15</a:t>
            </a:fld>
            <a:endParaRPr lang="en-GB"/>
          </a:p>
        </p:txBody>
      </p:sp>
    </p:spTree>
    <p:extLst>
      <p:ext uri="{BB962C8B-B14F-4D97-AF65-F5344CB8AC3E}">
        <p14:creationId xmlns:p14="http://schemas.microsoft.com/office/powerpoint/2010/main" val="49050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Action title: what the case shows for the client’s decision</a:t>
            </a:r>
            <a:endParaRPr lang="en-GB"/>
          </a:p>
        </p:txBody>
      </p:sp>
      <p:sp>
        <p:nvSpPr>
          <p:cNvPr id="3" name="Case panel"/>
          <p:cNvSpPr/>
          <p:nvPr/>
        </p:nvSpPr>
        <p:spPr>
          <a:xfrm>
            <a:off x="508000" y="1371600"/>
            <a:ext cx="3589867" cy="4572000"/>
          </a:xfrm>
          <a:prstGeom prst="rect">
            <a:avLst/>
          </a:prstGeom>
          <a:solidFill>
            <a:srgbClr val="022338"/>
          </a:solidFill>
          <a:ln>
            <a:noFill/>
          </a:ln>
        </p:spPr>
      </p:sp>
      <p:sp>
        <p:nvSpPr>
          <p:cNvPr id="4" name="Case label"/>
          <p:cNvSpPr txBox="1"/>
          <p:nvPr/>
        </p:nvSpPr>
        <p:spPr>
          <a:xfrm>
            <a:off x="762000" y="1676400"/>
            <a:ext cx="3081867" cy="2032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b="1">
                <a:solidFill>
                  <a:srgbClr val="BED62F"/>
                </a:solidFill>
                <a:latin typeface="Aptos"/>
                <a:cs typeface="Aptos"/>
              </a:rPr>
              <a:t>Case study</a:t>
            </a:r>
            <a:endParaRPr lang="en-GB" sz="1200">
              <a:solidFill>
                <a:srgbClr val="BED62F"/>
              </a:solidFill>
              <a:latin typeface="Aptos"/>
              <a:cs typeface="Aptos"/>
            </a:endParaRPr>
          </a:p>
        </p:txBody>
      </p:sp>
      <p:sp>
        <p:nvSpPr>
          <p:cNvPr id="5" name="Case title"/>
          <p:cNvSpPr txBox="1"/>
          <p:nvPr/>
        </p:nvSpPr>
        <p:spPr>
          <a:xfrm>
            <a:off x="762000" y="1981200"/>
            <a:ext cx="3081867" cy="812800"/>
          </a:xfrm>
          <a:prstGeom prst="rect">
            <a:avLst/>
          </a:prstGeom>
          <a:noFill/>
          <a:ln>
            <a:noFill/>
          </a:ln>
        </p:spPr>
        <p:txBody>
          <a:bodyPr wrap="square" lIns="0" tIns="0" rIns="0" bIns="0" rtlCol="0" anchor="t" anchorCtr="0">
            <a:noAutofit/>
          </a:bodyPr>
          <a:lstStyle/>
          <a:p>
            <a:pPr marL="0" indent="0" algn="l">
              <a:lnSpc>
                <a:spcPct val="95000"/>
              </a:lnSpc>
              <a:spcBef>
                <a:spcPts val="0"/>
              </a:spcBef>
              <a:spcAft>
                <a:spcPts val="0"/>
              </a:spcAft>
              <a:buNone/>
            </a:pPr>
            <a:r>
              <a:rPr lang="en-GB" sz="2400" b="1">
                <a:solidFill>
                  <a:srgbClr val="FFFFFF"/>
                </a:solidFill>
                <a:latin typeface="Candara"/>
                <a:cs typeface="Candara"/>
              </a:rPr>
              <a:t>Project or client name, on one or two lines</a:t>
            </a:r>
            <a:endParaRPr lang="en-GB" sz="2400">
              <a:solidFill>
                <a:srgbClr val="FFFFFF"/>
              </a:solidFill>
              <a:latin typeface="Candara"/>
              <a:cs typeface="Candara"/>
            </a:endParaRPr>
          </a:p>
        </p:txBody>
      </p:sp>
      <p:sp>
        <p:nvSpPr>
          <p:cNvPr id="6" name="Case details"/>
          <p:cNvSpPr txBox="1"/>
          <p:nvPr/>
        </p:nvSpPr>
        <p:spPr>
          <a:xfrm>
            <a:off x="762000" y="2997200"/>
            <a:ext cx="3081867" cy="1016000"/>
          </a:xfrm>
          <a:prstGeom prst="rect">
            <a:avLst/>
          </a:prstGeom>
          <a:noFill/>
          <a:ln>
            <a:noFill/>
          </a:ln>
        </p:spPr>
        <p:txBody>
          <a:bodyPr wrap="square" lIns="0" tIns="0" rIns="0" bIns="0" rtlCol="0" anchor="t" anchorCtr="0">
            <a:noAutofit/>
          </a:bodyPr>
          <a:lstStyle/>
          <a:p>
            <a:pPr marL="0" indent="0" algn="l">
              <a:spcBef>
                <a:spcPts val="0"/>
              </a:spcBef>
              <a:spcAft>
                <a:spcPts val="400"/>
              </a:spcAft>
              <a:buNone/>
            </a:pPr>
            <a:r>
              <a:rPr lang="en-GB" sz="1400">
                <a:solidFill>
                  <a:srgbClr val="FFFFFF"/>
                </a:solidFill>
                <a:latin typeface="Aptos"/>
                <a:cs typeface="Aptos"/>
              </a:rPr>
              <a:t>Country, year</a:t>
            </a:r>
            <a:endParaRPr lang="en-GB" sz="1400">
              <a:solidFill>
                <a:srgbClr val="FFFFFF"/>
              </a:solidFill>
              <a:latin typeface="Aptos"/>
              <a:cs typeface="Aptos"/>
            </a:endParaRPr>
          </a:p>
          <a:p>
            <a:pPr marL="0" indent="0" algn="l">
              <a:spcBef>
                <a:spcPts val="0"/>
              </a:spcBef>
              <a:spcAft>
                <a:spcPts val="400"/>
              </a:spcAft>
              <a:buNone/>
            </a:pPr>
            <a:r>
              <a:rPr lang="en-GB" sz="1400">
                <a:solidFill>
                  <a:srgbClr val="FFFFFF"/>
                </a:solidFill>
                <a:latin typeface="Aptos"/>
                <a:cs typeface="Aptos"/>
              </a:rPr>
              <a:t>Sector and instrument</a:t>
            </a:r>
            <a:endParaRPr lang="en-GB" sz="1400">
              <a:solidFill>
                <a:srgbClr val="FFFFFF"/>
              </a:solidFill>
              <a:latin typeface="Aptos"/>
              <a:cs typeface="Aptos"/>
            </a:endParaRPr>
          </a:p>
          <a:p>
            <a:pPr marL="0" indent="0" algn="l">
              <a:spcBef>
                <a:spcPts val="0"/>
              </a:spcBef>
              <a:spcAft>
                <a:spcPts val="0"/>
              </a:spcAft>
              <a:buNone/>
            </a:pPr>
            <a:r>
              <a:rPr lang="en-GB" sz="1400">
                <a:solidFill>
                  <a:srgbClr val="FFFFFF"/>
                </a:solidFill>
                <a:latin typeface="Aptos"/>
                <a:cs typeface="Aptos"/>
              </a:rPr>
              <a:t>Client: sovereign, city or company</a:t>
            </a:r>
            <a:endParaRPr lang="en-GB" sz="1400">
              <a:solidFill>
                <a:srgbClr val="FFFFFF"/>
              </a:solidFill>
              <a:latin typeface="Aptos"/>
              <a:cs typeface="Aptos"/>
            </a:endParaRPr>
          </a:p>
        </p:txBody>
      </p:sp>
      <p:pic>
        <p:nvPicPr>
          <p:cNvPr id="7" name="Case icon" descr="Landmark ic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2000" y="5181600"/>
            <a:ext cx="508000" cy="508000"/>
          </a:xfrm>
          <a:prstGeom prst="rect">
            <a:avLst/>
          </a:prstGeom>
        </p:spPr>
      </p:pic>
      <p:sp>
        <p:nvSpPr>
          <p:cNvPr id="8" name="Case heading 1"/>
          <p:cNvSpPr txBox="1"/>
          <p:nvPr/>
        </p:nvSpPr>
        <p:spPr>
          <a:xfrm>
            <a:off x="4301067" y="1371600"/>
            <a:ext cx="3589867" cy="3048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600" b="1">
                <a:solidFill>
                  <a:srgbClr val="022338"/>
                </a:solidFill>
                <a:latin typeface="Candara"/>
                <a:cs typeface="Candara"/>
              </a:rPr>
              <a:t>The challenge</a:t>
            </a:r>
            <a:endParaRPr lang="en-GB" sz="1600">
              <a:solidFill>
                <a:srgbClr val="022338"/>
              </a:solidFill>
              <a:latin typeface="Candara"/>
              <a:cs typeface="Candara"/>
            </a:endParaRPr>
          </a:p>
        </p:txBody>
      </p:sp>
      <p:sp>
        <p:nvSpPr>
          <p:cNvPr id="9" name="Case text 1"/>
          <p:cNvSpPr txBox="1"/>
          <p:nvPr/>
        </p:nvSpPr>
        <p:spPr>
          <a:xfrm>
            <a:off x="4301067" y="1778000"/>
            <a:ext cx="3589867" cy="15240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Two or three sentences on the client’s situation and the question they faced. Name the constraint that made it hard.</a:t>
            </a:r>
            <a:endParaRPr lang="en-GB" sz="1200">
              <a:solidFill>
                <a:srgbClr val="000000"/>
              </a:solidFill>
              <a:latin typeface="Aptos"/>
              <a:cs typeface="Aptos"/>
            </a:endParaRPr>
          </a:p>
        </p:txBody>
      </p:sp>
      <p:sp>
        <p:nvSpPr>
          <p:cNvPr id="10" name="Case heading 2"/>
          <p:cNvSpPr txBox="1"/>
          <p:nvPr/>
        </p:nvSpPr>
        <p:spPr>
          <a:xfrm>
            <a:off x="8094133" y="1371600"/>
            <a:ext cx="3589867" cy="3048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600" b="1">
                <a:solidFill>
                  <a:srgbClr val="022338"/>
                </a:solidFill>
                <a:latin typeface="Candara"/>
                <a:cs typeface="Candara"/>
              </a:rPr>
              <a:t>What we did</a:t>
            </a:r>
            <a:endParaRPr lang="en-GB" sz="1600">
              <a:solidFill>
                <a:srgbClr val="022338"/>
              </a:solidFill>
              <a:latin typeface="Candara"/>
              <a:cs typeface="Candara"/>
            </a:endParaRPr>
          </a:p>
        </p:txBody>
      </p:sp>
      <p:sp>
        <p:nvSpPr>
          <p:cNvPr id="11" name="Case text 2"/>
          <p:cNvSpPr txBox="1"/>
          <p:nvPr/>
        </p:nvSpPr>
        <p:spPr>
          <a:xfrm>
            <a:off x="8094133" y="1778000"/>
            <a:ext cx="3589867" cy="15240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The approach in two or three sentences: the analysis, the structure we designed and the partners we brought in.</a:t>
            </a:r>
            <a:endParaRPr lang="en-GB" sz="1200">
              <a:solidFill>
                <a:srgbClr val="000000"/>
              </a:solidFill>
              <a:latin typeface="Aptos"/>
              <a:cs typeface="Aptos"/>
            </a:endParaRPr>
          </a:p>
        </p:txBody>
      </p:sp>
      <p:cxnSp>
        <p:nvCxnSpPr>
          <p:cNvPr id="12" name="Results rule"/>
          <p:cNvCxnSpPr/>
          <p:nvPr/>
        </p:nvCxnSpPr>
        <p:spPr>
          <a:xfrm>
            <a:off x="4301067" y="3454400"/>
            <a:ext cx="7382933" cy="0"/>
          </a:xfrm>
          <a:prstGeom prst="line">
            <a:avLst/>
          </a:prstGeom>
          <a:ln w="9525">
            <a:solidFill>
              <a:srgbClr val="E8E9E6"/>
            </a:solidFill>
          </a:ln>
        </p:spPr>
      </p:cxnSp>
      <p:sp>
        <p:nvSpPr>
          <p:cNvPr id="13" name="Results heading"/>
          <p:cNvSpPr txBox="1"/>
          <p:nvPr/>
        </p:nvSpPr>
        <p:spPr>
          <a:xfrm>
            <a:off x="4301067" y="3632200"/>
            <a:ext cx="7382933" cy="3048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600" b="1">
                <a:solidFill>
                  <a:srgbClr val="022338"/>
                </a:solidFill>
                <a:latin typeface="Candara"/>
                <a:cs typeface="Candara"/>
              </a:rPr>
              <a:t>Results</a:t>
            </a:r>
            <a:endParaRPr lang="en-GB" sz="1600">
              <a:solidFill>
                <a:srgbClr val="022338"/>
              </a:solidFill>
              <a:latin typeface="Candara"/>
              <a:cs typeface="Candara"/>
            </a:endParaRPr>
          </a:p>
        </p:txBody>
      </p:sp>
      <p:sp>
        <p:nvSpPr>
          <p:cNvPr id="14" name="Result 1"/>
          <p:cNvSpPr txBox="1"/>
          <p:nvPr/>
        </p:nvSpPr>
        <p:spPr>
          <a:xfrm>
            <a:off x="4301067" y="4064000"/>
            <a:ext cx="1693333" cy="558800"/>
          </a:xfrm>
          <a:prstGeom prst="rect">
            <a:avLst/>
          </a:prstGeom>
          <a:noFill/>
          <a:ln>
            <a:noFill/>
          </a:ln>
        </p:spPr>
        <p:txBody>
          <a:bodyPr wrap="square" lIns="0" tIns="0" rIns="0" bIns="0" rtlCol="0" anchor="b" anchorCtr="0">
            <a:noAutofit/>
          </a:bodyPr>
          <a:lstStyle/>
          <a:p>
            <a:pPr marL="0" indent="0" algn="l">
              <a:lnSpc>
                <a:spcPct val="90000"/>
              </a:lnSpc>
              <a:buNone/>
            </a:pPr>
            <a:r>
              <a:rPr lang="en-GB" sz="1300" b="1">
                <a:solidFill>
                  <a:srgbClr val="328840"/>
                </a:solidFill>
                <a:latin typeface="Aptos"/>
                <a:cs typeface="Aptos"/>
              </a:rPr>
              <a:t>USD </a:t>
            </a:r>
            <a:r>
              <a:rPr lang="en-GB" sz="3200" b="1">
                <a:solidFill>
                  <a:srgbClr val="328840"/>
                </a:solidFill>
                <a:latin typeface="Aptos"/>
                <a:cs typeface="Aptos"/>
              </a:rPr>
              <a:t>120m</a:t>
            </a:r>
            <a:endParaRPr lang="en-GB" sz="3200">
              <a:solidFill>
                <a:srgbClr val="328840"/>
              </a:solidFill>
              <a:latin typeface="Aptos"/>
              <a:cs typeface="Aptos"/>
            </a:endParaRPr>
          </a:p>
        </p:txBody>
      </p:sp>
      <p:sp>
        <p:nvSpPr>
          <p:cNvPr id="15" name="Result label 1"/>
          <p:cNvSpPr txBox="1"/>
          <p:nvPr/>
        </p:nvSpPr>
        <p:spPr>
          <a:xfrm>
            <a:off x="4301067" y="4724400"/>
            <a:ext cx="1693333" cy="7620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mobilised from private investors</a:t>
            </a:r>
            <a:endParaRPr lang="en-GB" sz="1200">
              <a:solidFill>
                <a:srgbClr val="000000"/>
              </a:solidFill>
              <a:latin typeface="Aptos"/>
              <a:cs typeface="Aptos"/>
            </a:endParaRPr>
          </a:p>
        </p:txBody>
      </p:sp>
      <p:sp>
        <p:nvSpPr>
          <p:cNvPr id="16" name="Result 2"/>
          <p:cNvSpPr txBox="1"/>
          <p:nvPr/>
        </p:nvSpPr>
        <p:spPr>
          <a:xfrm>
            <a:off x="6197600" y="4064000"/>
            <a:ext cx="1693333" cy="558800"/>
          </a:xfrm>
          <a:prstGeom prst="rect">
            <a:avLst/>
          </a:prstGeom>
          <a:noFill/>
          <a:ln>
            <a:noFill/>
          </a:ln>
        </p:spPr>
        <p:txBody>
          <a:bodyPr wrap="square" lIns="0" tIns="0" rIns="0" bIns="0" rtlCol="0" anchor="b" anchorCtr="0">
            <a:noAutofit/>
          </a:bodyPr>
          <a:lstStyle/>
          <a:p>
            <a:pPr marL="0" indent="0" algn="l">
              <a:lnSpc>
                <a:spcPct val="90000"/>
              </a:lnSpc>
              <a:buNone/>
            </a:pPr>
            <a:r>
              <a:rPr lang="en-GB" sz="3200" b="1">
                <a:solidFill>
                  <a:srgbClr val="328840"/>
                </a:solidFill>
                <a:latin typeface="Aptos"/>
                <a:cs typeface="Aptos"/>
              </a:rPr>
              <a:t>3x</a:t>
            </a:r>
            <a:endParaRPr lang="en-GB" sz="3200">
              <a:solidFill>
                <a:srgbClr val="328840"/>
              </a:solidFill>
              <a:latin typeface="Aptos"/>
              <a:cs typeface="Aptos"/>
            </a:endParaRPr>
          </a:p>
        </p:txBody>
      </p:sp>
      <p:sp>
        <p:nvSpPr>
          <p:cNvPr id="17" name="Result label 2"/>
          <p:cNvSpPr txBox="1"/>
          <p:nvPr/>
        </p:nvSpPr>
        <p:spPr>
          <a:xfrm>
            <a:off x="6197600" y="4724400"/>
            <a:ext cx="1693333" cy="7620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leverage on the public funds committed</a:t>
            </a:r>
            <a:endParaRPr lang="en-GB" sz="1200">
              <a:solidFill>
                <a:srgbClr val="000000"/>
              </a:solidFill>
              <a:latin typeface="Aptos"/>
              <a:cs typeface="Aptos"/>
            </a:endParaRPr>
          </a:p>
        </p:txBody>
      </p:sp>
      <p:sp>
        <p:nvSpPr>
          <p:cNvPr id="18" name="Result 3"/>
          <p:cNvSpPr txBox="1"/>
          <p:nvPr/>
        </p:nvSpPr>
        <p:spPr>
          <a:xfrm>
            <a:off x="8094133" y="4064000"/>
            <a:ext cx="1693333" cy="558800"/>
          </a:xfrm>
          <a:prstGeom prst="rect">
            <a:avLst/>
          </a:prstGeom>
          <a:noFill/>
          <a:ln>
            <a:noFill/>
          </a:ln>
        </p:spPr>
        <p:txBody>
          <a:bodyPr wrap="square" lIns="0" tIns="0" rIns="0" bIns="0" rtlCol="0" anchor="b" anchorCtr="0">
            <a:noAutofit/>
          </a:bodyPr>
          <a:lstStyle/>
          <a:p>
            <a:pPr marL="0" indent="0" algn="l">
              <a:lnSpc>
                <a:spcPct val="90000"/>
              </a:lnSpc>
              <a:buNone/>
            </a:pPr>
            <a:r>
              <a:rPr lang="en-GB" sz="3200" b="1">
                <a:solidFill>
                  <a:srgbClr val="328840"/>
                </a:solidFill>
                <a:latin typeface="Aptos"/>
                <a:cs typeface="Aptos"/>
              </a:rPr>
              <a:t>18</a:t>
            </a:r>
            <a:endParaRPr lang="en-GB" sz="3200">
              <a:solidFill>
                <a:srgbClr val="328840"/>
              </a:solidFill>
              <a:latin typeface="Aptos"/>
              <a:cs typeface="Aptos"/>
            </a:endParaRPr>
          </a:p>
        </p:txBody>
      </p:sp>
      <p:sp>
        <p:nvSpPr>
          <p:cNvPr id="19" name="Result label 3"/>
          <p:cNvSpPr txBox="1"/>
          <p:nvPr/>
        </p:nvSpPr>
        <p:spPr>
          <a:xfrm>
            <a:off x="8094133" y="4724400"/>
            <a:ext cx="1693333" cy="7620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months from mandate to financial close</a:t>
            </a:r>
            <a:endParaRPr lang="en-GB" sz="1200">
              <a:solidFill>
                <a:srgbClr val="000000"/>
              </a:solidFill>
              <a:latin typeface="Aptos"/>
              <a:cs typeface="Aptos"/>
            </a:endParaRPr>
          </a:p>
        </p:txBody>
      </p:sp>
      <p:sp>
        <p:nvSpPr>
          <p:cNvPr id="20" name="Result 4"/>
          <p:cNvSpPr txBox="1"/>
          <p:nvPr/>
        </p:nvSpPr>
        <p:spPr>
          <a:xfrm>
            <a:off x="9990667" y="4064000"/>
            <a:ext cx="1693333" cy="558800"/>
          </a:xfrm>
          <a:prstGeom prst="rect">
            <a:avLst/>
          </a:prstGeom>
          <a:noFill/>
          <a:ln>
            <a:noFill/>
          </a:ln>
        </p:spPr>
        <p:txBody>
          <a:bodyPr wrap="square" lIns="0" tIns="0" rIns="0" bIns="0" rtlCol="0" anchor="b" anchorCtr="0">
            <a:noAutofit/>
          </a:bodyPr>
          <a:lstStyle/>
          <a:p>
            <a:pPr marL="0" indent="0" algn="l">
              <a:lnSpc>
                <a:spcPct val="90000"/>
              </a:lnSpc>
              <a:buNone/>
            </a:pPr>
            <a:r>
              <a:rPr lang="en-GB" sz="3200" b="1">
                <a:solidFill>
                  <a:srgbClr val="328840"/>
                </a:solidFill>
                <a:latin typeface="Aptos"/>
                <a:cs typeface="Aptos"/>
              </a:rPr>
              <a:t>4</a:t>
            </a:r>
            <a:endParaRPr lang="en-GB" sz="3200">
              <a:solidFill>
                <a:srgbClr val="328840"/>
              </a:solidFill>
              <a:latin typeface="Aptos"/>
              <a:cs typeface="Aptos"/>
            </a:endParaRPr>
          </a:p>
        </p:txBody>
      </p:sp>
      <p:sp>
        <p:nvSpPr>
          <p:cNvPr id="21" name="Result label 4"/>
          <p:cNvSpPr txBox="1"/>
          <p:nvPr/>
        </p:nvSpPr>
        <p:spPr>
          <a:xfrm>
            <a:off x="9990667" y="4724400"/>
            <a:ext cx="1693333" cy="7620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countries covered by the programme</a:t>
            </a:r>
            <a:endParaRPr lang="en-GB" sz="1200">
              <a:solidFill>
                <a:srgbClr val="000000"/>
              </a:solidFill>
              <a:latin typeface="Aptos"/>
              <a:cs typeface="Aptos"/>
            </a:endParaRPr>
          </a:p>
        </p:txBody>
      </p:sp>
      <p:sp>
        <p:nvSpPr>
          <p:cNvPr id="22" name="Source"/>
          <p:cNvSpPr txBox="1"/>
          <p:nvPr/>
        </p:nvSpPr>
        <p:spPr>
          <a:xfrm>
            <a:off x="508000" y="6045200"/>
            <a:ext cx="8890000" cy="304800"/>
          </a:xfrm>
          <a:prstGeom prst="rect">
            <a:avLst/>
          </a:prstGeom>
          <a:noFill/>
          <a:ln>
            <a:noFill/>
          </a:ln>
        </p:spPr>
        <p:txBody>
          <a:bodyPr wrap="square" lIns="0" tIns="0" rIns="0" bIns="0" rtlCol="0" anchor="b" anchorCtr="0">
            <a:noAutofit/>
          </a:bodyPr>
          <a:lstStyle/>
          <a:p>
            <a:pPr marL="0" indent="0" algn="l">
              <a:spcBef>
                <a:spcPts val="0"/>
              </a:spcBef>
              <a:spcAft>
                <a:spcPts val="0"/>
              </a:spcAft>
              <a:buNone/>
            </a:pPr>
            <a:r>
              <a:rPr lang="en-GB" sz="800">
                <a:solidFill>
                  <a:srgbClr val="4A4A4C"/>
                </a:solidFill>
                <a:latin typeface="Aptos"/>
                <a:cs typeface="Aptos"/>
              </a:rPr>
              <a:t>Source: BwB project records (year). Use figures the client has agreed we can publish.</a:t>
            </a:r>
            <a:endParaRPr lang="en-GB" sz="800">
              <a:solidFill>
                <a:srgbClr val="4A4A4C"/>
              </a:solidFill>
              <a:latin typeface="Aptos"/>
              <a:cs typeface="Aptos"/>
            </a:endParaRPr>
          </a:p>
        </p:txBody>
      </p:sp>
      <p:sp>
        <p:nvSpPr>
          <p:cNvPr id="23" name="Slide number"/>
          <p:cNvSpPr>
            <a:spLocks noGrp="1"/>
          </p:cNvSpPr>
          <p:nvPr>
            <p:ph type="sldNum" sz="quarter" idx="12"/>
          </p:nvPr>
        </p:nvSpPr>
        <p:spPr/>
        <p:txBody>
          <a:bodyPr/>
          <a:lstStyle/>
          <a:p>
            <a:fld id="{B6F15528-21DE-4FAA-801E-634DDDAF4B2B}" type="slidenum">
              <a:rPr lang="en-GB"/>
              <a:t>16</a:t>
            </a:fld>
            <a:endParaRPr lang="en-GB"/>
          </a:p>
        </p:txBody>
      </p:sp>
    </p:spTree>
    <p:extLst>
      <p:ext uri="{BB962C8B-B14F-4D97-AF65-F5344CB8AC3E}">
        <p14:creationId xmlns:p14="http://schemas.microsoft.com/office/powerpoint/2010/main" val="17326607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Action title: what stakeholders told us, in their own words</a:t>
            </a:r>
            <a:endParaRPr lang="en-GB"/>
          </a:p>
        </p:txBody>
      </p:sp>
      <p:sp>
        <p:nvSpPr>
          <p:cNvPr id="3" name="Quote panel"/>
          <p:cNvSpPr/>
          <p:nvPr/>
        </p:nvSpPr>
        <p:spPr>
          <a:xfrm>
            <a:off x="508000" y="1371600"/>
            <a:ext cx="11176000" cy="4572000"/>
          </a:xfrm>
          <a:prstGeom prst="rect">
            <a:avLst/>
          </a:prstGeom>
          <a:solidFill>
            <a:srgbClr val="022338"/>
          </a:solidFill>
          <a:ln>
            <a:noFill/>
          </a:ln>
        </p:spPr>
      </p:sp>
      <p:sp>
        <p:nvSpPr>
          <p:cNvPr id="4" name="Quote mark"/>
          <p:cNvSpPr txBox="1"/>
          <p:nvPr/>
        </p:nvSpPr>
        <p:spPr>
          <a:xfrm>
            <a:off x="1456267" y="1625600"/>
            <a:ext cx="1016000" cy="1016000"/>
          </a:xfrm>
          <a:prstGeom prst="rect">
            <a:avLst/>
          </a:prstGeom>
          <a:noFill/>
          <a:ln>
            <a:noFill/>
          </a:ln>
        </p:spPr>
        <p:txBody>
          <a:bodyPr wrap="square" lIns="0" tIns="0" rIns="0" bIns="0" rtlCol="0" anchor="t" anchorCtr="0">
            <a:noAutofit/>
          </a:bodyPr>
          <a:lstStyle/>
          <a:p>
            <a:pPr marL="0" indent="0" algn="l">
              <a:lnSpc>
                <a:spcPct val="100000"/>
              </a:lnSpc>
              <a:spcBef>
                <a:spcPts val="0"/>
              </a:spcBef>
              <a:spcAft>
                <a:spcPts val="0"/>
              </a:spcAft>
              <a:buNone/>
            </a:pPr>
            <a:r>
              <a:rPr lang="en-GB" sz="12000" b="1">
                <a:solidFill>
                  <a:srgbClr val="BED62F"/>
                </a:solidFill>
                <a:latin typeface="Candara"/>
                <a:cs typeface="Candara"/>
              </a:rPr>
              <a:t>“</a:t>
            </a:r>
            <a:endParaRPr lang="en-GB" sz="12000">
              <a:solidFill>
                <a:srgbClr val="BED62F"/>
              </a:solidFill>
              <a:latin typeface="Candara"/>
              <a:cs typeface="Candara"/>
            </a:endParaRPr>
          </a:p>
        </p:txBody>
      </p:sp>
      <p:sp>
        <p:nvSpPr>
          <p:cNvPr id="5" name="Quote"/>
          <p:cNvSpPr txBox="1"/>
          <p:nvPr/>
        </p:nvSpPr>
        <p:spPr>
          <a:xfrm>
            <a:off x="1456267" y="2844800"/>
            <a:ext cx="9279467" cy="1651000"/>
          </a:xfrm>
          <a:prstGeom prst="rect">
            <a:avLst/>
          </a:prstGeom>
          <a:noFill/>
          <a:ln>
            <a:noFill/>
          </a:ln>
        </p:spPr>
        <p:txBody>
          <a:bodyPr wrap="square" lIns="0" tIns="0" rIns="0" bIns="0" rtlCol="0" anchor="t" anchorCtr="0">
            <a:noAutofit/>
          </a:bodyPr>
          <a:lstStyle/>
          <a:p>
            <a:pPr marL="0" indent="0" algn="l">
              <a:lnSpc>
                <a:spcPct val="100000"/>
              </a:lnSpc>
              <a:spcBef>
                <a:spcPts val="0"/>
              </a:spcBef>
              <a:spcAft>
                <a:spcPts val="0"/>
              </a:spcAft>
              <a:buNone/>
            </a:pPr>
            <a:r>
              <a:rPr lang="en-GB" sz="2800" i="1">
                <a:solidFill>
                  <a:srgbClr val="FFFFFF"/>
                </a:solidFill>
                <a:latin typeface="Candara"/>
                <a:cs typeface="Candara"/>
              </a:rPr>
              <a:t>Put here the one quotation that carries the point, in the speaker’s own words, cut to two or three lines.</a:t>
            </a:r>
            <a:endParaRPr lang="en-GB" sz="2800">
              <a:solidFill>
                <a:srgbClr val="FFFFFF"/>
              </a:solidFill>
              <a:latin typeface="Candara"/>
              <a:cs typeface="Candara"/>
            </a:endParaRPr>
          </a:p>
        </p:txBody>
      </p:sp>
      <p:sp>
        <p:nvSpPr>
          <p:cNvPr id="6" name="Attribution"/>
          <p:cNvSpPr txBox="1"/>
          <p:nvPr/>
        </p:nvSpPr>
        <p:spPr>
          <a:xfrm>
            <a:off x="1456267" y="4775200"/>
            <a:ext cx="9279467" cy="711200"/>
          </a:xfrm>
          <a:prstGeom prst="rect">
            <a:avLst/>
          </a:prstGeom>
          <a:noFill/>
          <a:ln>
            <a:noFill/>
          </a:ln>
        </p:spPr>
        <p:txBody>
          <a:bodyPr wrap="square" lIns="0" tIns="0" rIns="0" bIns="0" rtlCol="0" anchor="b" anchorCtr="0">
            <a:noAutofit/>
          </a:bodyPr>
          <a:lstStyle/>
          <a:p>
            <a:pPr marL="0" indent="0" algn="l">
              <a:spcBef>
                <a:spcPts val="0"/>
              </a:spcBef>
              <a:spcAft>
                <a:spcPts val="400"/>
              </a:spcAft>
              <a:buNone/>
            </a:pPr>
            <a:r>
              <a:rPr lang="en-GB" sz="1400" b="1">
                <a:solidFill>
                  <a:srgbClr val="FFFFFF"/>
                </a:solidFill>
                <a:latin typeface="Aptos"/>
                <a:cs typeface="Aptos"/>
              </a:rPr>
              <a:t>Name Surname</a:t>
            </a:r>
            <a:r>
              <a:rPr lang="en-GB" sz="1400">
                <a:solidFill>
                  <a:srgbClr val="FFFFFF"/>
                </a:solidFill>
                <a:latin typeface="Aptos"/>
                <a:cs typeface="Aptos"/>
              </a:rPr>
              <a:t>, role, organisation</a:t>
            </a:r>
            <a:endParaRPr lang="en-GB" sz="1400">
              <a:solidFill>
                <a:srgbClr val="FFFFFF"/>
              </a:solidFill>
              <a:latin typeface="Aptos"/>
              <a:cs typeface="Aptos"/>
            </a:endParaRPr>
          </a:p>
          <a:p>
            <a:pPr marL="0" indent="0" algn="l">
              <a:spcBef>
                <a:spcPts val="0"/>
              </a:spcBef>
              <a:spcAft>
                <a:spcPts val="0"/>
              </a:spcAft>
              <a:buNone/>
            </a:pPr>
            <a:r>
              <a:rPr lang="en-GB" sz="1200">
                <a:solidFill>
                  <a:srgbClr val="FFFFFF"/>
                </a:solidFill>
                <a:latin typeface="Aptos"/>
                <a:cs typeface="Aptos"/>
              </a:rPr>
              <a:t>Interview, October 2026. Quote with permission, or describe the speaker: ‘a senior official at the ministry of finance’.</a:t>
            </a:r>
            <a:endParaRPr lang="en-GB" sz="1200">
              <a:solidFill>
                <a:srgbClr val="FFFFFF"/>
              </a:solidFill>
              <a:latin typeface="Aptos"/>
              <a:cs typeface="Aptos"/>
            </a:endParaRPr>
          </a:p>
        </p:txBody>
      </p:sp>
      <p:sp>
        <p:nvSpPr>
          <p:cNvPr id="7" name="Slide number"/>
          <p:cNvSpPr>
            <a:spLocks noGrp="1"/>
          </p:cNvSpPr>
          <p:nvPr>
            <p:ph type="sldNum" sz="quarter" idx="12"/>
          </p:nvPr>
        </p:nvSpPr>
        <p:spPr/>
        <p:txBody>
          <a:bodyPr/>
          <a:lstStyle/>
          <a:p>
            <a:fld id="{B6F15528-21DE-4FAA-801E-634DDDAF4B2B}" type="slidenum">
              <a:rPr lang="en-GB"/>
              <a:t>17</a:t>
            </a:fld>
            <a:endParaRPr lang="en-GB"/>
          </a:p>
        </p:txBody>
      </p:sp>
    </p:spTree>
    <p:extLst>
      <p:ext uri="{BB962C8B-B14F-4D97-AF65-F5344CB8AC3E}">
        <p14:creationId xmlns:p14="http://schemas.microsoft.com/office/powerpoint/2010/main" val="1999934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Action title: the team brings the mix of skills this project needs</a:t>
            </a:r>
            <a:endParaRPr lang="en-GB"/>
          </a:p>
        </p:txBody>
      </p:sp>
      <p:pic>
        <p:nvPicPr>
          <p:cNvPr id="3" name="Photo 1" descr="Team member photo: replace with their portrait"/>
          <p:cNvPicPr>
            <a:picLocks noChangeAspect="1"/>
          </p:cNvPicPr>
          <p:nvPr/>
        </p:nvPicPr>
        <p:blipFill>
          <a:blip r:embed="rId2"/>
          <a:stretch>
            <a:fillRect/>
          </a:stretch>
        </p:blipFill>
        <p:spPr>
          <a:xfrm>
            <a:off x="508000" y="1371600"/>
            <a:ext cx="2641600" cy="2641600"/>
          </a:xfrm>
          <a:prstGeom prst="rect">
            <a:avLst/>
          </a:prstGeom>
        </p:spPr>
      </p:pic>
      <p:sp>
        <p:nvSpPr>
          <p:cNvPr id="4" name="Name 1"/>
          <p:cNvSpPr txBox="1"/>
          <p:nvPr/>
        </p:nvSpPr>
        <p:spPr>
          <a:xfrm>
            <a:off x="508000" y="4191000"/>
            <a:ext cx="2641600" cy="2794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600" b="1">
                <a:solidFill>
                  <a:srgbClr val="022338"/>
                </a:solidFill>
                <a:latin typeface="Candara"/>
                <a:cs typeface="Candara"/>
              </a:rPr>
              <a:t>Name Surname</a:t>
            </a:r>
            <a:endParaRPr lang="en-GB" sz="1600">
              <a:solidFill>
                <a:srgbClr val="022338"/>
              </a:solidFill>
              <a:latin typeface="Candara"/>
              <a:cs typeface="Candara"/>
            </a:endParaRPr>
          </a:p>
        </p:txBody>
      </p:sp>
      <p:sp>
        <p:nvSpPr>
          <p:cNvPr id="5" name="Role 1"/>
          <p:cNvSpPr txBox="1"/>
          <p:nvPr/>
        </p:nvSpPr>
        <p:spPr>
          <a:xfrm>
            <a:off x="508000" y="4495800"/>
            <a:ext cx="2641600" cy="2286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4A4A4C"/>
                </a:solidFill>
                <a:latin typeface="Aptos"/>
                <a:cs typeface="Aptos"/>
              </a:rPr>
              <a:t>Engagement lead</a:t>
            </a:r>
            <a:endParaRPr lang="en-GB" sz="1200">
              <a:solidFill>
                <a:srgbClr val="4A4A4C"/>
              </a:solidFill>
              <a:latin typeface="Aptos"/>
              <a:cs typeface="Aptos"/>
            </a:endParaRPr>
          </a:p>
        </p:txBody>
      </p:sp>
      <p:sp>
        <p:nvSpPr>
          <p:cNvPr id="6" name="Profile 1"/>
          <p:cNvSpPr txBox="1"/>
          <p:nvPr/>
        </p:nvSpPr>
        <p:spPr>
          <a:xfrm>
            <a:off x="508000" y="4826000"/>
            <a:ext cx="2641600" cy="11176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Accountable for quality and for the client relationship. Give years of experience and two similar projects.</a:t>
            </a:r>
            <a:endParaRPr lang="en-GB" sz="1200">
              <a:solidFill>
                <a:srgbClr val="000000"/>
              </a:solidFill>
              <a:latin typeface="Aptos"/>
              <a:cs typeface="Aptos"/>
            </a:endParaRPr>
          </a:p>
        </p:txBody>
      </p:sp>
      <p:pic>
        <p:nvPicPr>
          <p:cNvPr id="7" name="Photo 2" descr="Team member photo: replace with their portrait"/>
          <p:cNvPicPr>
            <a:picLocks noChangeAspect="1"/>
          </p:cNvPicPr>
          <p:nvPr/>
        </p:nvPicPr>
        <p:blipFill>
          <a:blip r:embed="rId3"/>
          <a:stretch>
            <a:fillRect/>
          </a:stretch>
        </p:blipFill>
        <p:spPr>
          <a:xfrm>
            <a:off x="3352800" y="1371600"/>
            <a:ext cx="2641600" cy="2641600"/>
          </a:xfrm>
          <a:prstGeom prst="rect">
            <a:avLst/>
          </a:prstGeom>
        </p:spPr>
      </p:pic>
      <p:sp>
        <p:nvSpPr>
          <p:cNvPr id="8" name="Name 2"/>
          <p:cNvSpPr txBox="1"/>
          <p:nvPr/>
        </p:nvSpPr>
        <p:spPr>
          <a:xfrm>
            <a:off x="3352800" y="4191000"/>
            <a:ext cx="2641600" cy="2794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600" b="1">
                <a:solidFill>
                  <a:srgbClr val="022338"/>
                </a:solidFill>
                <a:latin typeface="Candara"/>
                <a:cs typeface="Candara"/>
              </a:rPr>
              <a:t>Name Surname</a:t>
            </a:r>
            <a:endParaRPr lang="en-GB" sz="1600">
              <a:solidFill>
                <a:srgbClr val="022338"/>
              </a:solidFill>
              <a:latin typeface="Candara"/>
              <a:cs typeface="Candara"/>
            </a:endParaRPr>
          </a:p>
        </p:txBody>
      </p:sp>
      <p:sp>
        <p:nvSpPr>
          <p:cNvPr id="9" name="Role 2"/>
          <p:cNvSpPr txBox="1"/>
          <p:nvPr/>
        </p:nvSpPr>
        <p:spPr>
          <a:xfrm>
            <a:off x="3352800" y="4495800"/>
            <a:ext cx="2641600" cy="2286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4A4A4C"/>
                </a:solidFill>
                <a:latin typeface="Aptos"/>
                <a:cs typeface="Aptos"/>
              </a:rPr>
              <a:t>Project manager</a:t>
            </a:r>
            <a:endParaRPr lang="en-GB" sz="1200">
              <a:solidFill>
                <a:srgbClr val="4A4A4C"/>
              </a:solidFill>
              <a:latin typeface="Aptos"/>
              <a:cs typeface="Aptos"/>
            </a:endParaRPr>
          </a:p>
        </p:txBody>
      </p:sp>
      <p:sp>
        <p:nvSpPr>
          <p:cNvPr id="10" name="Profile 2"/>
          <p:cNvSpPr txBox="1"/>
          <p:nvPr/>
        </p:nvSpPr>
        <p:spPr>
          <a:xfrm>
            <a:off x="3352800" y="4826000"/>
            <a:ext cx="2641600" cy="11176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Runs the workplan day to day. Name the sectors and the regions they know best.</a:t>
            </a:r>
            <a:endParaRPr lang="en-GB" sz="1200">
              <a:solidFill>
                <a:srgbClr val="000000"/>
              </a:solidFill>
              <a:latin typeface="Aptos"/>
              <a:cs typeface="Aptos"/>
            </a:endParaRPr>
          </a:p>
        </p:txBody>
      </p:sp>
      <p:pic>
        <p:nvPicPr>
          <p:cNvPr id="11" name="Photo 3" descr="Team member photo: replace with their portrait"/>
          <p:cNvPicPr>
            <a:picLocks noChangeAspect="1"/>
          </p:cNvPicPr>
          <p:nvPr/>
        </p:nvPicPr>
        <p:blipFill>
          <a:blip r:embed="rId4"/>
          <a:stretch>
            <a:fillRect/>
          </a:stretch>
        </p:blipFill>
        <p:spPr>
          <a:xfrm>
            <a:off x="6197600" y="1371600"/>
            <a:ext cx="2641600" cy="2641600"/>
          </a:xfrm>
          <a:prstGeom prst="rect">
            <a:avLst/>
          </a:prstGeom>
        </p:spPr>
      </p:pic>
      <p:sp>
        <p:nvSpPr>
          <p:cNvPr id="12" name="Name 3"/>
          <p:cNvSpPr txBox="1"/>
          <p:nvPr/>
        </p:nvSpPr>
        <p:spPr>
          <a:xfrm>
            <a:off x="6197600" y="4191000"/>
            <a:ext cx="2641600" cy="2794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600" b="1">
                <a:solidFill>
                  <a:srgbClr val="022338"/>
                </a:solidFill>
                <a:latin typeface="Candara"/>
                <a:cs typeface="Candara"/>
              </a:rPr>
              <a:t>Name Surname</a:t>
            </a:r>
            <a:endParaRPr lang="en-GB" sz="1600">
              <a:solidFill>
                <a:srgbClr val="022338"/>
              </a:solidFill>
              <a:latin typeface="Candara"/>
              <a:cs typeface="Candara"/>
            </a:endParaRPr>
          </a:p>
        </p:txBody>
      </p:sp>
      <p:sp>
        <p:nvSpPr>
          <p:cNvPr id="13" name="Role 3"/>
          <p:cNvSpPr txBox="1"/>
          <p:nvPr/>
        </p:nvSpPr>
        <p:spPr>
          <a:xfrm>
            <a:off x="6197600" y="4495800"/>
            <a:ext cx="2641600" cy="2286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4A4A4C"/>
                </a:solidFill>
                <a:latin typeface="Aptos"/>
                <a:cs typeface="Aptos"/>
              </a:rPr>
              <a:t>Sector expert</a:t>
            </a:r>
            <a:endParaRPr lang="en-GB" sz="1200">
              <a:solidFill>
                <a:srgbClr val="4A4A4C"/>
              </a:solidFill>
              <a:latin typeface="Aptos"/>
              <a:cs typeface="Aptos"/>
            </a:endParaRPr>
          </a:p>
        </p:txBody>
      </p:sp>
      <p:sp>
        <p:nvSpPr>
          <p:cNvPr id="14" name="Profile 3"/>
          <p:cNvSpPr txBox="1"/>
          <p:nvPr/>
        </p:nvSpPr>
        <p:spPr>
          <a:xfrm>
            <a:off x="6197600" y="4826000"/>
            <a:ext cx="2641600" cy="11176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Brings the technical depth. Say what they have done that this project needs.</a:t>
            </a:r>
            <a:endParaRPr lang="en-GB" sz="1200">
              <a:solidFill>
                <a:srgbClr val="000000"/>
              </a:solidFill>
              <a:latin typeface="Aptos"/>
              <a:cs typeface="Aptos"/>
            </a:endParaRPr>
          </a:p>
        </p:txBody>
      </p:sp>
      <p:pic>
        <p:nvPicPr>
          <p:cNvPr id="15" name="Photo 4" descr="Team member photo: replace with their portrait"/>
          <p:cNvPicPr>
            <a:picLocks noChangeAspect="1"/>
          </p:cNvPicPr>
          <p:nvPr/>
        </p:nvPicPr>
        <p:blipFill>
          <a:blip r:embed="rId5"/>
          <a:stretch>
            <a:fillRect/>
          </a:stretch>
        </p:blipFill>
        <p:spPr>
          <a:xfrm>
            <a:off x="9042400" y="1371600"/>
            <a:ext cx="2641600" cy="2641600"/>
          </a:xfrm>
          <a:prstGeom prst="rect">
            <a:avLst/>
          </a:prstGeom>
        </p:spPr>
      </p:pic>
      <p:sp>
        <p:nvSpPr>
          <p:cNvPr id="16" name="Name 4"/>
          <p:cNvSpPr txBox="1"/>
          <p:nvPr/>
        </p:nvSpPr>
        <p:spPr>
          <a:xfrm>
            <a:off x="9042400" y="4191000"/>
            <a:ext cx="2641600" cy="2794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600" b="1">
                <a:solidFill>
                  <a:srgbClr val="022338"/>
                </a:solidFill>
                <a:latin typeface="Candara"/>
                <a:cs typeface="Candara"/>
              </a:rPr>
              <a:t>Name Surname</a:t>
            </a:r>
            <a:endParaRPr lang="en-GB" sz="1600">
              <a:solidFill>
                <a:srgbClr val="022338"/>
              </a:solidFill>
              <a:latin typeface="Candara"/>
              <a:cs typeface="Candara"/>
            </a:endParaRPr>
          </a:p>
        </p:txBody>
      </p:sp>
      <p:sp>
        <p:nvSpPr>
          <p:cNvPr id="17" name="Role 4"/>
          <p:cNvSpPr txBox="1"/>
          <p:nvPr/>
        </p:nvSpPr>
        <p:spPr>
          <a:xfrm>
            <a:off x="9042400" y="4495800"/>
            <a:ext cx="2641600" cy="2286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4A4A4C"/>
                </a:solidFill>
                <a:latin typeface="Aptos"/>
                <a:cs typeface="Aptos"/>
              </a:rPr>
              <a:t>Financial analyst</a:t>
            </a:r>
            <a:endParaRPr lang="en-GB" sz="1200">
              <a:solidFill>
                <a:srgbClr val="4A4A4C"/>
              </a:solidFill>
              <a:latin typeface="Aptos"/>
              <a:cs typeface="Aptos"/>
            </a:endParaRPr>
          </a:p>
        </p:txBody>
      </p:sp>
      <p:sp>
        <p:nvSpPr>
          <p:cNvPr id="18" name="Profile 4"/>
          <p:cNvSpPr txBox="1"/>
          <p:nvPr/>
        </p:nvSpPr>
        <p:spPr>
          <a:xfrm>
            <a:off x="9042400" y="4826000"/>
            <a:ext cx="2641600" cy="1117600"/>
          </a:xfrm>
          <a:prstGeom prst="rect">
            <a:avLst/>
          </a:prstGeom>
          <a:noFill/>
          <a:ln>
            <a:noFill/>
          </a:ln>
        </p:spPr>
        <p:txBody>
          <a:bodyPr wrap="square" lIns="0" tIns="0" rIns="0" bIns="0" rtlCol="0" anchor="t" anchorCtr="0">
            <a:noAutofit/>
          </a:bodyPr>
          <a:lstStyle/>
          <a:p>
            <a:pPr marL="0" indent="0" algn="l">
              <a:spcBef>
                <a:spcPts val="0"/>
              </a:spcBef>
              <a:spcAft>
                <a:spcPts val="0"/>
              </a:spcAft>
              <a:buNone/>
            </a:pPr>
            <a:r>
              <a:rPr lang="en-GB" sz="1200">
                <a:solidFill>
                  <a:srgbClr val="000000"/>
                </a:solidFill>
                <a:latin typeface="Aptos"/>
                <a:cs typeface="Aptos"/>
              </a:rPr>
              <a:t>Builds the models and the evidence base. Keep every profile to the same length.</a:t>
            </a:r>
            <a:endParaRPr lang="en-GB" sz="1200">
              <a:solidFill>
                <a:srgbClr val="000000"/>
              </a:solidFill>
              <a:latin typeface="Aptos"/>
              <a:cs typeface="Aptos"/>
            </a:endParaRPr>
          </a:p>
        </p:txBody>
      </p:sp>
      <p:sp>
        <p:nvSpPr>
          <p:cNvPr id="19" name="Slide number"/>
          <p:cNvSpPr>
            <a:spLocks noGrp="1"/>
          </p:cNvSpPr>
          <p:nvPr>
            <p:ph type="sldNum" sz="quarter" idx="12"/>
          </p:nvPr>
        </p:nvSpPr>
        <p:spPr/>
        <p:txBody>
          <a:bodyPr/>
          <a:lstStyle/>
          <a:p>
            <a:fld id="{B6F15528-21DE-4FAA-801E-634DDDAF4B2B}" type="slidenum">
              <a:rPr lang="en-GB"/>
              <a:t>18</a:t>
            </a:fld>
            <a:endParaRPr lang="en-GB"/>
          </a:p>
        </p:txBody>
      </p:sp>
    </p:spTree>
    <p:extLst>
      <p:ext uri="{BB962C8B-B14F-4D97-AF65-F5344CB8AC3E}">
        <p14:creationId xmlns:p14="http://schemas.microsoft.com/office/powerpoint/2010/main" val="18433070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Thank you</a:t>
            </a:r>
            <a:endParaRPr lang="en-GB"/>
          </a:p>
        </p:txBody>
      </p:sp>
      <p:sp>
        <p:nvSpPr>
          <p:cNvPr id="3" name="Contact 1"/>
          <p:cNvSpPr>
            <a:spLocks noGrp="1"/>
          </p:cNvSpPr>
          <p:nvPr>
            <p:ph type="body" idx="1"/>
          </p:nvPr>
        </p:nvSpPr>
        <p:spPr/>
        <p:txBody>
          <a:bodyPr/>
          <a:lstStyle/>
          <a:p>
            <a:r>
              <a:rPr lang="en-GB" b="1"/>
              <a:t>Name Surname</a:t>
            </a:r>
            <a:endParaRPr lang="en-GB"/>
          </a:p>
          <a:p>
            <a:r>
              <a:rPr lang="en-GB"/>
              <a:t>Role</a:t>
            </a:r>
            <a:endParaRPr lang="en-GB"/>
          </a:p>
          <a:p>
            <a:r>
              <a:rPr lang="en-GB"/>
              <a:t>name.surname@bwb.earth</a:t>
            </a:r>
            <a:endParaRPr lang="en-GB"/>
          </a:p>
          <a:p>
            <a:r>
              <a:rPr lang="en-GB"/>
              <a:t>Phone number</a:t>
            </a:r>
            <a:endParaRPr lang="en-GB"/>
          </a:p>
        </p:txBody>
      </p:sp>
      <p:sp>
        <p:nvSpPr>
          <p:cNvPr id="4" name="Contact 2"/>
          <p:cNvSpPr>
            <a:spLocks noGrp="1"/>
          </p:cNvSpPr>
          <p:nvPr>
            <p:ph type="body" idx="2"/>
          </p:nvPr>
        </p:nvSpPr>
        <p:spPr/>
        <p:txBody>
          <a:bodyPr/>
          <a:lstStyle/>
          <a:p>
            <a:r>
              <a:rPr lang="en-GB" b="1"/>
              <a:t>Name Surname</a:t>
            </a:r>
            <a:endParaRPr lang="en-GB"/>
          </a:p>
          <a:p>
            <a:r>
              <a:rPr lang="en-GB"/>
              <a:t>Role</a:t>
            </a:r>
            <a:endParaRPr lang="en-GB"/>
          </a:p>
          <a:p>
            <a:r>
              <a:rPr lang="en-GB"/>
              <a:t>name.surname@bwb.earth</a:t>
            </a:r>
            <a:endParaRPr lang="en-GB"/>
          </a:p>
          <a:p>
            <a:r>
              <a:rPr lang="en-GB"/>
              <a:t>Phone number</a:t>
            </a:r>
            <a:endParaRPr lang="en-GB"/>
          </a:p>
        </p:txBody>
      </p:sp>
    </p:spTree>
    <p:extLst>
      <p:ext uri="{BB962C8B-B14F-4D97-AF65-F5344CB8AC3E}">
        <p14:creationId xmlns:p14="http://schemas.microsoft.com/office/powerpoint/2010/main" val="4897811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Disclaimer</a:t>
            </a:r>
            <a:endParaRPr lang="en-GB"/>
          </a:p>
        </p:txBody>
      </p:sp>
      <p:sp>
        <p:nvSpPr>
          <p:cNvPr id="3" name="Disclaimer panel"/>
          <p:cNvSpPr/>
          <p:nvPr/>
        </p:nvSpPr>
        <p:spPr>
          <a:xfrm>
            <a:off x="508000" y="1371600"/>
            <a:ext cx="11176000" cy="3352800"/>
          </a:xfrm>
          <a:prstGeom prst="rect">
            <a:avLst/>
          </a:prstGeom>
          <a:solidFill>
            <a:srgbClr val="F7F8F5"/>
          </a:solidFill>
          <a:ln w="6350">
            <a:solidFill>
              <a:srgbClr val="D5D5D6"/>
            </a:solidFill>
          </a:ln>
        </p:spPr>
      </p:sp>
      <p:sp>
        <p:nvSpPr>
          <p:cNvPr id="4" name="Disclaimer text 1"/>
          <p:cNvSpPr txBox="1"/>
          <p:nvPr/>
        </p:nvSpPr>
        <p:spPr>
          <a:xfrm>
            <a:off x="812800" y="1676400"/>
            <a:ext cx="5130800" cy="2743200"/>
          </a:xfrm>
          <a:prstGeom prst="rect">
            <a:avLst/>
          </a:prstGeom>
          <a:noFill/>
          <a:ln>
            <a:noFill/>
          </a:ln>
        </p:spPr>
        <p:txBody>
          <a:bodyPr wrap="square" lIns="0" tIns="0" rIns="0" bIns="0" rtlCol="0" anchor="t" anchorCtr="0">
            <a:noAutofit/>
          </a:bodyPr>
          <a:lstStyle/>
          <a:p>
            <a:pPr marL="0" indent="0" algn="l">
              <a:lnSpc>
                <a:spcPct val="105000"/>
              </a:lnSpc>
              <a:spcBef>
                <a:spcPts val="0"/>
              </a:spcBef>
              <a:spcAft>
                <a:spcPts val="800"/>
              </a:spcAft>
              <a:buNone/>
            </a:pPr>
            <a:r>
              <a:rPr lang="en-GB" sz="1100">
                <a:solidFill>
                  <a:srgbClr val="000000"/>
                </a:solidFill>
                <a:latin typeface="Aptos"/>
                <a:cs typeface="Aptos"/>
              </a:rPr>
              <a:t>This document has been prepared by Bankers without Boundaries (‘BwB’) for informational purposes only. It does not constitute investment advice or an offer, solicitation, or recommendation in relation to any transaction or investment.</a:t>
            </a:r>
            <a:endParaRPr lang="en-GB" sz="1100">
              <a:solidFill>
                <a:srgbClr val="000000"/>
              </a:solidFill>
              <a:latin typeface="Aptos"/>
              <a:cs typeface="Aptos"/>
            </a:endParaRPr>
          </a:p>
          <a:p>
            <a:pPr marL="0" indent="0" algn="l">
              <a:lnSpc>
                <a:spcPct val="105000"/>
              </a:lnSpc>
              <a:spcBef>
                <a:spcPts val="0"/>
              </a:spcBef>
              <a:spcAft>
                <a:spcPts val="800"/>
              </a:spcAft>
              <a:buNone/>
            </a:pPr>
            <a:r>
              <a:rPr lang="en-GB" sz="1100">
                <a:solidFill>
                  <a:srgbClr val="000000"/>
                </a:solidFill>
                <a:latin typeface="Aptos"/>
                <a:cs typeface="Aptos"/>
              </a:rPr>
              <a:t>While the information contained in this document has been obtained from sources believed to be reliable, BwB makes no representation or warranty as to its accuracy or completeness and accepts no liability for any loss arising from reliance upon it. Any reference to specific organisations, products, or services does not constitute endorsement by BwB.</a:t>
            </a:r>
            <a:endParaRPr lang="en-GB" sz="1100">
              <a:solidFill>
                <a:srgbClr val="000000"/>
              </a:solidFill>
              <a:latin typeface="Aptos"/>
              <a:cs typeface="Aptos"/>
            </a:endParaRPr>
          </a:p>
          <a:p>
            <a:pPr marL="0" indent="0" algn="l">
              <a:lnSpc>
                <a:spcPct val="105000"/>
              </a:lnSpc>
              <a:spcBef>
                <a:spcPts val="0"/>
              </a:spcBef>
              <a:spcAft>
                <a:spcPts val="800"/>
              </a:spcAft>
              <a:buNone/>
            </a:pPr>
            <a:r>
              <a:rPr lang="en-GB" sz="1100">
                <a:solidFill>
                  <a:srgbClr val="000000"/>
                </a:solidFill>
                <a:latin typeface="Aptos"/>
                <a:cs typeface="Aptos"/>
              </a:rPr>
              <a:t>Any forecasts, projections, or forward-looking statements contained in this document are based on assumptions and current expectations and are not guarantees of future performance.</a:t>
            </a:r>
            <a:endParaRPr lang="en-GB" sz="1100">
              <a:solidFill>
                <a:srgbClr val="000000"/>
              </a:solidFill>
              <a:latin typeface="Aptos"/>
              <a:cs typeface="Aptos"/>
            </a:endParaRPr>
          </a:p>
        </p:txBody>
      </p:sp>
      <p:sp>
        <p:nvSpPr>
          <p:cNvPr id="5" name="Disclaimer text 2"/>
          <p:cNvSpPr txBox="1"/>
          <p:nvPr/>
        </p:nvSpPr>
        <p:spPr>
          <a:xfrm>
            <a:off x="6248400" y="1676400"/>
            <a:ext cx="5130800" cy="2743200"/>
          </a:xfrm>
          <a:prstGeom prst="rect">
            <a:avLst/>
          </a:prstGeom>
          <a:noFill/>
          <a:ln>
            <a:noFill/>
          </a:ln>
        </p:spPr>
        <p:txBody>
          <a:bodyPr wrap="square" lIns="0" tIns="0" rIns="0" bIns="0" rtlCol="0" anchor="t" anchorCtr="0">
            <a:noAutofit/>
          </a:bodyPr>
          <a:lstStyle/>
          <a:p>
            <a:pPr marL="0" indent="0" algn="l">
              <a:lnSpc>
                <a:spcPct val="105000"/>
              </a:lnSpc>
              <a:spcBef>
                <a:spcPts val="0"/>
              </a:spcBef>
              <a:spcAft>
                <a:spcPts val="800"/>
              </a:spcAft>
              <a:buNone/>
            </a:pPr>
            <a:r>
              <a:rPr lang="en-GB" sz="1100">
                <a:solidFill>
                  <a:srgbClr val="000000"/>
                </a:solidFill>
                <a:latin typeface="Aptos"/>
                <a:cs typeface="Aptos"/>
              </a:rPr>
              <a:t>This document has been prepared without taking account of the objectives, financial situation, or needs of any particular person. Any person considering a transaction or investment should assess its suitability in light of their own circumstances, conduct their own due diligence, and seek independent professional advice before making any investment decisions. Nothing in this document constitutes legal, tax, accounting, or regulatory advice.</a:t>
            </a:r>
            <a:endParaRPr lang="en-GB" sz="1100">
              <a:solidFill>
                <a:srgbClr val="000000"/>
              </a:solidFill>
              <a:latin typeface="Aptos"/>
              <a:cs typeface="Aptos"/>
            </a:endParaRPr>
          </a:p>
          <a:p>
            <a:pPr marL="0" indent="0" algn="l">
              <a:lnSpc>
                <a:spcPct val="105000"/>
              </a:lnSpc>
              <a:spcBef>
                <a:spcPts val="0"/>
              </a:spcBef>
              <a:spcAft>
                <a:spcPts val="800"/>
              </a:spcAft>
              <a:buNone/>
            </a:pPr>
            <a:r>
              <a:rPr lang="en-GB" sz="1100">
                <a:solidFill>
                  <a:srgbClr val="000000"/>
                </a:solidFill>
                <a:latin typeface="Aptos"/>
                <a:cs typeface="Aptos"/>
              </a:rPr>
              <a:t>The information and opinions expressed in this document are as of the date of writing and are subject to change without notice.</a:t>
            </a:r>
            <a:endParaRPr lang="en-GB" sz="1100">
              <a:solidFill>
                <a:srgbClr val="000000"/>
              </a:solidFill>
              <a:latin typeface="Aptos"/>
              <a:cs typeface="Aptos"/>
            </a:endParaRPr>
          </a:p>
          <a:p>
            <a:pPr marL="0" indent="0" algn="l">
              <a:lnSpc>
                <a:spcPct val="105000"/>
              </a:lnSpc>
              <a:spcBef>
                <a:spcPts val="0"/>
              </a:spcBef>
              <a:spcAft>
                <a:spcPts val="800"/>
              </a:spcAft>
              <a:buNone/>
            </a:pPr>
            <a:r>
              <a:rPr lang="en-GB" sz="1100" b="1">
                <a:solidFill>
                  <a:srgbClr val="000000"/>
                </a:solidFill>
                <a:latin typeface="Aptos"/>
                <a:cs typeface="Aptos"/>
              </a:rPr>
              <a:t>Confidentiality:</a:t>
            </a:r>
            <a:r>
              <a:rPr lang="en-GB" sz="1100">
                <a:solidFill>
                  <a:srgbClr val="000000"/>
                </a:solidFill>
                <a:latin typeface="Aptos"/>
                <a:cs typeface="Aptos"/>
              </a:rPr>
              <a:t> This document is intended solely for the designated recipients. It is confidential and must not be copied, quoted, discussed, or distributed to any other person, in whole or in part, without prior written approval from BwB.</a:t>
            </a:r>
            <a:endParaRPr lang="en-GB" sz="1100">
              <a:solidFill>
                <a:srgbClr val="000000"/>
              </a:solidFill>
              <a:latin typeface="Aptos"/>
              <a:cs typeface="Aptos"/>
            </a:endParaRPr>
          </a:p>
          <a:p>
            <a:pPr marL="0" indent="0" algn="l">
              <a:lnSpc>
                <a:spcPct val="105000"/>
              </a:lnSpc>
              <a:spcBef>
                <a:spcPts val="0"/>
              </a:spcBef>
              <a:spcAft>
                <a:spcPts val="0"/>
              </a:spcAft>
              <a:buNone/>
            </a:pPr>
            <a:r>
              <a:rPr lang="en-GB" sz="1100">
                <a:solidFill>
                  <a:srgbClr val="4A4A4C"/>
                </a:solidFill>
                <a:latin typeface="Aptos"/>
                <a:cs typeface="Aptos"/>
              </a:rPr>
              <a:t>BwB (FRN: 953637) is authorised and regulated by the UK Financial Conduct Authority.</a:t>
            </a:r>
            <a:endParaRPr lang="en-GB" sz="1100">
              <a:solidFill>
                <a:srgbClr val="4A4A4C"/>
              </a:solidFill>
              <a:latin typeface="Aptos"/>
              <a:cs typeface="Aptos"/>
            </a:endParaRPr>
          </a:p>
        </p:txBody>
      </p:sp>
      <p:sp>
        <p:nvSpPr>
          <p:cNvPr id="6" name="Slide number"/>
          <p:cNvSpPr>
            <a:spLocks noGrp="1"/>
          </p:cNvSpPr>
          <p:nvPr>
            <p:ph type="sldNum" sz="quarter" idx="12"/>
          </p:nvPr>
        </p:nvSpPr>
        <p:spPr/>
        <p:txBody>
          <a:bodyPr/>
          <a:lstStyle/>
          <a:p>
            <a:fld id="{B6F15528-21DE-4FAA-801E-634DDDAF4B2B}" type="slidenum">
              <a:rPr lang="en-GB"/>
              <a:t>20</a:t>
            </a:fld>
            <a:endParaRPr lang="en-GB"/>
          </a:p>
        </p:txBody>
      </p:sp>
    </p:spTree>
    <p:extLst>
      <p:ext uri="{BB962C8B-B14F-4D97-AF65-F5344CB8AC3E}">
        <p14:creationId xmlns:p14="http://schemas.microsoft.com/office/powerpoint/2010/main" val="1027164723"/>
      </p:ext>
    </p:extLst>
  </p:cSld>
  <p:clrMapOvr>
    <a:masterClrMapping/>
  </p:clrMapOvr>
</p:sld>
</file>

<file path=ppt/theme/theme1.xml><?xml version="1.0" encoding="utf-8"?>
<a:theme xmlns:a="http://schemas.openxmlformats.org/drawingml/2006/main" name="BwB">
  <a:themeElements>
    <a:clrScheme name="BwB">
      <a:dk1>
        <a:srgbClr val="000000"/>
      </a:dk1>
      <a:lt1>
        <a:srgbClr val="FFFFFF"/>
      </a:lt1>
      <a:dk2>
        <a:srgbClr val="022338"/>
      </a:dk2>
      <a:lt2>
        <a:srgbClr val="F7F8F5"/>
      </a:lt2>
      <a:accent1>
        <a:srgbClr val="022338"/>
      </a:accent1>
      <a:accent2>
        <a:srgbClr val="328840"/>
      </a:accent2>
      <a:accent3>
        <a:srgbClr val="7CC287"/>
      </a:accent3>
      <a:accent4>
        <a:srgbClr val="4A4A4C"/>
      </a:accent4>
      <a:accent5>
        <a:srgbClr val="BED62F"/>
      </a:accent5>
      <a:accent6>
        <a:srgbClr val="E8E9E6"/>
      </a:accent6>
      <a:hlink>
        <a:srgbClr val="328840"/>
      </a:hlink>
      <a:folHlink>
        <a:srgbClr val="4A4A4C"/>
      </a:folHlink>
    </a:clrScheme>
    <a:fontScheme name="BwB">
      <a:majorFont>
        <a:latin typeface="Candara"/>
        <a:ea typeface=""/>
        <a:cs typeface=""/>
      </a:majorFont>
      <a:minorFont>
        <a:latin typeface="Aptos"/>
        <a:ea typeface=""/>
        <a:cs typeface=""/>
      </a:minorFont>
    </a:fontScheme>
    <a:fmtScheme name="BwB">
      <a:fillStyleLst>
        <a:solidFill>
          <a:schemeClr val="phClr"/>
        </a:solidFill>
        <a:solidFill>
          <a:schemeClr val="phClr"/>
        </a:solidFill>
        <a:solidFill>
          <a:schemeClr val="phClr"/>
        </a:solidFill>
      </a:fillStyleLst>
      <a:lnStyleLst>
        <a:ln w="9525"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spDef>
      <a:spPr>
        <a:solidFill>
          <a:schemeClr val="accent1"/>
        </a:solidFill>
        <a:ln>
          <a:noFill/>
        </a:ln>
      </a:spPr>
      <a:bodyPr rtlCol="0" anchor="ctr" lIns="72000" tIns="72000" rIns="72000" bIns="72000"/>
      <a:lstStyle>
        <a:defPPr>
          <a:defRPr lang="en-GB" sz="1400">
            <a:solidFill>
              <a:schemeClr val="lt1"/>
            </a:solidFill>
          </a:defRPr>
        </a:defPPr>
      </a:lstStyle>
    </a:spDef>
    <a:lnDef>
      <a:spPr>
        <a:ln w="12700">
          <a:solidFill>
            <a:schemeClr val="accent1"/>
          </a:solidFill>
        </a:ln>
      </a:spPr>
      <a:bodyPr/>
      <a:lstStyle/>
    </a:lnDef>
    <a:txDef>
      <a:spPr>
        <a:noFill/>
      </a:spPr>
      <a:bodyPr wrap="square" lIns="0" tIns="0" rIns="0" bIns="0" rtlCol="0">
        <a:spAutoFit/>
      </a:bodyPr>
      <a:lstStyle>
        <a:defPPr>
          <a:defRPr lang="en-GB" sz="1400">
            <a:solidFill>
              <a:schemeClr val="tx1"/>
            </a:solidFill>
          </a:defRPr>
        </a:defPPr>
      </a:lstStyle>
    </a:tx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Company>Bankers without Boundaries</Company>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BwB slide template and library</dc:title>
  <dc:creator>Bankers without Boundaries</dc:creator>
  <cp:lastModifiedBy>Bankers without Boundaries</cp:lastModifiedBy>
  <dcterms:created xsi:type="dcterms:W3CDTF">2026-10-13T09:00:00Z</dcterms:created>
  <dcterms:modified xsi:type="dcterms:W3CDTF">2026-10-13T09:00:00Z</dcterms:modified>
  <cp:revision>1</cp:revision>
  <dc:language>en-GB</dc:language>
</cp:coreProperties>
</file>